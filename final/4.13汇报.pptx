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7" r:id="rId3"/>
    <p:sldId id="273" r:id="rId5"/>
    <p:sldId id="274" r:id="rId6"/>
    <p:sldId id="275" r:id="rId7"/>
    <p:sldId id="294" r:id="rId8"/>
    <p:sldId id="277" r:id="rId9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0" clrIdx="0"/>
  <p:cmAuthor id="1125033381" name="临海-听风" initials="临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0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z="105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72D1C8-D195-4DBC-B7C2-24FBAD4CE97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标题 3"/>
          <p:cNvSpPr txBox="1"/>
          <p:nvPr userDrawn="1"/>
        </p:nvSpPr>
        <p:spPr>
          <a:xfrm>
            <a:off x="0" y="0"/>
            <a:ext cx="12192000" cy="755581"/>
          </a:xfrm>
          <a:prstGeom prst="rect">
            <a:avLst/>
          </a:prstGeom>
          <a:solidFill>
            <a:srgbClr val="0147B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en-US" altLang="zh-CN" sz="4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9" t="24631" r="20228" b="20396"/>
          <a:stretch>
            <a:fillRect/>
          </a:stretch>
        </p:blipFill>
        <p:spPr>
          <a:xfrm>
            <a:off x="10876280" y="118745"/>
            <a:ext cx="1130935" cy="517525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66797" y="83132"/>
            <a:ext cx="9500522" cy="613314"/>
          </a:xfrm>
        </p:spPr>
        <p:txBody>
          <a:bodyPr>
            <a:noAutofit/>
          </a:bodyPr>
          <a:lstStyle>
            <a:lvl1pPr marL="0" indent="0" algn="l">
              <a:buNone/>
              <a:defRPr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2" name="椭圆 40"/>
          <p:cNvSpPr/>
          <p:nvPr userDrawn="1"/>
        </p:nvSpPr>
        <p:spPr>
          <a:xfrm>
            <a:off x="11381015" y="6310400"/>
            <a:ext cx="625930" cy="45702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2409A"/>
                </a:solidFill>
              </a14:hiddenFill>
            </a:ext>
          </a:ex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fld id="{90AA6819-7E7F-4C14-8B24-A68214AB9022}" type="slidenum">
              <a:rPr lang="zh-CN" altLang="en-US" sz="1200">
                <a:solidFill>
                  <a:srgbClr val="0147B6"/>
                </a:solidFill>
                <a:latin typeface="Microsoft YaHei Regular" panose="020B0503020204020204" charset="-122"/>
                <a:ea typeface="Microsoft YaHei Regular" panose="020B0503020204020204" charset="-122"/>
              </a:rPr>
            </a:fld>
            <a:endParaRPr lang="zh-CN" altLang="en-US" sz="1200" dirty="0">
              <a:solidFill>
                <a:srgbClr val="0147B6"/>
              </a:solidFill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/>
          <a:srcRect l="8177" t="2247" r="9531" b="2992"/>
          <a:stretch>
            <a:fillRect/>
          </a:stretch>
        </p:blipFill>
        <p:spPr>
          <a:xfrm>
            <a:off x="10240645" y="139065"/>
            <a:ext cx="496570" cy="497205"/>
          </a:xfrm>
          <a:prstGeom prst="ellipse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1691640"/>
            <a:ext cx="12192000" cy="2520315"/>
          </a:xfrm>
          <a:prstGeom prst="rect">
            <a:avLst/>
          </a:prstGeom>
          <a:solidFill>
            <a:srgbClr val="02409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tIns="0" bIns="0" anchor="ctr"/>
          <a:lstStyle/>
          <a:p>
            <a:pPr algn="ctr"/>
            <a:r>
              <a:rPr lang="en-US" altLang="zh-CN" sz="4800" dirty="0">
                <a:solidFill>
                  <a:srgbClr val="FFFF00"/>
                </a:solidFill>
                <a:sym typeface="+mn-ea"/>
              </a:rPr>
              <a:t>4.13</a:t>
            </a:r>
            <a:r>
              <a:rPr lang="zh-CN" altLang="en-US" sz="4800" dirty="0">
                <a:solidFill>
                  <a:srgbClr val="FFFF00"/>
                </a:solidFill>
                <a:sym typeface="+mn-ea"/>
              </a:rPr>
              <a:t>项目进展</a:t>
            </a:r>
            <a:r>
              <a:rPr lang="en-US" altLang="zh-CN" sz="4800" dirty="0">
                <a:solidFill>
                  <a:srgbClr val="FFFF00"/>
                </a:solidFill>
                <a:sym typeface="+mn-ea"/>
              </a:rPr>
              <a:t>+</a:t>
            </a:r>
            <a:r>
              <a:rPr lang="zh-CN" altLang="en-US" sz="4800" dirty="0">
                <a:solidFill>
                  <a:srgbClr val="FFFF00"/>
                </a:solidFill>
                <a:sym typeface="+mn-ea"/>
              </a:rPr>
              <a:t>科研汇报</a:t>
            </a:r>
            <a:endParaRPr lang="zh-CN" altLang="en-US" sz="48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46625" y="5238750"/>
            <a:ext cx="6335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912870" y="5300980"/>
            <a:ext cx="406400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4144645" y="4890770"/>
            <a:ext cx="406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/>
              <a:t>工艺本体组 </a:t>
            </a:r>
            <a:endParaRPr lang="en-US" altLang="zh-CN" sz="3200" dirty="0"/>
          </a:p>
          <a:p>
            <a:pPr algn="ctr"/>
            <a:r>
              <a:rPr lang="zh-CN" altLang="en-US" sz="3200" dirty="0"/>
              <a:t>辛益宇 郗延旭</a:t>
            </a:r>
            <a:endParaRPr lang="en-US" altLang="zh-CN" sz="32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项目进展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59265" y="967472"/>
            <a:ext cx="1111497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>
                <a:solidFill>
                  <a:srgbClr val="000000"/>
                </a:solidFill>
                <a:effectLst/>
              </a:rPr>
              <a:t>1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、需求调研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工艺本体建设需求调研，包括目标、场景、能力边界 进展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【100%】</a:t>
            </a:r>
            <a:endParaRPr lang="en-US" altLang="zh-CN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endParaRPr lang="en-US" altLang="zh-CN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dirty="0"/>
              <a:t>已完成 </a:t>
            </a:r>
            <a:r>
              <a:rPr lang="en-GB" altLang="zh-CN" dirty="0"/>
              <a:t>SPR </a:t>
            </a:r>
            <a:r>
              <a:rPr lang="zh-CN" altLang="en-US" dirty="0"/>
              <a:t>工艺本体建设需求调研，明确系统定位为面向产线质量预防的辅助工具。围绕质量工程、工艺优化与生产管理等场景，梳理了数据治理、异常检测、失效模式识别和质量改进等核心需求；同时明确系统以风险提示和优化建议为主，不替代人工决策，并已完成关键数据范围初步对接。</a:t>
            </a:r>
            <a:endParaRPr lang="en-US" altLang="zh-CN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endParaRPr lang="en-US" altLang="zh-CN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endParaRPr lang="en-US" altLang="zh-CN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r>
              <a:rPr lang="en-US" altLang="zh-CN" dirty="0">
                <a:solidFill>
                  <a:srgbClr val="000000"/>
                </a:solidFill>
              </a:rPr>
              <a:t>2.</a:t>
            </a:r>
            <a:r>
              <a:rPr lang="zh-CN" altLang="en-US" dirty="0">
                <a:solidFill>
                  <a:srgbClr val="000000"/>
                </a:solidFill>
              </a:rPr>
              <a:t> 数据获取情况（已整理材料：数据集说明</a:t>
            </a:r>
            <a:r>
              <a:rPr lang="en-US" altLang="zh-CN" dirty="0">
                <a:solidFill>
                  <a:srgbClr val="000000"/>
                </a:solidFill>
              </a:rPr>
              <a:t>.pdf</a:t>
            </a:r>
            <a:r>
              <a:rPr lang="zh-CN" altLang="en-US" dirty="0">
                <a:solidFill>
                  <a:srgbClr val="000000"/>
                </a:solidFill>
              </a:rPr>
              <a:t>）</a:t>
            </a:r>
            <a:endParaRPr lang="en-US" altLang="zh-CN" dirty="0">
              <a:solidFill>
                <a:srgbClr val="000000"/>
              </a:solidFill>
            </a:endParaRPr>
          </a:p>
          <a:p>
            <a:pPr>
              <a:buNone/>
            </a:pPr>
            <a:endParaRPr lang="en-US" altLang="zh-CN" dirty="0">
              <a:solidFill>
                <a:srgbClr val="000000"/>
              </a:solidFill>
            </a:endParaRPr>
          </a:p>
          <a:p>
            <a:pPr>
              <a:buNone/>
            </a:pPr>
            <a:r>
              <a:rPr lang="zh-CN" altLang="en-US" dirty="0">
                <a:solidFill>
                  <a:srgbClr val="000000"/>
                </a:solidFill>
              </a:rPr>
              <a:t>（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  <a:r>
              <a:rPr lang="zh-CN" altLang="en-US" dirty="0">
                <a:solidFill>
                  <a:srgbClr val="000000"/>
                </a:solidFill>
              </a:rPr>
              <a:t>）早先获取了蔚来部分现有文档（</a:t>
            </a:r>
            <a:r>
              <a:rPr lang="en-US" altLang="zh-CN" dirty="0">
                <a:solidFill>
                  <a:srgbClr val="000000"/>
                </a:solidFill>
              </a:rPr>
              <a:t>SPR</a:t>
            </a:r>
            <a:r>
              <a:rPr lang="zh-CN" altLang="en-US" dirty="0">
                <a:solidFill>
                  <a:srgbClr val="000000"/>
                </a:solidFill>
              </a:rPr>
              <a:t>在整车装配线应用、</a:t>
            </a:r>
            <a:r>
              <a:rPr lang="en-US" altLang="zh-CN" dirty="0">
                <a:solidFill>
                  <a:srgbClr val="000000"/>
                </a:solidFill>
              </a:rPr>
              <a:t>SPR</a:t>
            </a:r>
            <a:r>
              <a:rPr lang="zh-CN" altLang="en-US" dirty="0">
                <a:solidFill>
                  <a:srgbClr val="000000"/>
                </a:solidFill>
              </a:rPr>
              <a:t>类型及对应材料要求、</a:t>
            </a:r>
            <a:r>
              <a:rPr lang="en-US" altLang="zh-CN" dirty="0" err="1">
                <a:solidFill>
                  <a:srgbClr val="000000"/>
                </a:solidFill>
              </a:rPr>
              <a:t>die_dims.xlsx</a:t>
            </a:r>
            <a:r>
              <a:rPr lang="en-US" altLang="zh-CN" dirty="0">
                <a:solidFill>
                  <a:srgbClr val="000000"/>
                </a:solidFill>
              </a:rPr>
              <a:t>……</a:t>
            </a:r>
            <a:r>
              <a:rPr lang="zh-CN" altLang="en-US" dirty="0">
                <a:solidFill>
                  <a:srgbClr val="000000"/>
                </a:solidFill>
              </a:rPr>
              <a:t>）</a:t>
            </a:r>
            <a:endParaRPr lang="en-US" altLang="zh-CN" dirty="0">
              <a:solidFill>
                <a:srgbClr val="000000"/>
              </a:solidFill>
            </a:endParaRPr>
          </a:p>
          <a:p>
            <a:pPr>
              <a:buNone/>
            </a:pPr>
            <a:r>
              <a:rPr lang="zh-CN" altLang="en-US" dirty="0">
                <a:solidFill>
                  <a:srgbClr val="000000"/>
                </a:solidFill>
              </a:rPr>
              <a:t>（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）本周进一步获取了原始数据集和部分数据处理代码</a:t>
            </a:r>
            <a:endParaRPr lang="en-US" altLang="zh-CN" dirty="0">
              <a:solidFill>
                <a:srgbClr val="000000"/>
              </a:solidFill>
            </a:endParaRPr>
          </a:p>
          <a:p>
            <a:pPr>
              <a:buNone/>
            </a:pPr>
            <a:endParaRPr lang="en-US" altLang="zh-CN" dirty="0">
              <a:effectLst/>
            </a:endParaRPr>
          </a:p>
          <a:p>
            <a:pPr>
              <a:buNone/>
            </a:pPr>
            <a:endParaRPr lang="zh-CN" altLang="en-US" dirty="0">
              <a:effectLst/>
            </a:endParaRPr>
          </a:p>
          <a:p>
            <a:pPr>
              <a:buNone/>
            </a:pPr>
            <a:r>
              <a:rPr lang="en-US" altLang="zh-CN" dirty="0">
                <a:solidFill>
                  <a:srgbClr val="000000"/>
                </a:solidFill>
              </a:rPr>
              <a:t>3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. 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方案设计（目前均已设计好了初稿，有待与本体组进一步讨论确认其合理性）</a:t>
            </a:r>
            <a:endParaRPr lang="en-US" altLang="zh-CN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endParaRPr lang="zh-CN" altLang="en-US" dirty="0">
              <a:effectLst/>
            </a:endParaRPr>
          </a:p>
          <a:p>
            <a:pPr>
              <a:buNone/>
            </a:pPr>
            <a:r>
              <a:rPr lang="zh-CN" altLang="en-US" dirty="0">
                <a:solidFill>
                  <a:srgbClr val="000000"/>
                </a:solidFill>
                <a:effectLst/>
              </a:rPr>
              <a:t>（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1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）工艺本体设计 进度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【50%】</a:t>
            </a:r>
            <a:endParaRPr lang="en-US" altLang="zh-CN" dirty="0">
              <a:solidFill>
                <a:srgbClr val="000000"/>
              </a:solidFill>
              <a:effectLst/>
            </a:endParaRPr>
          </a:p>
          <a:p>
            <a:r>
              <a:rPr lang="zh-CN" altLang="en-US" dirty="0">
                <a:solidFill>
                  <a:srgbClr val="000000"/>
                </a:solidFill>
              </a:rPr>
              <a:t>（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）</a:t>
            </a:r>
            <a:r>
              <a:rPr lang="en-US" altLang="zh-CN" dirty="0">
                <a:solidFill>
                  <a:srgbClr val="000000"/>
                </a:solidFill>
              </a:rPr>
              <a:t>SPR</a:t>
            </a:r>
            <a:r>
              <a:rPr lang="zh-CN" altLang="en-US" dirty="0">
                <a:solidFill>
                  <a:srgbClr val="000000"/>
                </a:solidFill>
              </a:rPr>
              <a:t>本体设计 进度</a:t>
            </a:r>
            <a:r>
              <a:rPr lang="en-US" altLang="zh-CN" dirty="0">
                <a:solidFill>
                  <a:srgbClr val="000000"/>
                </a:solidFill>
              </a:rPr>
              <a:t>【50%】</a:t>
            </a:r>
            <a:endParaRPr lang="en-US" altLang="zh-CN" dirty="0">
              <a:solidFill>
                <a:srgbClr val="000000"/>
              </a:solidFill>
            </a:endParaRPr>
          </a:p>
          <a:p>
            <a:pPr>
              <a:buNone/>
            </a:pPr>
            <a:endParaRPr lang="zh-CN" altLang="en-US" dirty="0"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数据情况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27" y="1639229"/>
            <a:ext cx="4084708" cy="488423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66696" y="844672"/>
            <a:ext cx="8407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dirty="0"/>
              <a:t>最新获取原始数据集仍为蔚来方面经过处理后的，并没有数据库原始的内容。</a:t>
            </a:r>
            <a:endParaRPr kumimoji="1" lang="en-US" altLang="zh-CN" dirty="0"/>
          </a:p>
          <a:p>
            <a:r>
              <a:rPr kumimoji="1" lang="zh-CN" altLang="en-US" dirty="0"/>
              <a:t>     目前正在推进和原始数据库结构、字段、说明相关内容的对接</a:t>
            </a:r>
            <a:endParaRPr kumimoji="1"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690" y="1639229"/>
            <a:ext cx="2549141" cy="232054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429" y="3880624"/>
            <a:ext cx="2549141" cy="289424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886" y="1607410"/>
            <a:ext cx="4358126" cy="4704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本体设计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78" y="1683833"/>
            <a:ext cx="7772400" cy="480982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7268" y="866974"/>
            <a:ext cx="11340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dirty="0"/>
              <a:t>顶层工艺本体包含各层如图所示。目标是当有新的工艺需要接入时，可以做到“</a:t>
            </a:r>
            <a:r>
              <a:rPr lang="zh-CN" altLang="en-US" dirty="0"/>
              <a:t>顶层不改骨架、领域扩展补专用”的效果，通过新增子类达到快速方便地接入各个新工艺的目的。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本体设计</a:t>
            </a:r>
            <a:endParaRPr kumimoji="1"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7" y="907571"/>
            <a:ext cx="8430591" cy="57708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下周计划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78781" y="1126273"/>
            <a:ext cx="83522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继续推进和蔚来方面的对接，获取原始数据库的结构、字段、字段说明等内容，从而建立一个离线数据库，能和本体进行映射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与本体组沟通目前工艺本体建设合理性</a:t>
            </a:r>
            <a:endParaRPr lang="zh-CN" altLang="en-US" dirty="0"/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UzZjk1ODJkZGYyZDZiNDFhNjNjMzhlODE5MjI3M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</Words>
  <Application>WPS 演示</Application>
  <PresentationFormat>宽屏</PresentationFormat>
  <Paragraphs>42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汉仪旗黑</vt:lpstr>
      <vt:lpstr>Microsoft YaHei Regular</vt:lpstr>
      <vt:lpstr>Calibri</vt:lpstr>
      <vt:lpstr>Helvetica Neue</vt:lpstr>
      <vt:lpstr>宋体</vt:lpstr>
      <vt:lpstr>Arial Unicode MS</vt:lpstr>
      <vt:lpstr>宋体-简</vt:lpstr>
      <vt:lpstr>苹方-简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XYY</dc:creator>
  <cp:lastModifiedBy>xi</cp:lastModifiedBy>
  <cp:revision>163</cp:revision>
  <dcterms:created xsi:type="dcterms:W3CDTF">2026-04-24T07:51:43Z</dcterms:created>
  <dcterms:modified xsi:type="dcterms:W3CDTF">2026-04-24T07:51:43Z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2052-12.1.25880.25880</vt:lpwstr>
  </property>
</Properties>
</file>