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2265a98ea574bda" /><Relationship Type="http://schemas.openxmlformats.org/officeDocument/2006/relationships/extended-properties" Target="/docProps/app.xml" Id="R9beddaf743434100" /><Relationship Type="http://schemas.openxmlformats.org/officeDocument/2006/relationships/officeDocument" Target="/ppt/presentation.xml" Id="R427ad434b8844e1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291698655654570"/>
  </p:sldMasterIdLst>
  <p:notesMasterIdLst>
    <p:notesMasterId xmlns:r="http://schemas.openxmlformats.org/officeDocument/2006/relationships" r:id="R54e856dd48364938"/>
  </p:notesMasterIdLst>
  <p:sldIdLst>
    <p:sldId xmlns:r="http://schemas.openxmlformats.org/officeDocument/2006/relationships" id="256" r:id="R7db996856ec1472b"/>
    <p:sldId xmlns:r="http://schemas.openxmlformats.org/officeDocument/2006/relationships" id="257" r:id="R6c5aef64201d47b4"/>
    <p:sldId xmlns:r="http://schemas.openxmlformats.org/officeDocument/2006/relationships" id="258" r:id="R6d0cf0a8d36243cd"/>
    <p:sldId xmlns:r="http://schemas.openxmlformats.org/officeDocument/2006/relationships" id="259" r:id="Rfcf5c475772e4945"/>
    <p:sldId xmlns:r="http://schemas.openxmlformats.org/officeDocument/2006/relationships" id="260" r:id="R33d00589141f4a36"/>
    <p:sldId xmlns:r="http://schemas.openxmlformats.org/officeDocument/2006/relationships" id="261" r:id="R990473b28cbb481c"/>
    <p:sldId xmlns:r="http://schemas.openxmlformats.org/officeDocument/2006/relationships" id="262" r:id="Ra273a284087146c3"/>
    <p:sldId xmlns:r="http://schemas.openxmlformats.org/officeDocument/2006/relationships" id="263" r:id="R471732fec2904ff7"/>
    <p:sldId xmlns:r="http://schemas.openxmlformats.org/officeDocument/2006/relationships" id="264" r:id="R4b4ac15709b341a5"/>
    <p:sldId xmlns:r="http://schemas.openxmlformats.org/officeDocument/2006/relationships" id="265" r:id="Rd57b0f586e004943"/>
    <p:sldId xmlns:r="http://schemas.openxmlformats.org/officeDocument/2006/relationships" id="266" r:id="R38304b61ac1543a9"/>
    <p:sldId xmlns:r="http://schemas.openxmlformats.org/officeDocument/2006/relationships" id="267" r:id="Re64c554308104f1a"/>
    <p:sldId xmlns:r="http://schemas.openxmlformats.org/officeDocument/2006/relationships" id="268" r:id="R6bff8c606ba6481c"/>
    <p:sldId xmlns:r="http://schemas.openxmlformats.org/officeDocument/2006/relationships" id="269" r:id="R29a21ccf757044b7"/>
    <p:sldId xmlns:r="http://schemas.openxmlformats.org/officeDocument/2006/relationships" id="270" r:id="Rf2d9f15170d8435d"/>
    <p:sldId xmlns:r="http://schemas.openxmlformats.org/officeDocument/2006/relationships" id="271" r:id="R7cb0032145884b0e"/>
    <p:sldId xmlns:r="http://schemas.openxmlformats.org/officeDocument/2006/relationships" id="272" r:id="R866516da5417421d"/>
    <p:sldId xmlns:r="http://schemas.openxmlformats.org/officeDocument/2006/relationships" id="273" r:id="Re383f3fb29d84773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291698655654570" /><Relationship Type="http://schemas.openxmlformats.org/officeDocument/2006/relationships/theme" Target="/ppt/theme/theme1.xml" Id="R7e675f1b0b4e4884" /><Relationship Type="http://schemas.openxmlformats.org/officeDocument/2006/relationships/notesMaster" Target="/ppt/notesMasters/notesMaster1.xml" Id="R54e856dd48364938" /><Relationship Type="http://schemas.openxmlformats.org/officeDocument/2006/relationships/presProps" Target="/ppt/presProps.xml" Id="R1b25e98ce27140d1" /><Relationship Type="http://schemas.openxmlformats.org/officeDocument/2006/relationships/viewProps" Target="/ppt/viewProps.xml" Id="Rebab3c0872764d8e" /><Relationship Type="http://schemas.openxmlformats.org/officeDocument/2006/relationships/tableStyles" Target="/ppt/tableStyles.xml" Id="R26f682db227d4b45" /><Relationship Type="http://schemas.openxmlformats.org/officeDocument/2006/relationships/slide" Target="/ppt/slides/slide1.xml" Id="R7db996856ec1472b" /><Relationship Type="http://schemas.openxmlformats.org/officeDocument/2006/relationships/slide" Target="/ppt/slides/slide2.xml" Id="R6c5aef64201d47b4" /><Relationship Type="http://schemas.openxmlformats.org/officeDocument/2006/relationships/slide" Target="/ppt/slides/slide3.xml" Id="R6d0cf0a8d36243cd" /><Relationship Type="http://schemas.openxmlformats.org/officeDocument/2006/relationships/slide" Target="/ppt/slides/slide4.xml" Id="Rfcf5c475772e4945" /><Relationship Type="http://schemas.openxmlformats.org/officeDocument/2006/relationships/slide" Target="/ppt/slides/slide5.xml" Id="R33d00589141f4a36" /><Relationship Type="http://schemas.openxmlformats.org/officeDocument/2006/relationships/slide" Target="/ppt/slides/slide6.xml" Id="R990473b28cbb481c" /><Relationship Type="http://schemas.openxmlformats.org/officeDocument/2006/relationships/slide" Target="/ppt/slides/slide7.xml" Id="Ra273a284087146c3" /><Relationship Type="http://schemas.openxmlformats.org/officeDocument/2006/relationships/slide" Target="/ppt/slides/slide8.xml" Id="R471732fec2904ff7" /><Relationship Type="http://schemas.openxmlformats.org/officeDocument/2006/relationships/slide" Target="/ppt/slides/slide9.xml" Id="R4b4ac15709b341a5" /><Relationship Type="http://schemas.openxmlformats.org/officeDocument/2006/relationships/slide" Target="/ppt/slides/slide10.xml" Id="Rd57b0f586e004943" /><Relationship Type="http://schemas.openxmlformats.org/officeDocument/2006/relationships/slide" Target="/ppt/slides/slide11.xml" Id="R38304b61ac1543a9" /><Relationship Type="http://schemas.openxmlformats.org/officeDocument/2006/relationships/slide" Target="/ppt/slides/slide12.xml" Id="Re64c554308104f1a" /><Relationship Type="http://schemas.openxmlformats.org/officeDocument/2006/relationships/slide" Target="/ppt/slides/slide13.xml" Id="R6bff8c606ba6481c" /><Relationship Type="http://schemas.openxmlformats.org/officeDocument/2006/relationships/slide" Target="/ppt/slides/slide14.xml" Id="R29a21ccf757044b7" /><Relationship Type="http://schemas.openxmlformats.org/officeDocument/2006/relationships/slide" Target="/ppt/slides/slide15.xml" Id="Rf2d9f15170d8435d" /><Relationship Type="http://schemas.openxmlformats.org/officeDocument/2006/relationships/slide" Target="/ppt/slides/slide16.xml" Id="R7cb0032145884b0e" /><Relationship Type="http://schemas.openxmlformats.org/officeDocument/2006/relationships/slide" Target="/ppt/slides/slide17.xml" Id="R866516da5417421d" /><Relationship Type="http://schemas.openxmlformats.org/officeDocument/2006/relationships/slide" Target="/ppt/slides/slide18.xml" Id="Re383f3fb29d8477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5394d3ebd4eb420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3ab1cbbb42942d5" /><Relationship Type="http://schemas.openxmlformats.org/officeDocument/2006/relationships/notesMaster" Target="/ppt/notesMasters/notesMaster1.xml" Id="R188de802ed2e44e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c2a5bb9e9a74365" /><Relationship Type="http://schemas.openxmlformats.org/officeDocument/2006/relationships/notesMaster" Target="/ppt/notesMasters/notesMaster1.xml" Id="Ref344dd073c0401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799e42052dc4288" /><Relationship Type="http://schemas.openxmlformats.org/officeDocument/2006/relationships/notesMaster" Target="/ppt/notesMasters/notesMaster1.xml" Id="R693c0002922f40a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156af240ca247fb" /><Relationship Type="http://schemas.openxmlformats.org/officeDocument/2006/relationships/notesMaster" Target="/ppt/notesMasters/notesMaster1.xml" Id="R50b93810a40b4b0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d515782fd6a481b" /><Relationship Type="http://schemas.openxmlformats.org/officeDocument/2006/relationships/notesMaster" Target="/ppt/notesMasters/notesMaster1.xml" Id="R6ba89f071579471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483adaf80c147dc" /><Relationship Type="http://schemas.openxmlformats.org/officeDocument/2006/relationships/notesMaster" Target="/ppt/notesMasters/notesMaster1.xml" Id="R5f0b6ff2ad4842e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e85f3702e15444d" /><Relationship Type="http://schemas.openxmlformats.org/officeDocument/2006/relationships/notesMaster" Target="/ppt/notesMasters/notesMaster1.xml" Id="R5d7edd683dce43f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c4ca41249254849" /><Relationship Type="http://schemas.openxmlformats.org/officeDocument/2006/relationships/notesMaster" Target="/ppt/notesMasters/notesMaster1.xml" Id="R413f6faed8b84b5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5eaef43384a499f" /><Relationship Type="http://schemas.openxmlformats.org/officeDocument/2006/relationships/notesMaster" Target="/ppt/notesMasters/notesMaster1.xml" Id="Rf2804195fbb5451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92c7a5b97204dc6" /><Relationship Type="http://schemas.openxmlformats.org/officeDocument/2006/relationships/notesMaster" Target="/ppt/notesMasters/notesMaster1.xml" Id="Rf3d33f2ebaad4c0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02f6dda896e457e" /><Relationship Type="http://schemas.openxmlformats.org/officeDocument/2006/relationships/notesMaster" Target="/ppt/notesMasters/notesMaster1.xml" Id="R26235d4fcbfc4dc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153fb91981c475f" /><Relationship Type="http://schemas.openxmlformats.org/officeDocument/2006/relationships/notesMaster" Target="/ppt/notesMasters/notesMaster1.xml" Id="Rdec5462a8082428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43888e4c172412d" /><Relationship Type="http://schemas.openxmlformats.org/officeDocument/2006/relationships/notesMaster" Target="/ppt/notesMasters/notesMaster1.xml" Id="Rc8527f7d6bc94f9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c94373e5870454e" /><Relationship Type="http://schemas.openxmlformats.org/officeDocument/2006/relationships/notesMaster" Target="/ppt/notesMasters/notesMaster1.xml" Id="R8d35c10fe8fb48a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65b714e574a49e0" /><Relationship Type="http://schemas.openxmlformats.org/officeDocument/2006/relationships/notesMaster" Target="/ppt/notesMasters/notesMaster1.xml" Id="Rb254a847d17840f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a4017c45ee74421" /><Relationship Type="http://schemas.openxmlformats.org/officeDocument/2006/relationships/notesMaster" Target="/ppt/notesMasters/notesMaster1.xml" Id="R9a27e79c3ac0450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049feb4c238a4d0b" /><Relationship Type="http://schemas.openxmlformats.org/officeDocument/2006/relationships/notesMaster" Target="/ppt/notesMasters/notesMaster1.xml" Id="Ra280e65a17144565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307c6506e9114838" /><Relationship Type="http://schemas.openxmlformats.org/officeDocument/2006/relationships/notesMaster" Target="/ppt/notesMasters/notesMaster1.xml" Id="R56700f50b705459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a53e2476bd74968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67ab72dfa9bd411c" /><Relationship Type="http://schemas.openxmlformats.org/officeDocument/2006/relationships/slideLayout" Target="/ppt/slideLayouts/slideLayout2.xml" Id="Rf238dcc4dee34de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238dcc4dee34de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bf9d8e459174a45" /><Relationship Type="http://schemas.openxmlformats.org/officeDocument/2006/relationships/notesSlide" Target="/ppt/notesSlides/notesSlide1.xml" Id="Ra05a816f08fe4f7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98614857d4149f2" /><Relationship Type="http://schemas.openxmlformats.org/officeDocument/2006/relationships/notesSlide" Target="/ppt/notesSlides/notesSlide2.xml" Id="Re951a2d020f542f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502a07494c84dfe" /><Relationship Type="http://schemas.openxmlformats.org/officeDocument/2006/relationships/notesSlide" Target="/ppt/notesSlides/notesSlide3.xml" Id="Re7c6317ec4244bb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546726a99454faf" /><Relationship Type="http://schemas.openxmlformats.org/officeDocument/2006/relationships/notesSlide" Target="/ppt/notesSlides/notesSlide4.xml" Id="R5419f8fcdbd94fe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b93b12fbcf04727" /><Relationship Type="http://schemas.openxmlformats.org/officeDocument/2006/relationships/notesSlide" Target="/ppt/notesSlides/notesSlide5.xml" Id="Raff4bae45f184ba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b4c8d9291d84081" /><Relationship Type="http://schemas.openxmlformats.org/officeDocument/2006/relationships/notesSlide" Target="/ppt/notesSlides/notesSlide6.xml" Id="Rb0caaa223178419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28eb45d9dcb4474" /><Relationship Type="http://schemas.openxmlformats.org/officeDocument/2006/relationships/notesSlide" Target="/ppt/notesSlides/notesSlide7.xml" Id="Rc12f7122daec491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5a08582812f4fb7" /><Relationship Type="http://schemas.openxmlformats.org/officeDocument/2006/relationships/notesSlide" Target="/ppt/notesSlides/notesSlide8.xml" Id="Rbd99df4cbe604f5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b19473fc66d46b6" /><Relationship Type="http://schemas.openxmlformats.org/officeDocument/2006/relationships/notesSlide" Target="/ppt/notesSlides/notesSlide9.xml" Id="R888d18ec02a447d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4882a4b906e489e" /><Relationship Type="http://schemas.openxmlformats.org/officeDocument/2006/relationships/notesSlide" Target="/ppt/notesSlides/notesSlide10.xml" Id="Rb57c4fd050a34b1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a8cdd10a2e44e93" /><Relationship Type="http://schemas.openxmlformats.org/officeDocument/2006/relationships/notesSlide" Target="/ppt/notesSlides/notesSlide11.xml" Id="Reae8bb64780d41e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456ac35c49b42a7" /><Relationship Type="http://schemas.openxmlformats.org/officeDocument/2006/relationships/notesSlide" Target="/ppt/notesSlides/notesSlide12.xml" Id="Rfce6cf6152524bb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316efb7cbf34998" /><Relationship Type="http://schemas.openxmlformats.org/officeDocument/2006/relationships/notesSlide" Target="/ppt/notesSlides/notesSlide13.xml" Id="Re1323b2a027a463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b6fce16cc03498b" /><Relationship Type="http://schemas.openxmlformats.org/officeDocument/2006/relationships/notesSlide" Target="/ppt/notesSlides/notesSlide14.xml" Id="R922f68c24031478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ae1eb1fbbee4e28" /><Relationship Type="http://schemas.openxmlformats.org/officeDocument/2006/relationships/notesSlide" Target="/ppt/notesSlides/notesSlide15.xml" Id="R595d38bad70f4fe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a3b3408a3a8443e" /><Relationship Type="http://schemas.openxmlformats.org/officeDocument/2006/relationships/notesSlide" Target="/ppt/notesSlides/notesSlide16.xml" Id="Re3c2bf5bdbbb4d73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d7cd9cdd6c74278" /><Relationship Type="http://schemas.openxmlformats.org/officeDocument/2006/relationships/notesSlide" Target="/ppt/notesSlides/notesSlide17.xml" Id="Rba428105d8714a8c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2ee2b1c19b74d2a" /><Relationship Type="http://schemas.openxmlformats.org/officeDocument/2006/relationships/notesSlide" Target="/ppt/notesSlides/notesSlide18.xml" Id="R607fe72c3c144bba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3EDDEF4-FBD7-4085-8D58-413DCC77D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4AFF3D-CB80-4122-AC73-D5D8F6E31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409A"/>
          </a:solidFill>
          <a:ln xmlns:a="http://schemas.openxmlformats.org/drawingml/2006/main" w="0">
            <a:solidFill>
              <a:srgbClr val="02409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9E2DB9-7D0C-43FC-86A6-66A5F26C2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667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822F"/>
          </a:solidFill>
          <a:ln xmlns:a="http://schemas.openxmlformats.org/drawingml/2006/main" w="0">
            <a:solidFill>
              <a:srgbClr val="EE822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60378B-2CBA-4EB1-9EB7-BB061DA36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81050"/>
            <a:ext cx="164592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FFFFFF"/>
                </a:solidFill>
              </a:defRPr>
            </a:pPr>
            <a:r>
              <a:rPr sz="5400" b="1">
                <a:solidFill>
                  <a:srgbClr val="FFFFFF"/>
                </a:solidFill>
              </a:rPr>
              <a:t>SPR 本体更新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613AAD-0CB9-4961-BAEA-F8336139D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33550"/>
            <a:ext cx="164592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最终交付与导师汇报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15D179-3E28-4F3E-B043-1E5AFCFE0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14600"/>
            <a:ext cx="164592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DCE8FF"/>
                </a:solidFill>
              </a:defRPr>
            </a:pPr>
            <a:r>
              <a:rPr sz="2250" b="0">
                <a:solidFill>
                  <a:srgbClr val="DCE8FF"/>
                </a:solidFill>
              </a:rPr>
              <a:t>基于数据库字段映射的 v0.3 更新建议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FE3C8D-57F8-41DC-89FB-6B9DCB950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118300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2409A"/>
                </a:solidFill>
              </a:defRPr>
            </a:pPr>
            <a:r>
              <a:rPr sz="2550" b="1">
                <a:solidFill>
                  <a:srgbClr val="02409A"/>
                </a:solidFill>
              </a:rPr>
              <a:t>汇报重点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51D6F1-2DE9-47F7-BA47-A31CAB49F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339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822F"/>
          </a:solidFill>
          <a:ln xmlns:a="http://schemas.openxmlformats.org/drawingml/2006/main" w="0">
            <a:solidFill>
              <a:srgbClr val="EE822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A67CB1-5032-4250-A1BB-0CA554B7B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33950"/>
            <a:ext cx="58483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F2933"/>
                </a:solidFill>
              </a:defRPr>
            </a:pPr>
            <a:r>
              <a:rPr sz="1875" b="0">
                <a:solidFill>
                  <a:srgbClr val="1F2933"/>
                </a:solidFill>
              </a:rPr>
              <a:t>保持原 SPR 主链路稳定，不重构既有核心实体与关系。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23D1CB-4723-4CD1-82C9-5F02725D5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150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822F"/>
          </a:solidFill>
          <a:ln xmlns:a="http://schemas.openxmlformats.org/drawingml/2006/main" w="0">
            <a:solidFill>
              <a:srgbClr val="EE822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BE99BC-8822-491E-81EF-1A75B6A12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715000"/>
            <a:ext cx="78676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F2933"/>
                </a:solidFill>
              </a:defRPr>
            </a:pPr>
            <a:r>
              <a:rPr sz="1875" b="0">
                <a:solidFill>
                  <a:srgbClr val="1F2933"/>
                </a:solidFill>
              </a:rPr>
              <a:t>补齐在线过程记录、曲线数据、包络线、公差阈值、预测判定与系统时间。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C8E5EC-780E-44E9-B814-91E9F663B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4960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822F"/>
          </a:solidFill>
          <a:ln xmlns:a="http://schemas.openxmlformats.org/drawingml/2006/main" w="0">
            <a:solidFill>
              <a:srgbClr val="EE822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6FEA3D-056F-4329-942E-119D6B507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496050"/>
            <a:ext cx="73152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F2933"/>
                </a:solidFill>
              </a:defRPr>
            </a:pPr>
            <a:r>
              <a:rPr sz="1875" b="0">
                <a:solidFill>
                  <a:srgbClr val="1F2933"/>
                </a:solidFill>
              </a:rPr>
              <a:t>把主数据库与 RIP_ROP 明细表字段逐项落到本体类、属性和关系中。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6739C7-E199-41F0-BF28-42ECC6E71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73100" y="4400550"/>
            <a:ext cx="34290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02409A"/>
                </a:solidFill>
              </a:defRPr>
            </a:pPr>
            <a:r>
              <a:rPr sz="4650" b="1">
                <a:solidFill>
                  <a:srgbClr val="02409A"/>
                </a:solidFill>
              </a:rPr>
              <a:t>16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453125-598D-4883-A289-2681EE6E7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73100" y="5029200"/>
            <a:ext cx="3429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F6B7A"/>
                </a:solidFill>
              </a:defRPr>
            </a:pPr>
            <a:r>
              <a:rPr sz="1500" b="0">
                <a:solidFill>
                  <a:srgbClr val="5F6B7A"/>
                </a:solidFill>
              </a:rPr>
              <a:t>主数据库字段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6E5B78-0267-47E1-9720-E8F36952C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73100" y="5429250"/>
            <a:ext cx="34290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EE822F"/>
                </a:solidFill>
              </a:defRPr>
            </a:pPr>
            <a:r>
              <a:rPr sz="4650" b="1">
                <a:solidFill>
                  <a:srgbClr val="EE822F"/>
                </a:solidFill>
              </a:rPr>
              <a:t>42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A6A218-E1BF-49A3-9EFC-1965F6151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73100" y="6057900"/>
            <a:ext cx="3429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F6B7A"/>
                </a:solidFill>
              </a:defRPr>
            </a:pPr>
            <a:r>
              <a:rPr sz="1500" b="0">
                <a:solidFill>
                  <a:srgbClr val="5F6B7A"/>
                </a:solidFill>
              </a:rPr>
              <a:t>RIP_ROP 字段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0FE6CB-63B9-4C0C-9F80-DAA9156F7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73100" y="6457950"/>
            <a:ext cx="34290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75BD42"/>
                </a:solidFill>
              </a:defRPr>
            </a:pPr>
            <a:r>
              <a:rPr sz="4650" b="1">
                <a:solidFill>
                  <a:srgbClr val="75BD42"/>
                </a:solidFill>
              </a:rPr>
              <a:t>12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7AF735-A156-440C-AAFF-43FFD4C0F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73100" y="7086600"/>
            <a:ext cx="3429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F6B7A"/>
                </a:solidFill>
              </a:defRPr>
            </a:pPr>
            <a:r>
              <a:rPr sz="1500" b="0">
                <a:solidFill>
                  <a:srgbClr val="5F6B7A"/>
                </a:solidFill>
              </a:rPr>
              <a:t>新增/扩展类</a:t>
            </a:r>
          </a:p>
        </p:txBody>
      </p:sp>
    </p:spTree>
    <p:extLst>
      <p:ext uri="{BB962C8B-B14F-4D97-AF65-F5344CB8AC3E}">
        <p14:creationId xmlns:p14="http://schemas.microsoft.com/office/powerpoint/2010/main" val="157495031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header-blue">
            <a:extLst xmlns:a="http://schemas.openxmlformats.org/drawingml/2006/main">
              <a:ext uri="{FF2B5EF4-FFF2-40B4-BE49-F238E27FC236}">
                <a16:creationId xmlns:a16="http://schemas.microsoft.com/office/drawing/2014/main" id="{814B4F2C-7DF5-42EF-9826-60C72B811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28600"/>
            <a:ext cx="17526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409A"/>
          </a:solidFill>
          <a:ln xmlns:a="http://schemas.openxmlformats.org/drawingml/2006/main" w="0">
            <a:solidFill>
              <a:srgbClr val="02409A"/>
            </a:solidFill>
            <a:prstDash val="solid"/>
          </a:ln>
        </p:spPr>
      </p:sp>
      <p:sp>
        <p:nvSpPr>
          <p:cNvPr id="2" name="header-accent">
            <a:extLst xmlns:a="http://schemas.openxmlformats.org/drawingml/2006/main">
              <a:ext uri="{FF2B5EF4-FFF2-40B4-BE49-F238E27FC236}">
                <a16:creationId xmlns:a16="http://schemas.microsoft.com/office/drawing/2014/main" id="{0C9A2AEE-270C-4F38-8903-7A0FD3ABA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28600"/>
            <a:ext cx="14097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822F"/>
          </a:solidFill>
          <a:ln xmlns:a="http://schemas.openxmlformats.org/drawingml/2006/main" w="0">
            <a:solidFill>
              <a:srgbClr val="EE822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91A218-2479-4F9C-B7E8-AD3ACA9C6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1000"/>
            <a:ext cx="142113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一、项目进展概览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DC5A0D-7249-44EF-85C3-F203F2221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06650" y="381000"/>
            <a:ext cx="2476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DCE8FF"/>
                </a:solidFill>
              </a:defRPr>
            </a:pPr>
            <a:r>
              <a:rPr sz="1275" b="0">
                <a:solidFill>
                  <a:srgbClr val="DCE8FF"/>
                </a:solidFill>
              </a:rPr>
              <a:t>进展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67747D-08CC-4F34-8541-06138CAC3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371600"/>
            <a:ext cx="37147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02409A"/>
                </a:solidFill>
              </a:defRPr>
            </a:pPr>
            <a:r>
              <a:rPr sz="4650" b="1">
                <a:solidFill>
                  <a:srgbClr val="02409A"/>
                </a:solidFill>
              </a:rPr>
              <a:t>已完成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AD0701-FD2B-4291-B30A-FAE49EF60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000250"/>
            <a:ext cx="3714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F6B7A"/>
                </a:solidFill>
              </a:defRPr>
            </a:pPr>
            <a:r>
              <a:rPr sz="1500" b="0">
                <a:solidFill>
                  <a:srgbClr val="5F6B7A"/>
                </a:solidFill>
              </a:rPr>
              <a:t>SPR 本体 v0.3 更新建议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7EF272-98F9-4D91-81BF-803455E06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1371600"/>
            <a:ext cx="34290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EE822F"/>
                </a:solidFill>
              </a:defRPr>
            </a:pPr>
            <a:r>
              <a:rPr sz="4650" b="1">
                <a:solidFill>
                  <a:srgbClr val="EE822F"/>
                </a:solidFill>
              </a:rPr>
              <a:t>已完成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D0052C-A86C-4BAD-8580-D9DC3B4DD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000250"/>
            <a:ext cx="3429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F6B7A"/>
                </a:solidFill>
              </a:defRPr>
            </a:pPr>
            <a:r>
              <a:rPr sz="1500" b="0">
                <a:solidFill>
                  <a:srgbClr val="5F6B7A"/>
                </a:solidFill>
              </a:rPr>
              <a:t>字段级映射表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0A0158-99B0-402F-ADBA-7DFEC1AE4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371600"/>
            <a:ext cx="37147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75BD42"/>
                </a:solidFill>
              </a:defRPr>
            </a:pPr>
            <a:r>
              <a:rPr sz="4650" b="1">
                <a:solidFill>
                  <a:srgbClr val="75BD42"/>
                </a:solidFill>
              </a:rPr>
              <a:t>已整理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AF2521-2055-477F-A893-94F9AA77E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000250"/>
            <a:ext cx="3714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F6B7A"/>
                </a:solidFill>
              </a:defRPr>
            </a:pPr>
            <a:r>
              <a:rPr sz="1500" b="0">
                <a:solidFill>
                  <a:srgbClr val="5F6B7A"/>
                </a:solidFill>
              </a:rPr>
              <a:t>变更记录与待确认清单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9E8304-0989-44E0-AFF7-2258707B5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438400"/>
            <a:ext cx="17526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409A"/>
          </a:solidFill>
          <a:ln xmlns:a="http://schemas.openxmlformats.org/drawingml/2006/main" w="0">
            <a:solidFill>
              <a:srgbClr val="02409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66E698-6833-416B-9E7C-CA9A9ADDD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95550"/>
            <a:ext cx="2286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工作项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911813-690F-4DF2-8226-7E4C71686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495550"/>
            <a:ext cx="9810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完成内容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A2EC4E-614B-4681-8359-CF38E20C3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34950" y="2495550"/>
            <a:ext cx="2667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当前状态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83C382-E3DF-4967-A893-AE4122DDF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895600"/>
            <a:ext cx="17526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822F"/>
          </a:solidFill>
          <a:ln xmlns:a="http://schemas.openxmlformats.org/drawingml/2006/main" w="0">
            <a:solidFill>
              <a:srgbClr val="EE822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79DC4E-6200-492F-B2CC-EF27D8291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67050"/>
            <a:ext cx="22860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3"/>
                </a:solidFill>
              </a:defRPr>
            </a:pPr>
            <a:r>
              <a:rPr sz="1500" b="1">
                <a:solidFill>
                  <a:srgbClr val="1F2933"/>
                </a:solidFill>
              </a:rPr>
              <a:t>需求与边界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EB1599-41BC-43B8-BD86-44D9436B7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067050"/>
            <a:ext cx="98107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F6B7A"/>
                </a:solidFill>
              </a:defRPr>
            </a:pPr>
            <a:r>
              <a:rPr sz="1500" b="0">
                <a:solidFill>
                  <a:srgbClr val="5F6B7A"/>
                </a:solidFill>
              </a:rPr>
              <a:t>确认本次不是推翻原 SPR 本体，而是在主链路稳定前提下补充数据库真实字段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559472-0642-4FB2-8E9E-CD2243047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34950" y="3067050"/>
            <a:ext cx="26670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F6B7A"/>
                </a:solidFill>
              </a:defRPr>
            </a:pPr>
            <a:r>
              <a:rPr sz="1500" b="0">
                <a:solidFill>
                  <a:srgbClr val="5F6B7A"/>
                </a:solidFill>
              </a:rPr>
              <a:t>完成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3DD6D09-0614-4D73-9BA0-4FED30E6F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638550"/>
            <a:ext cx="1752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8"/>
          </a:solidFill>
          <a:ln xmlns:a="http://schemas.openxmlformats.org/drawingml/2006/main" w="0">
            <a:solidFill>
              <a:srgbClr val="D9DE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8EA36D4-3141-4036-B457-BD2EC9890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752850"/>
            <a:ext cx="22860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3"/>
                </a:solidFill>
              </a:defRPr>
            </a:pPr>
            <a:r>
              <a:rPr sz="1500" b="1">
                <a:solidFill>
                  <a:srgbClr val="1F2933"/>
                </a:solidFill>
              </a:rPr>
              <a:t>字段映射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45CAD1E-7D6F-47EA-98BA-B316A3702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752850"/>
            <a:ext cx="98107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F6B7A"/>
                </a:solidFill>
              </a:defRPr>
            </a:pPr>
            <a:r>
              <a:rPr sz="1500" b="0">
                <a:solidFill>
                  <a:srgbClr val="5F6B7A"/>
                </a:solidFill>
              </a:rPr>
              <a:t>主数据库 16 字段、RIP_ROP 42 字段均已归类到现有类、补属性、扩展类或待确认项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38726CA-21E1-410A-812C-CEC896D8A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34950" y="3752850"/>
            <a:ext cx="26670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F6B7A"/>
                </a:solidFill>
              </a:defRPr>
            </a:pPr>
            <a:r>
              <a:rPr sz="1500" b="0">
                <a:solidFill>
                  <a:srgbClr val="5F6B7A"/>
                </a:solidFill>
              </a:rPr>
              <a:t>完成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D70F833-7315-4EDE-ABFC-801649494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343400"/>
            <a:ext cx="1752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8"/>
          </a:solidFill>
          <a:ln xmlns:a="http://schemas.openxmlformats.org/drawingml/2006/main" w="0">
            <a:solidFill>
              <a:srgbClr val="D9DE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818651E-6C0E-427D-B558-10D46490C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457700"/>
            <a:ext cx="22860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3"/>
                </a:solidFill>
              </a:defRPr>
            </a:pPr>
            <a:r>
              <a:rPr sz="1500" b="1">
                <a:solidFill>
                  <a:srgbClr val="1F2933"/>
                </a:solidFill>
              </a:rPr>
              <a:t>本体更新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36356BB-A323-4D80-9DEA-108958ED5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457700"/>
            <a:ext cx="98107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F6B7A"/>
                </a:solidFill>
              </a:defRPr>
            </a:pPr>
            <a:r>
              <a:rPr sz="1500" b="0">
                <a:solidFill>
                  <a:srgbClr val="5F6B7A"/>
                </a:solidFill>
              </a:rPr>
              <a:t>形成新增类、属性、关系、约束、规则与实例化路径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1993DF4-908C-400E-B515-1AB7D53C2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34950" y="4457700"/>
            <a:ext cx="26670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F6B7A"/>
                </a:solidFill>
              </a:defRPr>
            </a:pPr>
            <a:r>
              <a:rPr sz="1500" b="0">
                <a:solidFill>
                  <a:srgbClr val="5F6B7A"/>
                </a:solidFill>
              </a:rPr>
              <a:t>完成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504D35C-8165-46F5-ACF3-AF0A159A4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029200"/>
            <a:ext cx="1752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8"/>
          </a:solidFill>
          <a:ln xmlns:a="http://schemas.openxmlformats.org/drawingml/2006/main" w="0">
            <a:solidFill>
              <a:srgbClr val="D9DEE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46D4120-927D-4B4A-98F5-B17BA99FE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143500"/>
            <a:ext cx="22860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3"/>
                </a:solidFill>
              </a:defRPr>
            </a:pPr>
            <a:r>
              <a:rPr sz="1500" b="1">
                <a:solidFill>
                  <a:srgbClr val="1F2933"/>
                </a:solidFill>
              </a:rPr>
              <a:t>后续沟通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EB468D4-78A4-4BA9-95FF-7EE781808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143500"/>
            <a:ext cx="98107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F6B7A"/>
                </a:solidFill>
              </a:defRPr>
            </a:pPr>
            <a:r>
              <a:rPr sz="1500" b="0">
                <a:solidFill>
                  <a:srgbClr val="5F6B7A"/>
                </a:solidFill>
              </a:rPr>
              <a:t>整理 pre、error_rate、车身对象、RRC/PECV2、曲线缩放关系等待确认问题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02E217E-751C-40F3-8D6A-AB724182B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34950" y="5143500"/>
            <a:ext cx="26670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F6B7A"/>
                </a:solidFill>
              </a:defRPr>
            </a:pPr>
            <a:r>
              <a:rPr sz="1500" b="0">
                <a:solidFill>
                  <a:srgbClr val="5F6B7A"/>
                </a:solidFill>
              </a:rPr>
              <a:t>待导师/业务确认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0DAFF38-9FAA-4F1E-B8C7-45B31C8AF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734050"/>
            <a:ext cx="1752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8"/>
          </a:solidFill>
          <a:ln xmlns:a="http://schemas.openxmlformats.org/drawingml/2006/main" w="0">
            <a:solidFill>
              <a:srgbClr val="D9DEE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5D53B21-F5AF-436C-AA8C-6FCF8F859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9734550"/>
            <a:ext cx="168592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8B95A1"/>
                </a:solidFill>
              </a:defRPr>
            </a:pPr>
            <a:r>
              <a:rPr sz="1050" b="0">
                <a:solidFill>
                  <a:srgbClr val="8B95A1"/>
                </a:solidFill>
              </a:rPr>
              <a:t>SPR 本体更新导师汇报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6D633A5-731D-4180-83D1-B1153BFF8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0" y="9734550"/>
            <a:ext cx="666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2409A"/>
                </a:solidFill>
              </a:defRPr>
            </a:pPr>
            <a:r>
              <a:rPr sz="1125" b="1">
                <a:solidFill>
                  <a:srgbClr val="02409A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77855880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header-blue">
            <a:extLst xmlns:a="http://schemas.openxmlformats.org/drawingml/2006/main">
              <a:ext uri="{FF2B5EF4-FFF2-40B4-BE49-F238E27FC236}">
                <a16:creationId xmlns:a16="http://schemas.microsoft.com/office/drawing/2014/main" id="{EB8CD351-1835-4852-89D7-B8E0CC0D0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28600"/>
            <a:ext cx="17526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409A"/>
          </a:solidFill>
          <a:ln xmlns:a="http://schemas.openxmlformats.org/drawingml/2006/main" w="0">
            <a:solidFill>
              <a:srgbClr val="02409A"/>
            </a:solidFill>
            <a:prstDash val="solid"/>
          </a:ln>
        </p:spPr>
      </p:sp>
      <p:sp>
        <p:nvSpPr>
          <p:cNvPr id="2" name="header-accent">
            <a:extLst xmlns:a="http://schemas.openxmlformats.org/drawingml/2006/main">
              <a:ext uri="{FF2B5EF4-FFF2-40B4-BE49-F238E27FC236}">
                <a16:creationId xmlns:a16="http://schemas.microsoft.com/office/drawing/2014/main" id="{38333999-C111-4A77-A01F-49AB796A0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28600"/>
            <a:ext cx="14097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822F"/>
          </a:solidFill>
          <a:ln xmlns:a="http://schemas.openxmlformats.org/drawingml/2006/main" w="0">
            <a:solidFill>
              <a:srgbClr val="EE822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8D01FC-37E2-4058-9952-3EFD1955D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1000"/>
            <a:ext cx="142113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二、更新定位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667BD6-2143-4208-8F53-1FAF7F558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06650" y="381000"/>
            <a:ext cx="2476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DCE8FF"/>
                </a:solidFill>
              </a:defRPr>
            </a:pPr>
            <a:r>
              <a:rPr sz="1275" b="0">
                <a:solidFill>
                  <a:srgbClr val="DCE8FF"/>
                </a:solidFill>
              </a:rPr>
              <a:t>定位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1467BF-015F-45B6-A3FF-369434833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371600"/>
            <a:ext cx="124968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F2933"/>
                </a:solidFill>
              </a:defRPr>
            </a:pPr>
            <a:r>
              <a:rPr sz="2550" b="1">
                <a:solidFill>
                  <a:srgbClr val="1F2933"/>
                </a:solidFill>
              </a:rPr>
              <a:t>本版本的核心目标：让原有 SPR 本体能够承载真实数据库中已经出现的在线过程数据。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444CCF-AD8C-469C-9185-8DBFBE509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209800"/>
            <a:ext cx="4667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0">
            <a:solidFill>
              <a:srgbClr val="EAF1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951DBE-967F-431B-8A7C-8CB7B9B0B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209800"/>
            <a:ext cx="762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409A"/>
          </a:solidFill>
          <a:ln xmlns:a="http://schemas.openxmlformats.org/drawingml/2006/main" w="0">
            <a:solidFill>
              <a:srgbClr val="02409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9193B3-1889-4BF7-AD7E-F05B0782F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81250"/>
            <a:ext cx="4286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2409A"/>
                </a:solidFill>
              </a:defRPr>
            </a:pPr>
            <a:r>
              <a:rPr sz="1725" b="1">
                <a:solidFill>
                  <a:srgbClr val="02409A"/>
                </a:solidFill>
              </a:rPr>
              <a:t>不是重构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566FCF-D173-48F2-B069-98FC24F18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86050"/>
            <a:ext cx="4286250" cy="1009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F2933"/>
                </a:solidFill>
              </a:defRPr>
            </a:pPr>
            <a:r>
              <a:rPr sz="1350" b="0">
                <a:solidFill>
                  <a:srgbClr val="1F2933"/>
                </a:solidFill>
              </a:rPr>
              <a:t>不改变连接点、工位、设备、程序、参数、质量结果等原主链路。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216EA2-64F9-4F12-9037-637428E2E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209800"/>
            <a:ext cx="4667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E5"/>
          </a:solidFill>
          <a:ln xmlns:a="http://schemas.openxmlformats.org/drawingml/2006/main" w="0">
            <a:solidFill>
              <a:srgbClr val="FFF2E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2DF299-0189-4301-8FA4-8609ED0BD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209800"/>
            <a:ext cx="762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822F"/>
          </a:solidFill>
          <a:ln xmlns:a="http://schemas.openxmlformats.org/drawingml/2006/main" w="0">
            <a:solidFill>
              <a:srgbClr val="EE822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B60564-4C88-42B1-AC64-8BC3C3E1D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381250"/>
            <a:ext cx="4286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EE822F"/>
                </a:solidFill>
              </a:defRPr>
            </a:pPr>
            <a:r>
              <a:rPr sz="1725" b="1">
                <a:solidFill>
                  <a:srgbClr val="EE822F"/>
                </a:solidFill>
              </a:rPr>
              <a:t>而是补齐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9FEAF1-9A95-4D48-A184-313AB0055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686050"/>
            <a:ext cx="4286250" cy="1009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F2933"/>
                </a:solidFill>
              </a:defRPr>
            </a:pPr>
            <a:r>
              <a:rPr sz="1350" b="0">
                <a:solidFill>
                  <a:srgbClr val="1F2933"/>
                </a:solidFill>
              </a:rPr>
              <a:t>新增过程记录、曲线/包络线、公差、预测判定和系统时间承载层。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42E083-F7C3-4AAE-8044-42B531DA4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209800"/>
            <a:ext cx="4667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8E9"/>
          </a:solidFill>
          <a:ln xmlns:a="http://schemas.openxmlformats.org/drawingml/2006/main" w="0">
            <a:solidFill>
              <a:srgbClr val="EEF8E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A46C27-D9A4-4DFC-8078-D20F7DB1B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209800"/>
            <a:ext cx="762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BD42"/>
          </a:solidFill>
          <a:ln xmlns:a="http://schemas.openxmlformats.org/drawingml/2006/main" w="0">
            <a:solidFill>
              <a:srgbClr val="75BD4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3CA363-8418-41BE-A203-91EF7D2CE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2381250"/>
            <a:ext cx="4286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75BD42"/>
                </a:solidFill>
              </a:defRPr>
            </a:pPr>
            <a:r>
              <a:rPr sz="1725" b="1">
                <a:solidFill>
                  <a:srgbClr val="75BD42"/>
                </a:solidFill>
              </a:rPr>
              <a:t>便于落地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B30092-41B3-4DF1-A7C9-C4B546C61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2686050"/>
            <a:ext cx="4286250" cy="1009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F2933"/>
                </a:solidFill>
              </a:defRPr>
            </a:pPr>
            <a:r>
              <a:rPr sz="1350" b="0">
                <a:solidFill>
                  <a:srgbClr val="1F2933"/>
                </a:solidFill>
              </a:rPr>
              <a:t>数据库每个字段都能找到稳定的类、属性、关系或待确认位置。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40BBDC-3B97-4955-BEB3-628DE2267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0576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822F"/>
          </a:solidFill>
          <a:ln xmlns:a="http://schemas.openxmlformats.org/drawingml/2006/main" w="0">
            <a:solidFill>
              <a:srgbClr val="EE822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4C2776-CEC3-431F-A95F-2C87F2B2D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57650"/>
            <a:ext cx="140398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F2933"/>
                </a:solidFill>
              </a:defRPr>
            </a:pPr>
            <a:r>
              <a:rPr sz="1875" b="0">
                <a:solidFill>
                  <a:srgbClr val="1F2933"/>
                </a:solidFill>
              </a:rPr>
              <a:t>原本体已经覆盖产线、工位、设备、程序、零件、材料、SPR连接点、铆钉、铆模、参数、检测计划、质量结果、缺陷、根因和变更。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770649B-2F3E-4E18-9986-4458C5805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8768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822F"/>
          </a:solidFill>
          <a:ln xmlns:a="http://schemas.openxmlformats.org/drawingml/2006/main" w="0">
            <a:solidFill>
              <a:srgbClr val="EE822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27D832E-417F-4B58-B8AF-219AE181E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123825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F2933"/>
                </a:solidFill>
              </a:defRPr>
            </a:pPr>
            <a:r>
              <a:rPr sz="1875" b="0">
                <a:solidFill>
                  <a:srgbClr val="1F2933"/>
                </a:solidFill>
              </a:rPr>
              <a:t>数据库样例进一步暴露出在线过程记录、曲线序列、包络线、公差阈值、预测类别、误差率和时间戳等新增建模需求。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1F7D7FD-8D25-455F-B7BA-7800A3800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9734550"/>
            <a:ext cx="168592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8B95A1"/>
                </a:solidFill>
              </a:defRPr>
            </a:pPr>
            <a:r>
              <a:rPr sz="1050" b="0">
                <a:solidFill>
                  <a:srgbClr val="8B95A1"/>
                </a:solidFill>
              </a:rPr>
              <a:t>SPR 本体更新导师汇报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FB2AF28-22B6-4C0F-9401-98C65CED1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0" y="9734550"/>
            <a:ext cx="666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2409A"/>
                </a:solidFill>
              </a:defRPr>
            </a:pPr>
            <a:r>
              <a:rPr sz="1125" b="1">
                <a:solidFill>
                  <a:srgbClr val="02409A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4413583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header-blue">
            <a:extLst xmlns:a="http://schemas.openxmlformats.org/drawingml/2006/main">
              <a:ext uri="{FF2B5EF4-FFF2-40B4-BE49-F238E27FC236}">
                <a16:creationId xmlns:a16="http://schemas.microsoft.com/office/drawing/2014/main" id="{30CB3AFB-044D-48D6-BE38-F33A15161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28600"/>
            <a:ext cx="17526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409A"/>
          </a:solidFill>
          <a:ln xmlns:a="http://schemas.openxmlformats.org/drawingml/2006/main" w="0">
            <a:solidFill>
              <a:srgbClr val="02409A"/>
            </a:solidFill>
            <a:prstDash val="solid"/>
          </a:ln>
        </p:spPr>
      </p:sp>
      <p:sp>
        <p:nvSpPr>
          <p:cNvPr id="2" name="header-accent">
            <a:extLst xmlns:a="http://schemas.openxmlformats.org/drawingml/2006/main">
              <a:ext uri="{FF2B5EF4-FFF2-40B4-BE49-F238E27FC236}">
                <a16:creationId xmlns:a16="http://schemas.microsoft.com/office/drawing/2014/main" id="{8F37B290-3A7B-4BD2-BA29-B55E85BB2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28600"/>
            <a:ext cx="14097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822F"/>
          </a:solidFill>
          <a:ln xmlns:a="http://schemas.openxmlformats.org/drawingml/2006/main" w="0">
            <a:solidFill>
              <a:srgbClr val="EE822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C545F0-7F52-43ED-8356-CE7A68D94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1000"/>
            <a:ext cx="142113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三、更新原则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498B7B-E28A-4ADC-A718-6B776100F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06650" y="381000"/>
            <a:ext cx="2476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DCE8FF"/>
                </a:solidFill>
              </a:defRPr>
            </a:pPr>
            <a:r>
              <a:rPr sz="1275" b="0">
                <a:solidFill>
                  <a:srgbClr val="DCE8FF"/>
                </a:solidFill>
              </a:rPr>
              <a:t>原则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D24DBB-4AD9-49EF-94FE-57EBAD474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371600"/>
            <a:ext cx="704850" cy="704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2409A"/>
          </a:solidFill>
          <a:ln xmlns:a="http://schemas.openxmlformats.org/drawingml/2006/main" w="0">
            <a:solidFill>
              <a:srgbClr val="02409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1D70F8-1DF5-480C-8178-11D16E9F4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371600"/>
            <a:ext cx="7048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1DB1B4-DB11-46F2-9BBB-D1026E4DA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171700"/>
            <a:ext cx="16954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3"/>
                </a:solidFill>
              </a:defRPr>
            </a:pPr>
            <a:r>
              <a:rPr sz="1500" b="1">
                <a:solidFill>
                  <a:srgbClr val="1F2933"/>
                </a:solidFill>
              </a:rPr>
              <a:t>主链路不变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9DB0F4-2185-435E-B73C-7529DD0C2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1371600"/>
            <a:ext cx="3429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A9B4C5"/>
                </a:solidFill>
              </a:defRPr>
            </a:pPr>
            <a:r>
              <a:rPr sz="2550" b="1">
                <a:solidFill>
                  <a:srgbClr val="A9B4C5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304DB1-9CE9-4B77-BDE5-89E6A9859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1371600"/>
            <a:ext cx="704850" cy="704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874CB"/>
          </a:solidFill>
          <a:ln xmlns:a="http://schemas.openxmlformats.org/drawingml/2006/main" w="0">
            <a:solidFill>
              <a:srgbClr val="4874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FC86CF-EDE2-45F1-9C2B-7215A7F49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1371600"/>
            <a:ext cx="7048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F127E1-3F7F-48B2-AE90-CAA9D52F2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171700"/>
            <a:ext cx="16954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3"/>
                </a:solidFill>
              </a:defRPr>
            </a:pPr>
            <a:r>
              <a:rPr sz="1500" b="1">
                <a:solidFill>
                  <a:srgbClr val="1F2933"/>
                </a:solidFill>
              </a:rPr>
              <a:t>实例记录单独建模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2962AF-91AF-422C-98B9-BB75E735B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371600"/>
            <a:ext cx="3429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A9B4C5"/>
                </a:solidFill>
              </a:defRPr>
            </a:pPr>
            <a:r>
              <a:rPr sz="2550" b="1">
                <a:solidFill>
                  <a:srgbClr val="A9B4C5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6DCCF9-03EB-4275-9C20-BA6BE972B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1371600"/>
            <a:ext cx="704850" cy="704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822F"/>
          </a:solidFill>
          <a:ln xmlns:a="http://schemas.openxmlformats.org/drawingml/2006/main" w="0">
            <a:solidFill>
              <a:srgbClr val="EE822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447CBF-20E7-40D3-B8C7-2994DC36A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1371600"/>
            <a:ext cx="7048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4B746F-281F-444C-AC95-92028E7E6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171700"/>
            <a:ext cx="16954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3"/>
                </a:solidFill>
              </a:defRPr>
            </a:pPr>
            <a:r>
              <a:rPr sz="1500" b="1">
                <a:solidFill>
                  <a:srgbClr val="1F2933"/>
                </a:solidFill>
              </a:rPr>
              <a:t>实测与设计参数分开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6D0DB7-359E-489A-9591-FD8D1D09F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371600"/>
            <a:ext cx="3429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A9B4C5"/>
                </a:solidFill>
              </a:defRPr>
            </a:pPr>
            <a:r>
              <a:rPr sz="2550" b="1">
                <a:solidFill>
                  <a:srgbClr val="A9B4C5"/>
                </a:solidFill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290BCF-204E-4DF7-B6DF-ECFB507FF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371600"/>
            <a:ext cx="704850" cy="704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5BD42"/>
          </a:solidFill>
          <a:ln xmlns:a="http://schemas.openxmlformats.org/drawingml/2006/main" w="0">
            <a:solidFill>
              <a:srgbClr val="75BD4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499111-A2FD-49AA-8A24-F047A0611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371600"/>
            <a:ext cx="7048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11DA8A-F05C-430C-9DF5-F0C7780A9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171700"/>
            <a:ext cx="16954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3"/>
                </a:solidFill>
              </a:defRPr>
            </a:pPr>
            <a:r>
              <a:rPr sz="1500" b="1">
                <a:solidFill>
                  <a:srgbClr val="1F2933"/>
                </a:solidFill>
              </a:rPr>
              <a:t>曲线对象化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68E0F0-656A-4BEC-BA06-05F8DFC95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371600"/>
            <a:ext cx="3429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A9B4C5"/>
                </a:solidFill>
              </a:defRPr>
            </a:pPr>
            <a:r>
              <a:rPr sz="2550" b="1">
                <a:solidFill>
                  <a:srgbClr val="A9B4C5"/>
                </a:solidFill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18456A2-CA0F-42C6-BF82-3C2589DCB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371600"/>
            <a:ext cx="704850" cy="704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2409A"/>
          </a:solidFill>
          <a:ln xmlns:a="http://schemas.openxmlformats.org/drawingml/2006/main" w="0">
            <a:solidFill>
              <a:srgbClr val="02409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3544C5D-9F46-4D37-8BAC-666B8EDC7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371600"/>
            <a:ext cx="7048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9B22018-ED9E-495F-9D71-3200E654A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171700"/>
            <a:ext cx="16954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3"/>
                </a:solidFill>
              </a:defRPr>
            </a:pPr>
            <a:r>
              <a:rPr sz="1500" b="1">
                <a:solidFill>
                  <a:srgbClr val="1F2933"/>
                </a:solidFill>
              </a:rPr>
              <a:t>判定保守建模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EE5E30E-7FCF-470E-99C1-CF98F453E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1371600"/>
            <a:ext cx="3429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A9B4C5"/>
                </a:solidFill>
              </a:defRPr>
            </a:pPr>
            <a:r>
              <a:rPr sz="2550" b="1">
                <a:solidFill>
                  <a:srgbClr val="A9B4C5"/>
                </a:solidFill>
              </a:rP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E25E492-4C4A-4232-87EB-6E4D601E7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1371600"/>
            <a:ext cx="704850" cy="704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874CB"/>
          </a:solidFill>
          <a:ln xmlns:a="http://schemas.openxmlformats.org/drawingml/2006/main" w="0">
            <a:solidFill>
              <a:srgbClr val="4874C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483130E-D554-484E-AAE8-A818D3FA1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1371600"/>
            <a:ext cx="7048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6FAC412-B75D-4271-8DFD-331B8F4E7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171700"/>
            <a:ext cx="16954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3"/>
                </a:solidFill>
              </a:defRPr>
            </a:pPr>
            <a:r>
              <a:rPr sz="1500" b="1">
                <a:solidFill>
                  <a:srgbClr val="1F2933"/>
                </a:solidFill>
              </a:rPr>
              <a:t>顶层稳定扩展补专用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3869433-DAD0-4004-A1DF-BAB9B93AF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743200"/>
            <a:ext cx="17526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409A"/>
          </a:solidFill>
          <a:ln xmlns:a="http://schemas.openxmlformats.org/drawingml/2006/main" w="0">
            <a:solidFill>
              <a:srgbClr val="02409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AAFE25B-FA0F-4F69-81DD-22E688436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0"/>
            <a:ext cx="2857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原则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D5BF1D1-9311-4A0A-9807-98FB908B5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857500"/>
            <a:ext cx="11620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具体含义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88A8D27-85FE-49C7-89FE-69EE3C8DC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276600"/>
            <a:ext cx="17526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822F"/>
          </a:solidFill>
          <a:ln xmlns:a="http://schemas.openxmlformats.org/drawingml/2006/main" w="0">
            <a:solidFill>
              <a:srgbClr val="EE822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D73A5CF-B0D1-4EAB-AB1E-4C4700F09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29000"/>
            <a:ext cx="28575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F2933"/>
                </a:solidFill>
              </a:defRPr>
            </a:pPr>
            <a:r>
              <a:rPr sz="1575" b="1">
                <a:solidFill>
                  <a:srgbClr val="1F2933"/>
                </a:solidFill>
              </a:rPr>
              <a:t>主链路不变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65782C1-E28B-4CA9-B483-F936C2FE1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29000"/>
            <a:ext cx="116205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F6B7A"/>
                </a:solidFill>
              </a:defRPr>
            </a:pPr>
            <a:r>
              <a:rPr sz="1575" b="0">
                <a:solidFill>
                  <a:srgbClr val="5F6B7A"/>
                </a:solidFill>
              </a:rPr>
              <a:t>继续沿用“连接点-工位-设备-程序-零件-材料-铆钉-铆模-参数-质量结果-缺陷-根因-变更”的结构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94D33DB-5F76-41A3-8F82-FB585A754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981450"/>
            <a:ext cx="1752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8"/>
          </a:solidFill>
          <a:ln xmlns:a="http://schemas.openxmlformats.org/drawingml/2006/main" w="0">
            <a:solidFill>
              <a:srgbClr val="D9DEE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16F3E90-FEFE-45FF-BE87-F73C76CF4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0"/>
            <a:ext cx="28575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F2933"/>
                </a:solidFill>
              </a:defRPr>
            </a:pPr>
            <a:r>
              <a:rPr sz="1575" b="1">
                <a:solidFill>
                  <a:srgbClr val="1F2933"/>
                </a:solidFill>
              </a:rPr>
              <a:t>记录层独立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BB5CEE6-F1D4-4250-A552-257FD03E2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095750"/>
            <a:ext cx="116205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F6B7A"/>
                </a:solidFill>
              </a:defRPr>
            </a:pPr>
            <a:r>
              <a:rPr sz="1575" b="0">
                <a:solidFill>
                  <a:srgbClr val="5F6B7A"/>
                </a:solidFill>
              </a:rPr>
              <a:t>id、biz_id、采集时间、消费时间、创建时间、更新时间和删除标记统一放入 SPR过程记录类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902CEB9-E823-4353-8C4E-399FB4A40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667250"/>
            <a:ext cx="1752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8"/>
          </a:solidFill>
          <a:ln xmlns:a="http://schemas.openxmlformats.org/drawingml/2006/main" w="0">
            <a:solidFill>
              <a:srgbClr val="D9DEE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80DF5E0-CF70-4EE0-A8F1-AFCAC1AF1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781550"/>
            <a:ext cx="28575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F2933"/>
                </a:solidFill>
              </a:defRPr>
            </a:pPr>
            <a:r>
              <a:rPr sz="1575" b="1">
                <a:solidFill>
                  <a:srgbClr val="1F2933"/>
                </a:solidFill>
              </a:rPr>
              <a:t>在线数据分层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8E97D32-5E78-44EE-A6AA-955B65571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781550"/>
            <a:ext cx="116205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F6B7A"/>
                </a:solidFill>
              </a:defRPr>
            </a:pPr>
            <a:r>
              <a:rPr sz="1575" b="0">
                <a:solidFill>
                  <a:srgbClr val="5F6B7A"/>
                </a:solidFill>
              </a:rPr>
              <a:t>设计参数与实际力、实际行程等在线实测参数分开表达，避免污染主数据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F06211D-63B0-44A9-8481-414692C4A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334000"/>
            <a:ext cx="1752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8"/>
          </a:solidFill>
          <a:ln xmlns:a="http://schemas.openxmlformats.org/drawingml/2006/main" w="0">
            <a:solidFill>
              <a:srgbClr val="D9DEE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C931813-97A8-4986-9736-DD7080425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448300"/>
            <a:ext cx="28575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F2933"/>
                </a:solidFill>
              </a:defRPr>
            </a:pPr>
            <a:r>
              <a:rPr sz="1575" b="1">
                <a:solidFill>
                  <a:srgbClr val="1F2933"/>
                </a:solidFill>
              </a:rPr>
              <a:t>未知编码保守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11E7E10-F04C-400B-AE3F-C0F1F3718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448300"/>
            <a:ext cx="116205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F6B7A"/>
                </a:solidFill>
              </a:defRPr>
            </a:pPr>
            <a:r>
              <a:rPr sz="1575" b="0">
                <a:solidFill>
                  <a:srgbClr val="5F6B7A"/>
                </a:solidFill>
              </a:rPr>
              <a:t>pre、error_rate、RRC、PECV2 等暂保留编码和原值，等待业务含义确认后再强语义化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BE36CB5-3C34-4B1F-87EF-10CC6CF7B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019800"/>
            <a:ext cx="1752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8"/>
          </a:solidFill>
          <a:ln xmlns:a="http://schemas.openxmlformats.org/drawingml/2006/main" w="0">
            <a:solidFill>
              <a:srgbClr val="D9DEE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2E2C6A6-F4A0-423D-A8C1-9C43EE773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9734550"/>
            <a:ext cx="168592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8B95A1"/>
                </a:solidFill>
              </a:defRPr>
            </a:pPr>
            <a:r>
              <a:rPr sz="1050" b="0">
                <a:solidFill>
                  <a:srgbClr val="8B95A1"/>
                </a:solidFill>
              </a:rPr>
              <a:t>SPR 本体更新导师汇报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F3E7820-4DC3-4004-876E-9530225DB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0" y="9734550"/>
            <a:ext cx="666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2409A"/>
                </a:solidFill>
              </a:defRPr>
            </a:pPr>
            <a:r>
              <a:rPr sz="1125" b="1">
                <a:solidFill>
                  <a:srgbClr val="02409A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91892333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header-blue">
            <a:extLst xmlns:a="http://schemas.openxmlformats.org/drawingml/2006/main">
              <a:ext uri="{FF2B5EF4-FFF2-40B4-BE49-F238E27FC236}">
                <a16:creationId xmlns:a16="http://schemas.microsoft.com/office/drawing/2014/main" id="{7670BC56-7A5C-408B-B0D6-9B2171E7D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28600"/>
            <a:ext cx="17526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409A"/>
          </a:solidFill>
          <a:ln xmlns:a="http://schemas.openxmlformats.org/drawingml/2006/main" w="0">
            <a:solidFill>
              <a:srgbClr val="02409A"/>
            </a:solidFill>
            <a:prstDash val="solid"/>
          </a:ln>
        </p:spPr>
      </p:sp>
      <p:sp>
        <p:nvSpPr>
          <p:cNvPr id="2" name="header-accent">
            <a:extLst xmlns:a="http://schemas.openxmlformats.org/drawingml/2006/main">
              <a:ext uri="{FF2B5EF4-FFF2-40B4-BE49-F238E27FC236}">
                <a16:creationId xmlns:a16="http://schemas.microsoft.com/office/drawing/2014/main" id="{FB3B5ADF-F5EB-4A31-A589-CE9A6E0BF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28600"/>
            <a:ext cx="14097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822F"/>
          </a:solidFill>
          <a:ln xmlns:a="http://schemas.openxmlformats.org/drawingml/2006/main" w="0">
            <a:solidFill>
              <a:srgbClr val="EE822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403058-0B92-42E9-9C1E-5BB4CDD59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1000"/>
            <a:ext cx="142113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四、核心主链路保持不变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96A7D2-09E4-45AF-A229-F11B562E2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06650" y="381000"/>
            <a:ext cx="2476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DCE8FF"/>
                </a:solidFill>
              </a:defRPr>
            </a:pPr>
            <a:r>
              <a:rPr sz="1275" b="0">
                <a:solidFill>
                  <a:srgbClr val="DCE8FF"/>
                </a:solidFill>
              </a:rPr>
              <a:t>结构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619B5D-844A-43E3-8D4C-0F5906770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371600"/>
            <a:ext cx="133159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F2933"/>
                </a:solidFill>
              </a:defRPr>
            </a:pPr>
            <a:r>
              <a:rPr sz="2250" b="1">
                <a:solidFill>
                  <a:srgbClr val="1F2933"/>
                </a:solidFill>
              </a:rPr>
              <a:t>原 SPR 本体中已经稳定的工艺链路继续保留，本次新增对象通过过程记录层接入，而不是替换既有结构。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C75418-4CD7-468A-BC9E-66711706F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171700"/>
            <a:ext cx="55245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2409A"/>
          </a:solidFill>
          <a:ln xmlns:a="http://schemas.openxmlformats.org/drawingml/2006/main" w="0">
            <a:solidFill>
              <a:srgbClr val="02409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D2071C-3F69-48E8-8FF7-E7C4B20B8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152650"/>
            <a:ext cx="5524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5CA5D1-167F-4EA5-928E-7031D34C8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800350"/>
            <a:ext cx="14287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F2933"/>
                </a:solidFill>
              </a:defRPr>
            </a:pPr>
            <a:r>
              <a:rPr sz="1275" b="1">
                <a:solidFill>
                  <a:srgbClr val="1F2933"/>
                </a:solidFill>
              </a:rPr>
              <a:t>产线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9D2621-99B4-499E-84EA-0CCC10901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2152650"/>
            <a:ext cx="2286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A9B4C5"/>
                </a:solidFill>
              </a:defRPr>
            </a:pPr>
            <a:r>
              <a:rPr sz="1950" b="1">
                <a:solidFill>
                  <a:srgbClr val="A9B4C5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F23BF3-FCC2-4F54-9870-44F208259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171700"/>
            <a:ext cx="55245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874CB"/>
          </a:solidFill>
          <a:ln xmlns:a="http://schemas.openxmlformats.org/drawingml/2006/main" w="0">
            <a:solidFill>
              <a:srgbClr val="4874C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57A659-C098-4698-9196-24B4F0E05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152650"/>
            <a:ext cx="5524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256FC8-E5B2-41F3-9C3C-BEE60ADFD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800350"/>
            <a:ext cx="14287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F2933"/>
                </a:solidFill>
              </a:defRPr>
            </a:pPr>
            <a:r>
              <a:rPr sz="1275" b="1">
                <a:solidFill>
                  <a:srgbClr val="1F2933"/>
                </a:solidFill>
              </a:rPr>
              <a:t>工位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BEC047-816E-4E4C-8723-631DB720A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152650"/>
            <a:ext cx="2286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A9B4C5"/>
                </a:solidFill>
              </a:defRPr>
            </a:pPr>
            <a:r>
              <a:rPr sz="1950" b="1">
                <a:solidFill>
                  <a:srgbClr val="A9B4C5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E7E593-52D9-4DC3-9ADE-8CE5E39BC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171700"/>
            <a:ext cx="55245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0C0B4"/>
          </a:solidFill>
          <a:ln xmlns:a="http://schemas.openxmlformats.org/drawingml/2006/main" w="0">
            <a:solidFill>
              <a:srgbClr val="30C0B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AC116B-B6A1-49E1-A500-A4435E955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152650"/>
            <a:ext cx="5524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CF6996-E716-42C1-96F1-4C030AA64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800350"/>
            <a:ext cx="14287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F2933"/>
                </a:solidFill>
              </a:defRPr>
            </a:pPr>
            <a:r>
              <a:rPr sz="1275" b="1">
                <a:solidFill>
                  <a:srgbClr val="1F2933"/>
                </a:solidFill>
              </a:rPr>
              <a:t>设备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31A799-D902-45BC-BA56-914B90AFD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152650"/>
            <a:ext cx="2286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A9B4C5"/>
                </a:solidFill>
              </a:defRPr>
            </a:pPr>
            <a:r>
              <a:rPr sz="1950" b="1">
                <a:solidFill>
                  <a:srgbClr val="A9B4C5"/>
                </a:solidFill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889516-8A7E-42AA-AC38-C30F27A3B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171700"/>
            <a:ext cx="55245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5BD42"/>
          </a:solidFill>
          <a:ln xmlns:a="http://schemas.openxmlformats.org/drawingml/2006/main" w="0">
            <a:solidFill>
              <a:srgbClr val="75BD4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10366A-DD0B-4F9B-B8A8-FF7344B33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152650"/>
            <a:ext cx="5524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0CD0A66-94ED-4D41-AA5F-E48FD7E3B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800350"/>
            <a:ext cx="14287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F2933"/>
                </a:solidFill>
              </a:defRPr>
            </a:pPr>
            <a:r>
              <a:rPr sz="1275" b="1">
                <a:solidFill>
                  <a:srgbClr val="1F2933"/>
                </a:solidFill>
              </a:rPr>
              <a:t>程序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05833E7-9DB2-43DE-82F7-F43670885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152650"/>
            <a:ext cx="2286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A9B4C5"/>
                </a:solidFill>
              </a:defRPr>
            </a:pPr>
            <a:r>
              <a:rPr sz="1950" b="1">
                <a:solidFill>
                  <a:srgbClr val="A9B4C5"/>
                </a:solidFill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9C00E19-D6E4-495D-BE5D-5C8AE58E5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171700"/>
            <a:ext cx="55245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822F"/>
          </a:solidFill>
          <a:ln xmlns:a="http://schemas.openxmlformats.org/drawingml/2006/main" w="0">
            <a:solidFill>
              <a:srgbClr val="EE822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91DD25B-7F85-4BEA-ABD6-E66810387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152650"/>
            <a:ext cx="5524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0CABAEA-2C9D-499A-82E7-6172950E6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800350"/>
            <a:ext cx="14287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F2933"/>
                </a:solidFill>
              </a:defRPr>
            </a:pPr>
            <a:r>
              <a:rPr sz="1275" b="1">
                <a:solidFill>
                  <a:srgbClr val="1F2933"/>
                </a:solidFill>
              </a:rPr>
              <a:t>SPR连接点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25C0568-5579-4BEE-945F-5C1E27711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152650"/>
            <a:ext cx="2286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A9B4C5"/>
                </a:solidFill>
              </a:defRPr>
            </a:pPr>
            <a:r>
              <a:rPr sz="1950" b="1">
                <a:solidFill>
                  <a:srgbClr val="A9B4C5"/>
                </a:solidFill>
              </a:rPr>
              <a:t>→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3529263-2C83-4A6A-9927-12EA48CD1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171700"/>
            <a:ext cx="55245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BA02"/>
          </a:solidFill>
          <a:ln xmlns:a="http://schemas.openxmlformats.org/drawingml/2006/main" w="0">
            <a:solidFill>
              <a:srgbClr val="F2BA0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CE290AB-AC50-4BC3-A690-F98C79632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152650"/>
            <a:ext cx="5524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68BF5CB-2C04-4C19-A3A9-1A57BE192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00350"/>
            <a:ext cx="14287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F2933"/>
                </a:solidFill>
              </a:defRPr>
            </a:pPr>
            <a:r>
              <a:rPr sz="1275" b="1">
                <a:solidFill>
                  <a:srgbClr val="1F2933"/>
                </a:solidFill>
              </a:rPr>
              <a:t>工艺参数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212DC95-2806-4269-8B3A-630CE536C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2152650"/>
            <a:ext cx="2286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A9B4C5"/>
                </a:solidFill>
              </a:defRPr>
            </a:pPr>
            <a:r>
              <a:rPr sz="1950" b="1">
                <a:solidFill>
                  <a:srgbClr val="A9B4C5"/>
                </a:solidFill>
              </a:rPr>
              <a:t>→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03161C0-0F35-4F95-9871-5DDF88A85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2171700"/>
            <a:ext cx="55245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54C5E"/>
          </a:solidFill>
          <a:ln xmlns:a="http://schemas.openxmlformats.org/drawingml/2006/main" w="0">
            <a:solidFill>
              <a:srgbClr val="E54C5E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D7B3F87-77F8-4F80-AC8B-AE2E5FCC8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2152650"/>
            <a:ext cx="5524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C3D4E0B-014D-4B11-BF0F-3B299ABA7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2800350"/>
            <a:ext cx="14287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F2933"/>
                </a:solidFill>
              </a:defRPr>
            </a:pPr>
            <a:r>
              <a:rPr sz="1275" b="1">
                <a:solidFill>
                  <a:srgbClr val="1F2933"/>
                </a:solidFill>
              </a:rPr>
              <a:t>质量结果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A9E2A5A-1336-4A86-8D4F-5AE54EFD3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9150" y="2152650"/>
            <a:ext cx="2286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A9B4C5"/>
                </a:solidFill>
              </a:defRPr>
            </a:pPr>
            <a:r>
              <a:rPr sz="1950" b="1">
                <a:solidFill>
                  <a:srgbClr val="A9B4C5"/>
                </a:solidFill>
              </a:rPr>
              <a:t>→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4536479-7A52-4E59-A1E9-EAD83706B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34900" y="2171700"/>
            <a:ext cx="55245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2409A"/>
          </a:solidFill>
          <a:ln xmlns:a="http://schemas.openxmlformats.org/drawingml/2006/main" w="0">
            <a:solidFill>
              <a:srgbClr val="02409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A135D3A-929C-4966-B3CD-B01E54273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15850" y="2152650"/>
            <a:ext cx="5524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2CAD78F-95FD-4636-9E97-4F011B15F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15850" y="2800350"/>
            <a:ext cx="14287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F2933"/>
                </a:solidFill>
              </a:defRPr>
            </a:pPr>
            <a:r>
              <a:rPr sz="1275" b="1">
                <a:solidFill>
                  <a:srgbClr val="1F2933"/>
                </a:solidFill>
              </a:rPr>
              <a:t>缺陷/根因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66A383C-4811-4251-BEF3-6D729938F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200400"/>
            <a:ext cx="43815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0">
            <a:solidFill>
              <a:srgbClr val="EAF1F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1D657CE-348E-4FFE-83DA-F9C1ADB12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200400"/>
            <a:ext cx="762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409A"/>
          </a:solidFill>
          <a:ln xmlns:a="http://schemas.openxmlformats.org/drawingml/2006/main" w="0">
            <a:solidFill>
              <a:srgbClr val="02409A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4494CD8-33AF-4127-8E2B-7D206ADC7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3750"/>
            <a:ext cx="4000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2409A"/>
                </a:solidFill>
              </a:defRPr>
            </a:pPr>
            <a:r>
              <a:rPr sz="1725" b="1">
                <a:solidFill>
                  <a:srgbClr val="02409A"/>
                </a:solidFill>
              </a:rPr>
              <a:t>保留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BF90597-44B2-41DE-AEE6-2118C5A95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0"/>
            <a:ext cx="4000500" cy="962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F2933"/>
                </a:solidFill>
              </a:defRPr>
            </a:pPr>
            <a:r>
              <a:rPr sz="1350" b="0">
                <a:solidFill>
                  <a:srgbClr val="1F2933"/>
                </a:solidFill>
              </a:rPr>
              <a:t>产线、工位、设备、程序、零件、材料、连接点、铆钉、铆模。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524D6BC-AFF5-4719-B51E-6BADFD7D0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200400"/>
            <a:ext cx="49530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E5"/>
          </a:solidFill>
          <a:ln xmlns:a="http://schemas.openxmlformats.org/drawingml/2006/main" w="0">
            <a:solidFill>
              <a:srgbClr val="FFF2E5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7A6AE26-B10C-4AF9-82E2-184659CEA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200400"/>
            <a:ext cx="762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822F"/>
          </a:solidFill>
          <a:ln xmlns:a="http://schemas.openxmlformats.org/drawingml/2006/main" w="0">
            <a:solidFill>
              <a:srgbClr val="EE822F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4205891-8E9E-45DF-8142-5C3383769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333750"/>
            <a:ext cx="4572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EE822F"/>
                </a:solidFill>
              </a:defRPr>
            </a:pPr>
            <a:r>
              <a:rPr sz="1725" b="1">
                <a:solidFill>
                  <a:srgbClr val="EE822F"/>
                </a:solidFill>
              </a:rPr>
              <a:t>补属性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255C286-D8FC-4714-A3F3-FF1052FDC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619500"/>
            <a:ext cx="4572000" cy="962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F2933"/>
                </a:solidFill>
              </a:defRPr>
            </a:pPr>
            <a:r>
              <a:rPr sz="1350" b="0">
                <a:solidFill>
                  <a:srgbClr val="1F2933"/>
                </a:solidFill>
              </a:rPr>
              <a:t>程序号、设备名称、铆点编号、板厚、铆钉长度、实测力/行程。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B04AF70-BAC4-40A0-BB21-7F83571EF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3200400"/>
            <a:ext cx="49530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8E9"/>
          </a:solidFill>
          <a:ln xmlns:a="http://schemas.openxmlformats.org/drawingml/2006/main" w="0">
            <a:solidFill>
              <a:srgbClr val="EEF8E9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05C3690-912F-425B-BDB2-9B64DFB93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3200400"/>
            <a:ext cx="762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BD42"/>
          </a:solidFill>
          <a:ln xmlns:a="http://schemas.openxmlformats.org/drawingml/2006/main" w="0">
            <a:solidFill>
              <a:srgbClr val="75BD42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50B0B18-7026-4573-AED0-736B1E6F7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3333750"/>
            <a:ext cx="4572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75BD42"/>
                </a:solidFill>
              </a:defRPr>
            </a:pPr>
            <a:r>
              <a:rPr sz="1725" b="1">
                <a:solidFill>
                  <a:srgbClr val="75BD42"/>
                </a:solidFill>
              </a:rPr>
              <a:t>新增记录入口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FC38447-9786-4D93-BCD2-29B8EB063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3619500"/>
            <a:ext cx="4572000" cy="962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F2933"/>
                </a:solidFill>
              </a:defRPr>
            </a:pPr>
            <a:r>
              <a:rPr sz="1350" b="0">
                <a:solidFill>
                  <a:srgbClr val="1F2933"/>
                </a:solidFill>
              </a:rPr>
              <a:t>SPR过程记录类挂接设备、程序、产线、连接点和在线参数。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7250CB1-A630-45C3-916F-69070FC68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9734550"/>
            <a:ext cx="168592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8B95A1"/>
                </a:solidFill>
              </a:defRPr>
            </a:pPr>
            <a:r>
              <a:rPr sz="1050" b="0">
                <a:solidFill>
                  <a:srgbClr val="8B95A1"/>
                </a:solidFill>
              </a:rPr>
              <a:t>SPR 本体更新导师汇报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709C317-9C24-4D49-95D8-6D0C03A72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0" y="9734550"/>
            <a:ext cx="666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2409A"/>
                </a:solidFill>
              </a:defRPr>
            </a:pPr>
            <a:r>
              <a:rPr sz="1125" b="1">
                <a:solidFill>
                  <a:srgbClr val="02409A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28808755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header-blue">
            <a:extLst xmlns:a="http://schemas.openxmlformats.org/drawingml/2006/main">
              <a:ext uri="{FF2B5EF4-FFF2-40B4-BE49-F238E27FC236}">
                <a16:creationId xmlns:a16="http://schemas.microsoft.com/office/drawing/2014/main" id="{4E540DD9-8BB1-43D0-A188-747DA91A2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28600"/>
            <a:ext cx="17526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409A"/>
          </a:solidFill>
          <a:ln xmlns:a="http://schemas.openxmlformats.org/drawingml/2006/main" w="0">
            <a:solidFill>
              <a:srgbClr val="02409A"/>
            </a:solidFill>
            <a:prstDash val="solid"/>
          </a:ln>
        </p:spPr>
      </p:sp>
      <p:sp>
        <p:nvSpPr>
          <p:cNvPr id="2" name="header-accent">
            <a:extLst xmlns:a="http://schemas.openxmlformats.org/drawingml/2006/main">
              <a:ext uri="{FF2B5EF4-FFF2-40B4-BE49-F238E27FC236}">
                <a16:creationId xmlns:a16="http://schemas.microsoft.com/office/drawing/2014/main" id="{81F43E05-816D-4826-B9FB-1545509C2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28600"/>
            <a:ext cx="14097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822F"/>
          </a:solidFill>
          <a:ln xmlns:a="http://schemas.openxmlformats.org/drawingml/2006/main" w="0">
            <a:solidFill>
              <a:srgbClr val="EE822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5EDD18-9D34-4B96-8D1C-DB96F0B65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1000"/>
            <a:ext cx="142113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五、新增类总体清单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53E4B3-58F6-429B-967C-43A5DFDAF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06650" y="381000"/>
            <a:ext cx="2476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DCE8FF"/>
                </a:solidFill>
              </a:defRPr>
            </a:pPr>
            <a:r>
              <a:rPr sz="1275" b="0">
                <a:solidFill>
                  <a:srgbClr val="DCE8FF"/>
                </a:solidFill>
              </a:rPr>
              <a:t>新增类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DF1D15-E680-4B85-BDB9-185B16F94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371600"/>
            <a:ext cx="17526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409A"/>
          </a:solidFill>
          <a:ln xmlns:a="http://schemas.openxmlformats.org/drawingml/2006/main" w="0">
            <a:solidFill>
              <a:srgbClr val="02409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53C017-85A8-4361-8D06-287E94023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66850"/>
            <a:ext cx="2095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类别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E62C57-5C0B-42C4-B920-030F8F052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466850"/>
            <a:ext cx="4953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新增类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B42590-6C34-4E48-99F6-C0CA7C6FC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466850"/>
            <a:ext cx="7239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新增原因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36E1CD-309F-4C8E-9684-FFE555C91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905000"/>
            <a:ext cx="17526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822F"/>
          </a:solidFill>
          <a:ln xmlns:a="http://schemas.openxmlformats.org/drawingml/2006/main" w="0">
            <a:solidFill>
              <a:srgbClr val="EE822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125247-7FA1-4D6E-A629-682F5573A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38350"/>
            <a:ext cx="20955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3"/>
                </a:solidFill>
              </a:defRPr>
            </a:pPr>
            <a:r>
              <a:rPr sz="1500" b="1">
                <a:solidFill>
                  <a:srgbClr val="1F2933"/>
                </a:solidFill>
              </a:rPr>
              <a:t>记录承载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AE7EF1-AB07-4AA9-8362-559D5334C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038350"/>
            <a:ext cx="495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F6B7A"/>
                </a:solidFill>
              </a:defRPr>
            </a:pPr>
            <a:r>
              <a:rPr sz="1500" b="0">
                <a:solidFill>
                  <a:srgbClr val="5F6B7A"/>
                </a:solidFill>
              </a:rPr>
              <a:t>SPR过程记录类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C75566-3016-4D18-9C5C-6A93B09C9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038350"/>
            <a:ext cx="7239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F6B7A"/>
                </a:solidFill>
              </a:defRPr>
            </a:pPr>
            <a:r>
              <a:rPr sz="1500" b="0">
                <a:solidFill>
                  <a:srgbClr val="5F6B7A"/>
                </a:solidFill>
              </a:rPr>
              <a:t>数据库每一行是一次在线采集或铆接过程记录，需要统一承载元数据和过程上下文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74110C-2896-4DFB-9CA5-0740D1CCC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667000"/>
            <a:ext cx="1752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8"/>
          </a:solidFill>
          <a:ln xmlns:a="http://schemas.openxmlformats.org/drawingml/2006/main" w="0">
            <a:solidFill>
              <a:srgbClr val="D9DE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FF040B-5730-486B-9E11-1BDFBA273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781300"/>
            <a:ext cx="20955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3"/>
                </a:solidFill>
              </a:defRPr>
            </a:pPr>
            <a:r>
              <a:rPr sz="1500" b="1">
                <a:solidFill>
                  <a:srgbClr val="1F2933"/>
                </a:solidFill>
              </a:rPr>
              <a:t>曲线承载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A8DC7A-7E90-4837-AA75-65500DBBC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781300"/>
            <a:ext cx="495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F6B7A"/>
                </a:solidFill>
              </a:defRPr>
            </a:pPr>
            <a:r>
              <a:rPr sz="1500" b="0">
                <a:solidFill>
                  <a:srgbClr val="5F6B7A"/>
                </a:solidFill>
              </a:rPr>
              <a:t>SPR曲线数据类、原始曲线类、计算后曲线类、铆接曲线类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77B5B0-70C9-4284-99A7-2D912B06C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781300"/>
            <a:ext cx="7239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F6B7A"/>
                </a:solidFill>
              </a:defRPr>
            </a:pPr>
            <a:r>
              <a:rPr sz="1500" b="0">
                <a:solidFill>
                  <a:srgbClr val="5F6B7A"/>
                </a:solidFill>
              </a:rPr>
              <a:t>original_data、calculate_data、铆接曲线等长序列需要对象化，支持追溯与模型调用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04EAB1-61A5-4BBC-8C8F-07079F27D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429000"/>
            <a:ext cx="1752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8"/>
          </a:solidFill>
          <a:ln xmlns:a="http://schemas.openxmlformats.org/drawingml/2006/main" w="0">
            <a:solidFill>
              <a:srgbClr val="D9DE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43727E-C84E-4D6F-9090-40DA52A26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43300"/>
            <a:ext cx="20955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3"/>
                </a:solidFill>
              </a:defRPr>
            </a:pPr>
            <a:r>
              <a:rPr sz="1500" b="1">
                <a:solidFill>
                  <a:srgbClr val="1F2933"/>
                </a:solidFill>
              </a:rPr>
              <a:t>判定窗口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802E4DB-8ACF-4482-8F11-B287A7B64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543300"/>
            <a:ext cx="495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F6B7A"/>
                </a:solidFill>
              </a:defRPr>
            </a:pPr>
            <a:r>
              <a:rPr sz="1500" b="0">
                <a:solidFill>
                  <a:srgbClr val="5F6B7A"/>
                </a:solidFill>
              </a:rPr>
              <a:t>包络线类、曲线特征类、包络线公差类、末端力公差类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10E54D8-6924-4620-B38F-FC8AEA5C1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543300"/>
            <a:ext cx="7239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F6B7A"/>
                </a:solidFill>
              </a:defRPr>
            </a:pPr>
            <a:r>
              <a:rPr sz="1500" b="0">
                <a:solidFill>
                  <a:srgbClr val="5F6B7A"/>
                </a:solidFill>
              </a:rPr>
              <a:t>包络线、最大力、分辨率、公差阈值是质量判定的重要依据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FB7FE39-7ECD-4C74-A6DC-40C9A752C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171950"/>
            <a:ext cx="1752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8"/>
          </a:solidFill>
          <a:ln xmlns:a="http://schemas.openxmlformats.org/drawingml/2006/main" w="0">
            <a:solidFill>
              <a:srgbClr val="D9DEE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43B7AED-D39C-4C5B-B481-E6AD5A459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0"/>
            <a:ext cx="20955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3"/>
                </a:solidFill>
              </a:defRPr>
            </a:pPr>
            <a:r>
              <a:rPr sz="1500" b="1">
                <a:solidFill>
                  <a:srgbClr val="1F2933"/>
                </a:solidFill>
              </a:rPr>
              <a:t>控制诊断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38DAD6E-0F48-42BB-85B8-E5D7D75F0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286250"/>
            <a:ext cx="495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F6B7A"/>
                </a:solidFill>
              </a:defRPr>
            </a:pPr>
            <a:r>
              <a:rPr sz="1500" b="0">
                <a:solidFill>
                  <a:srgbClr val="5F6B7A"/>
                </a:solidFill>
              </a:rPr>
              <a:t>RRC参数类、PECV2状态类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A1184D2-3560-4260-9A85-08617D295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286250"/>
            <a:ext cx="7239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F6B7A"/>
                </a:solidFill>
              </a:defRPr>
            </a:pPr>
            <a:r>
              <a:rPr sz="1500" b="0">
                <a:solidFill>
                  <a:srgbClr val="5F6B7A"/>
                </a:solidFill>
              </a:rPr>
              <a:t>样例中存在控制/诊断状态字段，暂作为 SPR 专属扩展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8442D62-524E-4C90-B265-16595E7A1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933950"/>
            <a:ext cx="1752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8"/>
          </a:solidFill>
          <a:ln xmlns:a="http://schemas.openxmlformats.org/drawingml/2006/main" w="0">
            <a:solidFill>
              <a:srgbClr val="D9DEE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9A0E8E5-40EC-42CA-8B3A-8C7071BC3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048250"/>
            <a:ext cx="20955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3"/>
                </a:solidFill>
              </a:defRPr>
            </a:pPr>
            <a:r>
              <a:rPr sz="1500" b="1">
                <a:solidFill>
                  <a:srgbClr val="1F2933"/>
                </a:solidFill>
              </a:rPr>
              <a:t>算法输出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B0200EA-5B2B-4350-87CE-8ED76D981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048250"/>
            <a:ext cx="495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F6B7A"/>
                </a:solidFill>
              </a:defRPr>
            </a:pPr>
            <a:r>
              <a:rPr sz="1500" b="0">
                <a:solidFill>
                  <a:srgbClr val="5F6B7A"/>
                </a:solidFill>
              </a:rPr>
              <a:t>模型预测结果类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D956265-BA01-49FB-980C-47DFD22FD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048250"/>
            <a:ext cx="7239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F6B7A"/>
                </a:solidFill>
              </a:defRPr>
            </a:pPr>
            <a:r>
              <a:rPr sz="1500" b="0">
                <a:solidFill>
                  <a:srgbClr val="5F6B7A"/>
                </a:solidFill>
              </a:rPr>
              <a:t>pre、error_rate 需要保留为模型或算法输出，不直接等同合格/不合格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BF11AE0-444B-404A-8E7E-3BA9B89F3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676900"/>
            <a:ext cx="1752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8"/>
          </a:solidFill>
          <a:ln xmlns:a="http://schemas.openxmlformats.org/drawingml/2006/main" w="0">
            <a:solidFill>
              <a:srgbClr val="D9DEE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AE54A46-3EFD-4133-9DCD-3970F6A58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9734550"/>
            <a:ext cx="168592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8B95A1"/>
                </a:solidFill>
              </a:defRPr>
            </a:pPr>
            <a:r>
              <a:rPr sz="1050" b="0">
                <a:solidFill>
                  <a:srgbClr val="8B95A1"/>
                </a:solidFill>
              </a:rPr>
              <a:t>SPR 本体更新导师汇报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7287491-485C-45FB-A9C6-F5A49CC8D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0" y="9734550"/>
            <a:ext cx="666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2409A"/>
                </a:solidFill>
              </a:defRPr>
            </a:pPr>
            <a:r>
              <a:rPr sz="1125" b="1">
                <a:solidFill>
                  <a:srgbClr val="02409A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65131282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header-blue">
            <a:extLst xmlns:a="http://schemas.openxmlformats.org/drawingml/2006/main">
              <a:ext uri="{FF2B5EF4-FFF2-40B4-BE49-F238E27FC236}">
                <a16:creationId xmlns:a16="http://schemas.microsoft.com/office/drawing/2014/main" id="{A9806989-72D1-4DEE-968C-875D79CC8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28600"/>
            <a:ext cx="17526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409A"/>
          </a:solidFill>
          <a:ln xmlns:a="http://schemas.openxmlformats.org/drawingml/2006/main" w="0">
            <a:solidFill>
              <a:srgbClr val="02409A"/>
            </a:solidFill>
            <a:prstDash val="solid"/>
          </a:ln>
        </p:spPr>
      </p:sp>
      <p:sp>
        <p:nvSpPr>
          <p:cNvPr id="2" name="header-accent">
            <a:extLst xmlns:a="http://schemas.openxmlformats.org/drawingml/2006/main">
              <a:ext uri="{FF2B5EF4-FFF2-40B4-BE49-F238E27FC236}">
                <a16:creationId xmlns:a16="http://schemas.microsoft.com/office/drawing/2014/main" id="{8858258C-2945-41BC-9C0F-0C321D307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28600"/>
            <a:ext cx="14097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822F"/>
          </a:solidFill>
          <a:ln xmlns:a="http://schemas.openxmlformats.org/drawingml/2006/main" w="0">
            <a:solidFill>
              <a:srgbClr val="EE822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47A74C-C08B-42D7-A5A2-63F40A012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1000"/>
            <a:ext cx="142113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六、更新后的概念结构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22B23D-EA6C-49D1-93F6-D2BB92804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06650" y="381000"/>
            <a:ext cx="2476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DCE8FF"/>
                </a:solidFill>
              </a:defRPr>
            </a:pPr>
            <a:r>
              <a:rPr sz="1275" b="0">
                <a:solidFill>
                  <a:srgbClr val="DCE8FF"/>
                </a:solidFill>
              </a:rPr>
              <a:t>概念层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A65EDF-3CF6-40D2-9110-751FD7588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371600"/>
            <a:ext cx="4953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0">
            <a:solidFill>
              <a:srgbClr val="EAF1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043837-B0C4-4631-B340-014B52FFC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371600"/>
            <a:ext cx="762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409A"/>
          </a:solidFill>
          <a:ln xmlns:a="http://schemas.openxmlformats.org/drawingml/2006/main" w="0">
            <a:solidFill>
              <a:srgbClr val="02409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B58EA6-9A46-4B40-AF5C-8675989CF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24000"/>
            <a:ext cx="4572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2409A"/>
                </a:solidFill>
              </a:defRPr>
            </a:pPr>
            <a:r>
              <a:rPr sz="1725" b="1">
                <a:solidFill>
                  <a:srgbClr val="02409A"/>
                </a:solidFill>
              </a:rPr>
              <a:t>主链路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7A917A-14A4-41BB-A3AA-BDB3DC212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28800"/>
            <a:ext cx="4572000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F2933"/>
                </a:solidFill>
              </a:defRPr>
            </a:pPr>
            <a:r>
              <a:rPr sz="1350" b="0">
                <a:solidFill>
                  <a:srgbClr val="1F2933"/>
                </a:solidFill>
              </a:rPr>
              <a:t>产线、工位、设备、程序、SPR连接点、参数、质量结果继续作为骨架。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A09B19-46D9-4F90-B641-41FBC11E8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971800"/>
            <a:ext cx="49530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E5"/>
          </a:solidFill>
          <a:ln xmlns:a="http://schemas.openxmlformats.org/drawingml/2006/main" w="0">
            <a:solidFill>
              <a:srgbClr val="FFF2E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B40937-0F93-4F91-B5EA-ADD2B2BA3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971800"/>
            <a:ext cx="762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822F"/>
          </a:solidFill>
          <a:ln xmlns:a="http://schemas.openxmlformats.org/drawingml/2006/main" w="0">
            <a:solidFill>
              <a:srgbClr val="EE822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655BDF-DAF7-451C-85B7-57C13C1C8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24200"/>
            <a:ext cx="4572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EE822F"/>
                </a:solidFill>
              </a:defRPr>
            </a:pPr>
            <a:r>
              <a:rPr sz="1725" b="1">
                <a:solidFill>
                  <a:srgbClr val="EE822F"/>
                </a:solidFill>
              </a:rPr>
              <a:t>过程记录层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C7C373-3BD4-4A56-B1E6-BF01257F9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0"/>
            <a:ext cx="4572000" cy="1009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F2933"/>
                </a:solidFill>
              </a:defRPr>
            </a:pPr>
            <a:r>
              <a:rPr sz="1350" b="0">
                <a:solidFill>
                  <a:srgbClr val="1F2933"/>
                </a:solidFill>
              </a:rPr>
              <a:t>每条数据库记录成为一个过程对象，并关联设备、程序、产线、连接点和在线参数。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C21075-9CDB-4104-A50F-F764A4BE0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800600"/>
            <a:ext cx="49530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8E9"/>
          </a:solidFill>
          <a:ln xmlns:a="http://schemas.openxmlformats.org/drawingml/2006/main" w="0">
            <a:solidFill>
              <a:srgbClr val="EEF8E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428B6F-437A-4646-8C32-E281237AE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800600"/>
            <a:ext cx="762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BD42"/>
          </a:solidFill>
          <a:ln xmlns:a="http://schemas.openxmlformats.org/drawingml/2006/main" w="0">
            <a:solidFill>
              <a:srgbClr val="75BD4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FC65A0-97CF-49B4-9673-4F15459A3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914900"/>
            <a:ext cx="4572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75BD42"/>
                </a:solidFill>
              </a:defRPr>
            </a:pPr>
            <a:r>
              <a:rPr sz="1725" b="1">
                <a:solidFill>
                  <a:srgbClr val="75BD42"/>
                </a:solidFill>
              </a:rPr>
              <a:t>数据/判定层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CF9237-DFC1-4B18-ABD3-F5B4BC928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19700"/>
            <a:ext cx="4572000" cy="1009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F2933"/>
                </a:solidFill>
              </a:defRPr>
            </a:pPr>
            <a:r>
              <a:rPr sz="1350" b="0">
                <a:solidFill>
                  <a:srgbClr val="1F2933"/>
                </a:solidFill>
              </a:rPr>
              <a:t>曲线、包络线、公差、RRC/PECV2、预测结果围绕过程记录展开。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D55E63-6B8D-4694-89B5-8217C89BD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1371600"/>
            <a:ext cx="9334500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C"/>
          </a:solidFill>
          <a:ln xmlns:a="http://schemas.openxmlformats.org/drawingml/2006/main" w="0">
            <a:solidFill>
              <a:srgbClr val="F6F8F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1DF839-1FA6-4543-B339-F8C6D427F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676400"/>
            <a:ext cx="114300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2409A"/>
          </a:solidFill>
          <a:ln xmlns:a="http://schemas.openxmlformats.org/drawingml/2006/main" w="0">
            <a:solidFill>
              <a:srgbClr val="02409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12A9E5-7C6B-4201-B180-D1CDC3318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695450"/>
            <a:ext cx="11430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产线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14D1225-E0D7-4001-8318-B93DCF237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676400"/>
            <a:ext cx="114300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874CB"/>
          </a:solidFill>
          <a:ln xmlns:a="http://schemas.openxmlformats.org/drawingml/2006/main" w="0">
            <a:solidFill>
              <a:srgbClr val="4874C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70EC80D-6356-4B58-849E-A72B5194F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695450"/>
            <a:ext cx="11430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工位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6BE8315-5D95-4C80-9377-5949EA40F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676400"/>
            <a:ext cx="114300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0C0B4"/>
          </a:solidFill>
          <a:ln xmlns:a="http://schemas.openxmlformats.org/drawingml/2006/main" w="0">
            <a:solidFill>
              <a:srgbClr val="30C0B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FD0C667-33B8-4D62-B869-92CBBF176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695450"/>
            <a:ext cx="11430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设备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EBC6C44-A3C2-440D-9A2B-251A2434E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1676400"/>
            <a:ext cx="114300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5BD42"/>
          </a:solidFill>
          <a:ln xmlns:a="http://schemas.openxmlformats.org/drawingml/2006/main" w="0">
            <a:solidFill>
              <a:srgbClr val="75BD4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E4EEFB8-23BC-4ACD-8D2C-760FF3F7D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1695450"/>
            <a:ext cx="11430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程序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7D7200C-56F1-4EDF-81F5-FD8E5D91A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1676400"/>
            <a:ext cx="133350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822F"/>
          </a:solidFill>
          <a:ln xmlns:a="http://schemas.openxmlformats.org/drawingml/2006/main" w="0">
            <a:solidFill>
              <a:srgbClr val="EE822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CA1143C-9DF2-45A1-ABB7-4CAF3C85C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1695450"/>
            <a:ext cx="13335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连接点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C36DEE2-8716-470C-AB7D-0AF991C53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324100"/>
            <a:ext cx="86487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F6B7A"/>
                </a:solidFill>
              </a:defRPr>
            </a:pPr>
            <a:r>
              <a:rPr sz="1800" b="0">
                <a:solidFill>
                  <a:srgbClr val="5F6B7A"/>
                </a:solidFill>
              </a:rPr>
              <a:t>↓ records / recordedBy / recordedWith / recordsJoint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A3B8D31-0F97-4482-84F3-632804A3A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743200"/>
            <a:ext cx="314325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2409A"/>
          </a:solidFill>
          <a:ln xmlns:a="http://schemas.openxmlformats.org/drawingml/2006/main" w="0">
            <a:solidFill>
              <a:srgbClr val="02409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090FED3-B142-45A0-BF02-2C77D9DBE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743200"/>
            <a:ext cx="31432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SPR过程记录类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467A5EE-6317-41EF-A942-5C2F37C00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371850"/>
            <a:ext cx="86487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F6B7A"/>
                </a:solidFill>
              </a:defRPr>
            </a:pPr>
            <a:r>
              <a:rPr sz="1800" b="0">
                <a:solidFill>
                  <a:srgbClr val="5F6B7A"/>
                </a:solidFill>
              </a:rPr>
              <a:t>↓ hasOnlineParameter / hasCurveData / hasPredictionResult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217CC6D-7EE9-4068-8117-0E75D1890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810000"/>
            <a:ext cx="200025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5BD42"/>
          </a:solidFill>
          <a:ln xmlns:a="http://schemas.openxmlformats.org/drawingml/2006/main" w="0">
            <a:solidFill>
              <a:srgbClr val="75BD42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E516930-B6CC-489C-81A0-9EE9E4F62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790950"/>
            <a:ext cx="20002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工艺参数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9BDA40E-CFE7-46B5-9D5C-4D12BEA5B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810000"/>
            <a:ext cx="200025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0C0B4"/>
          </a:solidFill>
          <a:ln xmlns:a="http://schemas.openxmlformats.org/drawingml/2006/main" w="0">
            <a:solidFill>
              <a:srgbClr val="30C0B4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5BAD2E6-6DEC-43D6-97E6-17DD4A13A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790950"/>
            <a:ext cx="20002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曲线数据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CA5E27C-2778-4027-A059-ABB0DDCDF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3810000"/>
            <a:ext cx="200025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822F"/>
          </a:solidFill>
          <a:ln xmlns:a="http://schemas.openxmlformats.org/drawingml/2006/main" w="0">
            <a:solidFill>
              <a:srgbClr val="EE822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2F22E1A-1CAE-4277-AB7F-A07A0C019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3790950"/>
            <a:ext cx="20002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质量结果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2212DC3-4390-494B-87A4-4D09450DD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419600"/>
            <a:ext cx="219075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54C5E"/>
          </a:solidFill>
          <a:ln xmlns:a="http://schemas.openxmlformats.org/drawingml/2006/main" w="0">
            <a:solidFill>
              <a:srgbClr val="E54C5E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6BD3B7A-D834-403B-8335-7EA3EC0CB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381500"/>
            <a:ext cx="21907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包络线/公差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35E012C-C724-4454-B6E7-B0AB9E8E6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419600"/>
            <a:ext cx="219075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874CB"/>
          </a:solidFill>
          <a:ln xmlns:a="http://schemas.openxmlformats.org/drawingml/2006/main" w="0">
            <a:solidFill>
              <a:srgbClr val="4874CB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4CE0892-C25C-4001-BB87-F275C5817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381500"/>
            <a:ext cx="21907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RRC/PECV2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D5B4B4D-C45E-43B6-A69B-D247530D4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4419600"/>
            <a:ext cx="200025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BA02"/>
          </a:solidFill>
          <a:ln xmlns:a="http://schemas.openxmlformats.org/drawingml/2006/main" w="0">
            <a:solidFill>
              <a:srgbClr val="F2BA02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A56DAB6-19F3-4957-B10B-3A26BAC22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4381500"/>
            <a:ext cx="20002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预测结果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3FEC87C-78DA-4337-9967-18754C74B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9734550"/>
            <a:ext cx="168592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8B95A1"/>
                </a:solidFill>
              </a:defRPr>
            </a:pPr>
            <a:r>
              <a:rPr sz="1050" b="0">
                <a:solidFill>
                  <a:srgbClr val="8B95A1"/>
                </a:solidFill>
              </a:rPr>
              <a:t>SPR 本体更新导师汇报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C564770-3207-40FD-97B2-6D646CFDA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0" y="9734550"/>
            <a:ext cx="666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2409A"/>
                </a:solidFill>
              </a:defRPr>
            </a:pPr>
            <a:r>
              <a:rPr sz="1125" b="1">
                <a:solidFill>
                  <a:srgbClr val="02409A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99703363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header-blue">
            <a:extLst xmlns:a="http://schemas.openxmlformats.org/drawingml/2006/main">
              <a:ext uri="{FF2B5EF4-FFF2-40B4-BE49-F238E27FC236}">
                <a16:creationId xmlns:a16="http://schemas.microsoft.com/office/drawing/2014/main" id="{8CAA4B30-E714-4A07-BE6A-C54F1CE5B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28600"/>
            <a:ext cx="17526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409A"/>
          </a:solidFill>
          <a:ln xmlns:a="http://schemas.openxmlformats.org/drawingml/2006/main" w="0">
            <a:solidFill>
              <a:srgbClr val="02409A"/>
            </a:solidFill>
            <a:prstDash val="solid"/>
          </a:ln>
        </p:spPr>
      </p:sp>
      <p:sp>
        <p:nvSpPr>
          <p:cNvPr id="2" name="header-accent">
            <a:extLst xmlns:a="http://schemas.openxmlformats.org/drawingml/2006/main">
              <a:ext uri="{FF2B5EF4-FFF2-40B4-BE49-F238E27FC236}">
                <a16:creationId xmlns:a16="http://schemas.microsoft.com/office/drawing/2014/main" id="{66B05DB3-8FF1-49AC-A751-2D6E182C1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28600"/>
            <a:ext cx="14097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822F"/>
          </a:solidFill>
          <a:ln xmlns:a="http://schemas.openxmlformats.org/drawingml/2006/main" w="0">
            <a:solidFill>
              <a:srgbClr val="EE822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8A89AA-4C48-406A-8621-B87328E6E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1000"/>
            <a:ext cx="142113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七、属性层补充重点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B5942D-B8F6-41FC-ACA2-13DA15F41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06650" y="381000"/>
            <a:ext cx="2476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DCE8FF"/>
                </a:solidFill>
              </a:defRPr>
            </a:pPr>
            <a:r>
              <a:rPr sz="1275" b="0">
                <a:solidFill>
                  <a:srgbClr val="DCE8FF"/>
                </a:solidFill>
              </a:rPr>
              <a:t>属性层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FA1EEC-D4EA-4B6F-8F11-A7FF88CBF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371600"/>
            <a:ext cx="17526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409A"/>
          </a:solidFill>
          <a:ln xmlns:a="http://schemas.openxmlformats.org/drawingml/2006/main" w="0">
            <a:solidFill>
              <a:srgbClr val="02409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812FEB-A693-495B-BEC4-E4130EEB0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66850"/>
            <a:ext cx="3143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本体类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558749-F00D-4E2F-AFEB-1B1DC960D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466850"/>
            <a:ext cx="6191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新增/补充属性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60133F-BDEF-499A-B16C-A1C72F800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1466850"/>
            <a:ext cx="5143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对应来源字段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72E210-0986-4A1E-A179-F68C9C092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905000"/>
            <a:ext cx="17526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822F"/>
          </a:solidFill>
          <a:ln xmlns:a="http://schemas.openxmlformats.org/drawingml/2006/main" w="0">
            <a:solidFill>
              <a:srgbClr val="EE822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DB899D-52BA-42D5-A24E-952B1B87C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38350"/>
            <a:ext cx="31432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F2933"/>
                </a:solidFill>
              </a:defRPr>
            </a:pPr>
            <a:r>
              <a:rPr sz="1350" b="1">
                <a:solidFill>
                  <a:srgbClr val="1F2933"/>
                </a:solidFill>
              </a:rPr>
              <a:t>产线类 / 设备类 / 程序类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3A4175-47E8-4119-B292-6D0872027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038350"/>
            <a:ext cx="61912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F6B7A"/>
                </a:solidFill>
              </a:defRPr>
            </a:pPr>
            <a:r>
              <a:rPr sz="1350" b="0">
                <a:solidFill>
                  <a:srgbClr val="5F6B7A"/>
                </a:solidFill>
              </a:rPr>
              <a:t>lineName、deviceName、programNumber、programName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BBD774-9BDE-4D39-B7DD-9CAC45C2E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038350"/>
            <a:ext cx="51435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F6B7A"/>
                </a:solidFill>
              </a:defRPr>
            </a:pPr>
            <a:r>
              <a:rPr sz="1350" b="0">
                <a:solidFill>
                  <a:srgbClr val="5F6B7A"/>
                </a:solidFill>
              </a:rPr>
              <a:t>line_name、device_name、Devicename、prog_no、程序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F151C8-F1FD-43D7-A77B-7BA717FAD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647950"/>
            <a:ext cx="1752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8"/>
          </a:solidFill>
          <a:ln xmlns:a="http://schemas.openxmlformats.org/drawingml/2006/main" w="0">
            <a:solidFill>
              <a:srgbClr val="D9DE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27592C-A16C-46B0-8BF1-8582A4442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762250"/>
            <a:ext cx="31432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F2933"/>
                </a:solidFill>
              </a:defRPr>
            </a:pPr>
            <a:r>
              <a:rPr sz="1350" b="1">
                <a:solidFill>
                  <a:srgbClr val="1F2933"/>
                </a:solidFill>
              </a:rPr>
              <a:t>SPR连接点类 / 材料类 / SPR铆钉类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0D0DFD-7E11-4F65-BC3C-C3A2BE2EF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762250"/>
            <a:ext cx="61912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F6B7A"/>
                </a:solidFill>
              </a:defRPr>
            </a:pPr>
            <a:r>
              <a:rPr sz="1350" b="0">
                <a:solidFill>
                  <a:srgbClr val="5F6B7A"/>
                </a:solidFill>
              </a:rPr>
              <a:t>rivetPointId、sheetThickness、rivetLength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2B5C55-6435-4B81-B1ED-8273670E5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762250"/>
            <a:ext cx="51435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F6B7A"/>
                </a:solidFill>
              </a:defRPr>
            </a:pPr>
            <a:r>
              <a:rPr sz="1350" b="0">
                <a:solidFill>
                  <a:srgbClr val="5F6B7A"/>
                </a:solidFill>
              </a:rPr>
              <a:t>rivet_id、钢板厚度、铆钉长度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6512BA-4BBB-4C84-BCEF-93C161766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390900"/>
            <a:ext cx="1752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8"/>
          </a:solidFill>
          <a:ln xmlns:a="http://schemas.openxmlformats.org/drawingml/2006/main" w="0">
            <a:solidFill>
              <a:srgbClr val="D9DE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DAA4C7-5159-4FF0-BD6C-88C08B4DF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05200"/>
            <a:ext cx="31432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F2933"/>
                </a:solidFill>
              </a:defRPr>
            </a:pPr>
            <a:r>
              <a:rPr sz="1350" b="1">
                <a:solidFill>
                  <a:srgbClr val="1F2933"/>
                </a:solidFill>
              </a:rPr>
              <a:t>工艺参数类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6A25949-5899-4DF8-8083-FA06A3BDE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505200"/>
            <a:ext cx="61912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F6B7A"/>
                </a:solidFill>
              </a:defRPr>
            </a:pPr>
            <a:r>
              <a:rPr sz="1350" b="0">
                <a:solidFill>
                  <a:srgbClr val="5F6B7A"/>
                </a:solidFill>
              </a:rPr>
              <a:t>maxRivetingForce、pressStroke、actualEndForce、jicDVal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1324B69-DAF1-4A17-9E00-35091D5AD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3505200"/>
            <a:ext cx="51435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F6B7A"/>
                </a:solidFill>
              </a:defRPr>
            </a:pPr>
            <a:r>
              <a:rPr sz="1350" b="0">
                <a:solidFill>
                  <a:srgbClr val="5F6B7A"/>
                </a:solidFill>
              </a:rPr>
              <a:t>铆接线最大力、铆接线冲压行程、Actual end force、JIC dVal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1F34BEC-99B7-4AAC-9B02-6263B4BA6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114800"/>
            <a:ext cx="1752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8"/>
          </a:solidFill>
          <a:ln xmlns:a="http://schemas.openxmlformats.org/drawingml/2006/main" w="0">
            <a:solidFill>
              <a:srgbClr val="D9DEE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78C4087-D94D-4410-8910-2D73F0EAD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29100"/>
            <a:ext cx="31432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F2933"/>
                </a:solidFill>
              </a:defRPr>
            </a:pPr>
            <a:r>
              <a:rPr sz="1350" b="1">
                <a:solidFill>
                  <a:srgbClr val="1F2933"/>
                </a:solidFill>
              </a:rPr>
              <a:t>SPR过程记录类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D3F8B75-8329-4196-8425-54C6D0EE8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229100"/>
            <a:ext cx="61912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F6B7A"/>
                </a:solidFill>
              </a:defRPr>
            </a:pPr>
            <a:r>
              <a:rPr sz="1350" b="0">
                <a:solidFill>
                  <a:srgbClr val="5F6B7A"/>
                </a:solidFill>
              </a:rPr>
              <a:t>recordId、businessId、carBodyId、originTime、consumerTime、createTime、updateTime、isDeleted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B32884D-848F-4B26-86F3-3A3E7C06A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4229100"/>
            <a:ext cx="51435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F6B7A"/>
                </a:solidFill>
              </a:defRPr>
            </a:pPr>
            <a:r>
              <a:rPr sz="1350" b="0">
                <a:solidFill>
                  <a:srgbClr val="5F6B7A"/>
                </a:solidFill>
              </a:rPr>
              <a:t>id、biz_id、carbody_id、origin_time、consumer_time、create_time、update_time、is_deleted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151AEC2-9009-47FE-9D60-4705E3A4E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857750"/>
            <a:ext cx="1752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8"/>
          </a:solidFill>
          <a:ln xmlns:a="http://schemas.openxmlformats.org/drawingml/2006/main" w="0">
            <a:solidFill>
              <a:srgbClr val="D9DEE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C8D3B14-6BAD-4F89-93CA-0F623E5FE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972050"/>
            <a:ext cx="31432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F2933"/>
                </a:solidFill>
              </a:defRPr>
            </a:pPr>
            <a:r>
              <a:rPr sz="1350" b="1">
                <a:solidFill>
                  <a:srgbClr val="1F2933"/>
                </a:solidFill>
              </a:rPr>
              <a:t>质量结果 / 模型预测结果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1512F6C-01E0-4DBF-AF93-752D8184D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972050"/>
            <a:ext cx="61912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F6B7A"/>
                </a:solidFill>
              </a:defRPr>
            </a:pPr>
            <a:r>
              <a:rPr sz="1350" b="0">
                <a:solidFill>
                  <a:srgbClr val="5F6B7A"/>
                </a:solidFill>
              </a:rPr>
              <a:t>errorRate、predictionCategory、faultCode、qualityState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E0D9BC4-A93E-474C-8A2B-2A4C43609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4972050"/>
            <a:ext cx="51435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F6B7A"/>
                </a:solidFill>
              </a:defRPr>
            </a:pPr>
            <a:r>
              <a:rPr sz="1350" b="0">
                <a:solidFill>
                  <a:srgbClr val="5F6B7A"/>
                </a:solidFill>
              </a:rPr>
              <a:t>error_rate、pre、故障代码、规则推断状态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9FB504E-533F-42D2-99BE-E1FA85A40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581650"/>
            <a:ext cx="1752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8"/>
          </a:solidFill>
          <a:ln xmlns:a="http://schemas.openxmlformats.org/drawingml/2006/main" w="0">
            <a:solidFill>
              <a:srgbClr val="D9DEE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39AADEC-7042-45F2-9259-979E5A47D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9734550"/>
            <a:ext cx="168592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8B95A1"/>
                </a:solidFill>
              </a:defRPr>
            </a:pPr>
            <a:r>
              <a:rPr sz="1050" b="0">
                <a:solidFill>
                  <a:srgbClr val="8B95A1"/>
                </a:solidFill>
              </a:rPr>
              <a:t>SPR 本体更新导师汇报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DB3B178-90E7-4776-8EFF-29ABB4FB9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0" y="9734550"/>
            <a:ext cx="666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2409A"/>
                </a:solidFill>
              </a:defRPr>
            </a:pPr>
            <a:r>
              <a:rPr sz="1125" b="1">
                <a:solidFill>
                  <a:srgbClr val="02409A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61220926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header-blue">
            <a:extLst xmlns:a="http://schemas.openxmlformats.org/drawingml/2006/main">
              <a:ext uri="{FF2B5EF4-FFF2-40B4-BE49-F238E27FC236}">
                <a16:creationId xmlns:a16="http://schemas.microsoft.com/office/drawing/2014/main" id="{A4E8A6BC-49A6-4717-B7E4-92C42B166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28600"/>
            <a:ext cx="17526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409A"/>
          </a:solidFill>
          <a:ln xmlns:a="http://schemas.openxmlformats.org/drawingml/2006/main" w="0">
            <a:solidFill>
              <a:srgbClr val="02409A"/>
            </a:solidFill>
            <a:prstDash val="solid"/>
          </a:ln>
        </p:spPr>
      </p:sp>
      <p:sp>
        <p:nvSpPr>
          <p:cNvPr id="2" name="header-accent">
            <a:extLst xmlns:a="http://schemas.openxmlformats.org/drawingml/2006/main">
              <a:ext uri="{FF2B5EF4-FFF2-40B4-BE49-F238E27FC236}">
                <a16:creationId xmlns:a16="http://schemas.microsoft.com/office/drawing/2014/main" id="{0B7C36A2-4509-49AD-A3FE-737EA154D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28600"/>
            <a:ext cx="14097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822F"/>
          </a:solidFill>
          <a:ln xmlns:a="http://schemas.openxmlformats.org/drawingml/2006/main" w="0">
            <a:solidFill>
              <a:srgbClr val="EE822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FDBB80-079B-4720-B2E1-1E7944F05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1000"/>
            <a:ext cx="142113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八、曲线与包络线建模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4F34EC-0E63-4665-8B55-D566D4BAE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06650" y="381000"/>
            <a:ext cx="2476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DCE8FF"/>
                </a:solidFill>
              </a:defRPr>
            </a:pPr>
            <a:r>
              <a:rPr sz="1275" b="0">
                <a:solidFill>
                  <a:srgbClr val="DCE8FF"/>
                </a:solidFill>
              </a:rPr>
              <a:t>曲线层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4564CE-65C4-4673-9F71-32BB2D9DF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371600"/>
            <a:ext cx="5905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2409A"/>
                </a:solidFill>
              </a:defRPr>
            </a:pPr>
            <a:r>
              <a:rPr sz="2550" b="1">
                <a:solidFill>
                  <a:srgbClr val="02409A"/>
                </a:solidFill>
              </a:rPr>
              <a:t>为什么不只存字符串？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8DA7EF-C5AB-4319-AFCE-E5CF653DE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8669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822F"/>
          </a:solidFill>
          <a:ln xmlns:a="http://schemas.openxmlformats.org/drawingml/2006/main" w="0">
            <a:solidFill>
              <a:srgbClr val="EE822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B2FC4D-C606-4E20-91FE-B30FFA69B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66900"/>
            <a:ext cx="52578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F2933"/>
                </a:solidFill>
              </a:defRPr>
            </a:pPr>
            <a:r>
              <a:rPr sz="1800" b="0">
                <a:solidFill>
                  <a:srgbClr val="1F2933"/>
                </a:solidFill>
              </a:rPr>
              <a:t>曲线对象需要可追溯、可统计、可判定、可作为模型输入。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9215A0-12FF-4D84-8D4E-CD5E6FDA5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6860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822F"/>
          </a:solidFill>
          <a:ln xmlns:a="http://schemas.openxmlformats.org/drawingml/2006/main" w="0">
            <a:solidFill>
              <a:srgbClr val="EE822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2F5714-B356-457E-A151-A300362BF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52578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F2933"/>
                </a:solidFill>
              </a:defRPr>
            </a:pPr>
            <a:r>
              <a:rPr sz="1800" b="0">
                <a:solidFill>
                  <a:srgbClr val="1F2933"/>
                </a:solidFill>
              </a:rPr>
              <a:t>原始曲线、计算后曲线、铆接曲线、包络线含义不同，应分开表达。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B009E1-F79B-485B-B85E-4E1DC2E35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5052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822F"/>
          </a:solidFill>
          <a:ln xmlns:a="http://schemas.openxmlformats.org/drawingml/2006/main" w="0">
            <a:solidFill>
              <a:srgbClr val="EE822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F71DC9-6665-4070-96A2-D62E6F49B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05200"/>
            <a:ext cx="52578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F2933"/>
                </a:solidFill>
              </a:defRPr>
            </a:pPr>
            <a:r>
              <a:rPr sz="1800" b="0">
                <a:solidFill>
                  <a:srgbClr val="1F2933"/>
                </a:solidFill>
              </a:rPr>
              <a:t>最大力、Y 轴刻度、点数、分辨率、公差阈值是曲线判定的关键特征。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9B5BEC-07A2-4AF6-BD6B-C10F66D37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371600"/>
            <a:ext cx="112776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409A"/>
          </a:solidFill>
          <a:ln xmlns:a="http://schemas.openxmlformats.org/drawingml/2006/main" w="0">
            <a:solidFill>
              <a:srgbClr val="02409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6B58A2-D1F7-4206-AA59-3875BCDFA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466850"/>
            <a:ext cx="2476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对象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EB1DF6-C92F-4428-A260-E188965BD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466850"/>
            <a:ext cx="5905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承载字段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B5C1F6-CD55-421B-9FE9-24266D811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905000"/>
            <a:ext cx="11277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822F"/>
          </a:solidFill>
          <a:ln xmlns:a="http://schemas.openxmlformats.org/drawingml/2006/main" w="0">
            <a:solidFill>
              <a:srgbClr val="EE822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020A18-8A2E-4057-B934-147F0DDF1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038350"/>
            <a:ext cx="24765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F2933"/>
                </a:solidFill>
              </a:defRPr>
            </a:pPr>
            <a:r>
              <a:rPr sz="1425" b="1">
                <a:solidFill>
                  <a:srgbClr val="1F2933"/>
                </a:solidFill>
              </a:rPr>
              <a:t>原始曲线类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648B3D-0854-40B9-93FD-F26AF57EE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038350"/>
            <a:ext cx="59055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F6B7A"/>
                </a:solidFill>
              </a:defRPr>
            </a:pPr>
            <a:r>
              <a:rPr sz="1425" b="0">
                <a:solidFill>
                  <a:srgbClr val="5F6B7A"/>
                </a:solidFill>
              </a:rPr>
              <a:t>original_data、最大力铆接曲线（原始数据）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268265-BAD2-40B5-94C7-7DAB0FAB3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5527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8"/>
          </a:solidFill>
          <a:ln xmlns:a="http://schemas.openxmlformats.org/drawingml/2006/main" w="0">
            <a:solidFill>
              <a:srgbClr val="D9DE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AC642DC-58EB-4AF3-A8F6-CE0CF70D7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667000"/>
            <a:ext cx="24765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F2933"/>
                </a:solidFill>
              </a:defRPr>
            </a:pPr>
            <a:r>
              <a:rPr sz="1425" b="1">
                <a:solidFill>
                  <a:srgbClr val="1F2933"/>
                </a:solidFill>
              </a:rPr>
              <a:t>计算后曲线类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C12EF9-04A6-44DE-9BFC-EA711533C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667000"/>
            <a:ext cx="59055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F6B7A"/>
                </a:solidFill>
              </a:defRPr>
            </a:pPr>
            <a:r>
              <a:rPr sz="1425" b="0">
                <a:solidFill>
                  <a:srgbClr val="5F6B7A"/>
                </a:solidFill>
              </a:rPr>
              <a:t>calculate_data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3F18F3E-15BA-44D2-986D-39DC8A960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2004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8"/>
          </a:solidFill>
          <a:ln xmlns:a="http://schemas.openxmlformats.org/drawingml/2006/main" w="0">
            <a:solidFill>
              <a:srgbClr val="D9DEE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952EA19-06B1-4203-84A8-E5935EDEE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314700"/>
            <a:ext cx="24765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F2933"/>
                </a:solidFill>
              </a:defRPr>
            </a:pPr>
            <a:r>
              <a:rPr sz="1425" b="1">
                <a:solidFill>
                  <a:srgbClr val="1F2933"/>
                </a:solidFill>
              </a:rPr>
              <a:t>铆接曲线类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B9E96FA-A3F4-4126-9450-B75241EE5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314700"/>
            <a:ext cx="59055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F6B7A"/>
                </a:solidFill>
              </a:defRPr>
            </a:pPr>
            <a:r>
              <a:rPr sz="1425" b="0">
                <a:solidFill>
                  <a:srgbClr val="5F6B7A"/>
                </a:solidFill>
              </a:rPr>
              <a:t>铆接曲线、铆接曲线存在、铆接曲线最大力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E7922E5-25EF-4F07-959F-531DB2A20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829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8"/>
          </a:solidFill>
          <a:ln xmlns:a="http://schemas.openxmlformats.org/drawingml/2006/main" w="0">
            <a:solidFill>
              <a:srgbClr val="D9DEE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E4B0F08-339B-4A24-8652-734F74AFF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943350"/>
            <a:ext cx="24765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F2933"/>
                </a:solidFill>
              </a:defRPr>
            </a:pPr>
            <a:r>
              <a:rPr sz="1425" b="1">
                <a:solidFill>
                  <a:srgbClr val="1F2933"/>
                </a:solidFill>
              </a:rPr>
              <a:t>包络线类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08F7365-ACDD-4435-8B62-67758DF3F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943350"/>
            <a:ext cx="59055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F6B7A"/>
                </a:solidFill>
              </a:defRPr>
            </a:pPr>
            <a:r>
              <a:rPr sz="1425" b="0">
                <a:solidFill>
                  <a:srgbClr val="5F6B7A"/>
                </a:solidFill>
              </a:rPr>
              <a:t>包络线、包络线最大力、分辨率、Y刻度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8FA1A0E-7B1C-4CBA-902F-DD5168DFF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4767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8"/>
          </a:solidFill>
          <a:ln xmlns:a="http://schemas.openxmlformats.org/drawingml/2006/main" w="0">
            <a:solidFill>
              <a:srgbClr val="D9DEE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EC3C73A-0BB9-4292-A20E-1B2B6AA19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591050"/>
            <a:ext cx="24765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F2933"/>
                </a:solidFill>
              </a:defRPr>
            </a:pPr>
            <a:r>
              <a:rPr sz="1425" b="1">
                <a:solidFill>
                  <a:srgbClr val="1F2933"/>
                </a:solidFill>
              </a:rPr>
              <a:t>包络线公差类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25D64A3-0C08-42D2-A6CB-2AEC3D8DE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591050"/>
            <a:ext cx="59055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F6B7A"/>
                </a:solidFill>
              </a:defRPr>
            </a:pPr>
            <a:r>
              <a:rPr sz="1425" b="0">
                <a:solidFill>
                  <a:srgbClr val="5F6B7A"/>
                </a:solidFill>
              </a:rPr>
              <a:t>包络线公差警告、包络线公差故障、行程公差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41FFC51-0228-44FC-AF4E-3173FB242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51054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8"/>
          </a:solidFill>
          <a:ln xmlns:a="http://schemas.openxmlformats.org/drawingml/2006/main" w="0">
            <a:solidFill>
              <a:srgbClr val="D9DEE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98DD201-9439-4E26-BC44-A7C6B6645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9734550"/>
            <a:ext cx="168592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8B95A1"/>
                </a:solidFill>
              </a:defRPr>
            </a:pPr>
            <a:r>
              <a:rPr sz="1050" b="0">
                <a:solidFill>
                  <a:srgbClr val="8B95A1"/>
                </a:solidFill>
              </a:rPr>
              <a:t>SPR 本体更新导师汇报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83AE292-0AF2-4107-95B0-F63FE8B6B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0" y="9734550"/>
            <a:ext cx="666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2409A"/>
                </a:solidFill>
              </a:defRPr>
            </a:pPr>
            <a:r>
              <a:rPr sz="1125" b="1">
                <a:solidFill>
                  <a:srgbClr val="02409A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340570785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header-blue">
            <a:extLst xmlns:a="http://schemas.openxmlformats.org/drawingml/2006/main">
              <a:ext uri="{FF2B5EF4-FFF2-40B4-BE49-F238E27FC236}">
                <a16:creationId xmlns:a16="http://schemas.microsoft.com/office/drawing/2014/main" id="{778C8CC8-697D-4A20-8683-F11013BE1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28600"/>
            <a:ext cx="17526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409A"/>
          </a:solidFill>
          <a:ln xmlns:a="http://schemas.openxmlformats.org/drawingml/2006/main" w="0">
            <a:solidFill>
              <a:srgbClr val="02409A"/>
            </a:solidFill>
            <a:prstDash val="solid"/>
          </a:ln>
        </p:spPr>
      </p:sp>
      <p:sp>
        <p:nvSpPr>
          <p:cNvPr id="2" name="header-accent">
            <a:extLst xmlns:a="http://schemas.openxmlformats.org/drawingml/2006/main">
              <a:ext uri="{FF2B5EF4-FFF2-40B4-BE49-F238E27FC236}">
                <a16:creationId xmlns:a16="http://schemas.microsoft.com/office/drawing/2014/main" id="{68A3F31E-96CC-41D2-9E48-85F7FF6A5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28600"/>
            <a:ext cx="14097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822F"/>
          </a:solidFill>
          <a:ln xmlns:a="http://schemas.openxmlformats.org/drawingml/2006/main" w="0">
            <a:solidFill>
              <a:srgbClr val="EE822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773BF3-042A-45CD-B0B9-E6DFE891B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1000"/>
            <a:ext cx="142113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九、关系层新增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180061-3182-4025-A2CE-ACC6B042F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06650" y="381000"/>
            <a:ext cx="2476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DCE8FF"/>
                </a:solidFill>
              </a:defRPr>
            </a:pPr>
            <a:r>
              <a:rPr sz="1275" b="0">
                <a:solidFill>
                  <a:srgbClr val="DCE8FF"/>
                </a:solidFill>
              </a:rPr>
              <a:t>关系层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0C25AD-D412-4747-B2DB-7B2C5CE13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371600"/>
            <a:ext cx="17526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409A"/>
          </a:solidFill>
          <a:ln xmlns:a="http://schemas.openxmlformats.org/drawingml/2006/main" w="0">
            <a:solidFill>
              <a:srgbClr val="02409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C2F84D-87B4-402D-8E49-751E00AA3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66850"/>
            <a:ext cx="3429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关系名称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FBD03A-B3FB-427E-B29E-517532F43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466850"/>
            <a:ext cx="4953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定义域 → 值域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34BC95-CDD2-41DC-8961-1BDAA97EB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1466850"/>
            <a:ext cx="5905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作用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C22CD1-AA96-4A99-A9C0-4CF896EBA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905000"/>
            <a:ext cx="17526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822F"/>
          </a:solidFill>
          <a:ln xmlns:a="http://schemas.openxmlformats.org/drawingml/2006/main" w="0">
            <a:solidFill>
              <a:srgbClr val="EE822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625AEC-A85A-495D-8FB6-4FB4FE837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38350"/>
            <a:ext cx="34290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F2933"/>
                </a:solidFill>
              </a:defRPr>
            </a:pPr>
            <a:r>
              <a:rPr sz="1350" b="1">
                <a:solidFill>
                  <a:srgbClr val="1F2933"/>
                </a:solidFill>
              </a:rPr>
              <a:t>recordsJoint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7659F4-109B-4974-9AD6-F252398DD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038350"/>
            <a:ext cx="49530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F6B7A"/>
                </a:solidFill>
              </a:defRPr>
            </a:pPr>
            <a:r>
              <a:rPr sz="1350" b="0">
                <a:solidFill>
                  <a:srgbClr val="5F6B7A"/>
                </a:solidFill>
              </a:rPr>
              <a:t>SPR过程记录类 → SPR连接点类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C0FBFD-3F8E-42F8-A42F-834EB014C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038350"/>
            <a:ext cx="59055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F6B7A"/>
                </a:solidFill>
              </a:defRPr>
            </a:pPr>
            <a:r>
              <a:rPr sz="1350" b="0">
                <a:solidFill>
                  <a:srgbClr val="5F6B7A"/>
                </a:solidFill>
              </a:rPr>
              <a:t>将在线记录关联到具体铆点或连接点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60D7F5-0232-4D02-8B40-F920C842E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552700"/>
            <a:ext cx="1752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8"/>
          </a:solidFill>
          <a:ln xmlns:a="http://schemas.openxmlformats.org/drawingml/2006/main" w="0">
            <a:solidFill>
              <a:srgbClr val="D9DE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D14E46-59AD-4D19-A7C4-549034508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0"/>
            <a:ext cx="34290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F2933"/>
                </a:solidFill>
              </a:defRPr>
            </a:pPr>
            <a:r>
              <a:rPr sz="1350" b="1">
                <a:solidFill>
                  <a:srgbClr val="1F2933"/>
                </a:solidFill>
              </a:rPr>
              <a:t>recordedByDevice / recordedAtLine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71C656-3F9D-4ADD-A03E-DB3B73C66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667000"/>
            <a:ext cx="49530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F6B7A"/>
                </a:solidFill>
              </a:defRPr>
            </a:pPr>
            <a:r>
              <a:rPr sz="1350" b="0">
                <a:solidFill>
                  <a:srgbClr val="5F6B7A"/>
                </a:solidFill>
              </a:rPr>
              <a:t>SPR过程记录类 → 设备类 / 产线类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5DDF1A-C991-42B4-8852-7724D989A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667000"/>
            <a:ext cx="59055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F6B7A"/>
                </a:solidFill>
              </a:defRPr>
            </a:pPr>
            <a:r>
              <a:rPr sz="1350" b="0">
                <a:solidFill>
                  <a:srgbClr val="5F6B7A"/>
                </a:solidFill>
              </a:rPr>
              <a:t>保留数据产生的设备与线体上下文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5274FF-3C71-4543-88F8-AD6923317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200400"/>
            <a:ext cx="1752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8"/>
          </a:solidFill>
          <a:ln xmlns:a="http://schemas.openxmlformats.org/drawingml/2006/main" w="0">
            <a:solidFill>
              <a:srgbClr val="D9DE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BCB730-FF8C-4676-87B4-206B80F12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14700"/>
            <a:ext cx="34290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F2933"/>
                </a:solidFill>
              </a:defRPr>
            </a:pPr>
            <a:r>
              <a:rPr sz="1350" b="1">
                <a:solidFill>
                  <a:srgbClr val="1F2933"/>
                </a:solidFill>
              </a:rPr>
              <a:t>recordedWithProgram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D579BD5-863A-4804-BAD4-0E3467B98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314700"/>
            <a:ext cx="49530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F6B7A"/>
                </a:solidFill>
              </a:defRPr>
            </a:pPr>
            <a:r>
              <a:rPr sz="1350" b="0">
                <a:solidFill>
                  <a:srgbClr val="5F6B7A"/>
                </a:solidFill>
              </a:rPr>
              <a:t>SPR过程记录类 → 程序类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FA36118-62FC-4153-8AE1-2C7842001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314700"/>
            <a:ext cx="59055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F6B7A"/>
                </a:solidFill>
              </a:defRPr>
            </a:pPr>
            <a:r>
              <a:rPr sz="1350" b="0">
                <a:solidFill>
                  <a:srgbClr val="5F6B7A"/>
                </a:solidFill>
              </a:rPr>
              <a:t>将过程记录关联到程序号或程序名称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3F7B4F1-D02A-471C-A960-9972AF7CE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829050"/>
            <a:ext cx="1752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8"/>
          </a:solidFill>
          <a:ln xmlns:a="http://schemas.openxmlformats.org/drawingml/2006/main" w="0">
            <a:solidFill>
              <a:srgbClr val="D9DEE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67A9ADC-1A39-42F8-8BA8-8B3FC571C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943350"/>
            <a:ext cx="34290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F2933"/>
                </a:solidFill>
              </a:defRPr>
            </a:pPr>
            <a:r>
              <a:rPr sz="1350" b="1">
                <a:solidFill>
                  <a:srgbClr val="1F2933"/>
                </a:solidFill>
              </a:rPr>
              <a:t>hasOnlineParameter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40217D9-5990-4A1E-96B4-FC783F137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943350"/>
            <a:ext cx="49530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F6B7A"/>
                </a:solidFill>
              </a:defRPr>
            </a:pPr>
            <a:r>
              <a:rPr sz="1350" b="0">
                <a:solidFill>
                  <a:srgbClr val="5F6B7A"/>
                </a:solidFill>
              </a:rPr>
              <a:t>SPR过程记录类 → 工艺参数类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681E3D9-1409-4A9A-8576-B44BFAFA1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943350"/>
            <a:ext cx="59055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F6B7A"/>
                </a:solidFill>
              </a:defRPr>
            </a:pPr>
            <a:r>
              <a:rPr sz="1350" b="0">
                <a:solidFill>
                  <a:srgbClr val="5F6B7A"/>
                </a:solidFill>
              </a:rPr>
              <a:t>表达在线实测最大力、冲压行程、末端力等参数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8EAB818-AB75-4B88-A42B-4EBA4101B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476750"/>
            <a:ext cx="1752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8"/>
          </a:solidFill>
          <a:ln xmlns:a="http://schemas.openxmlformats.org/drawingml/2006/main" w="0">
            <a:solidFill>
              <a:srgbClr val="D9DEE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AE74004-6976-433E-B659-6BCA63617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91050"/>
            <a:ext cx="34290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F2933"/>
                </a:solidFill>
              </a:defRPr>
            </a:pPr>
            <a:r>
              <a:rPr sz="1350" b="1">
                <a:solidFill>
                  <a:srgbClr val="1F2933"/>
                </a:solidFill>
              </a:rPr>
              <a:t>hasCurveData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6DF6336-9207-49DC-9297-6D9D7D9D6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591050"/>
            <a:ext cx="49530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F6B7A"/>
                </a:solidFill>
              </a:defRPr>
            </a:pPr>
            <a:r>
              <a:rPr sz="1350" b="0">
                <a:solidFill>
                  <a:srgbClr val="5F6B7A"/>
                </a:solidFill>
              </a:rPr>
              <a:t>SPR过程记录类 → SPR曲线数据类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517EC48-7DB0-4C7A-99F2-B4D43485D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591050"/>
            <a:ext cx="59055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F6B7A"/>
                </a:solidFill>
              </a:defRPr>
            </a:pPr>
            <a:r>
              <a:rPr sz="1350" b="0">
                <a:solidFill>
                  <a:srgbClr val="5F6B7A"/>
                </a:solidFill>
              </a:rPr>
              <a:t>表达一次记录包含曲线数据集合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E180643-9A66-4BB0-88FF-0746D0D2F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105400"/>
            <a:ext cx="1752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8"/>
          </a:solidFill>
          <a:ln xmlns:a="http://schemas.openxmlformats.org/drawingml/2006/main" w="0">
            <a:solidFill>
              <a:srgbClr val="D9DEE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FA0C82A-869E-418A-8316-E73530B96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219700"/>
            <a:ext cx="34290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F2933"/>
                </a:solidFill>
              </a:defRPr>
            </a:pPr>
            <a:r>
              <a:rPr sz="1350" b="1">
                <a:solidFill>
                  <a:srgbClr val="1F2933"/>
                </a:solidFill>
              </a:rPr>
              <a:t>hasEnvelopeCurve / hasToleranceLimit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C205EC0-38D7-4A7F-87D0-130629455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219700"/>
            <a:ext cx="49530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F6B7A"/>
                </a:solidFill>
              </a:defRPr>
            </a:pPr>
            <a:r>
              <a:rPr sz="1350" b="0">
                <a:solidFill>
                  <a:srgbClr val="5F6B7A"/>
                </a:solidFill>
              </a:rPr>
              <a:t>曲线/包络线 → 包络线/公差类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D2D686F-2A1C-4605-AE05-0A60E4DCF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5219700"/>
            <a:ext cx="59055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F6B7A"/>
                </a:solidFill>
              </a:defRPr>
            </a:pPr>
            <a:r>
              <a:rPr sz="1350" b="0">
                <a:solidFill>
                  <a:srgbClr val="5F6B7A"/>
                </a:solidFill>
              </a:rPr>
              <a:t>支撑曲线越界判定和阈值解释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77728DC-A73A-4BD8-B33F-9FE193465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753100"/>
            <a:ext cx="1752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8"/>
          </a:solidFill>
          <a:ln xmlns:a="http://schemas.openxmlformats.org/drawingml/2006/main" w="0">
            <a:solidFill>
              <a:srgbClr val="D9DEE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DE9BF46-5854-4A0A-B6D8-71C3A146A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867400"/>
            <a:ext cx="34290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F2933"/>
                </a:solidFill>
              </a:defRPr>
            </a:pPr>
            <a:r>
              <a:rPr sz="1350" b="1">
                <a:solidFill>
                  <a:srgbClr val="1F2933"/>
                </a:solidFill>
              </a:rPr>
              <a:t>hasPredictionResult / hasRRCParameter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8F52EBC-3D8D-40E1-8820-63EA73D61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867400"/>
            <a:ext cx="49530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F6B7A"/>
                </a:solidFill>
              </a:defRPr>
            </a:pPr>
            <a:r>
              <a:rPr sz="1350" b="0">
                <a:solidFill>
                  <a:srgbClr val="5F6B7A"/>
                </a:solidFill>
              </a:rPr>
              <a:t>SPR过程记录类 → 模型预测结果类 / RRC参数类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64F9662-7D3C-4F5D-99B7-B966A8DB6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5867400"/>
            <a:ext cx="59055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F6B7A"/>
                </a:solidFill>
              </a:defRPr>
            </a:pPr>
            <a:r>
              <a:rPr sz="1350" b="0">
                <a:solidFill>
                  <a:srgbClr val="5F6B7A"/>
                </a:solidFill>
              </a:rPr>
              <a:t>挂接模型输出与控制诊断状态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29EC93D-EA30-4B30-8C5D-6AF5D47F8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381750"/>
            <a:ext cx="1752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8"/>
          </a:solidFill>
          <a:ln xmlns:a="http://schemas.openxmlformats.org/drawingml/2006/main" w="0">
            <a:solidFill>
              <a:srgbClr val="D9DEE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002E093-571E-43F9-AC85-810A09232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9734550"/>
            <a:ext cx="168592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8B95A1"/>
                </a:solidFill>
              </a:defRPr>
            </a:pPr>
            <a:r>
              <a:rPr sz="1050" b="0">
                <a:solidFill>
                  <a:srgbClr val="8B95A1"/>
                </a:solidFill>
              </a:rPr>
              <a:t>SPR 本体更新导师汇报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3A66E14-6A2E-4F6B-AE56-02BA3592B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0" y="9734550"/>
            <a:ext cx="666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2409A"/>
                </a:solidFill>
              </a:defRPr>
            </a:pPr>
            <a:r>
              <a:rPr sz="1125" b="1">
                <a:solidFill>
                  <a:srgbClr val="02409A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470791406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header-blue">
            <a:extLst xmlns:a="http://schemas.openxmlformats.org/drawingml/2006/main">
              <a:ext uri="{FF2B5EF4-FFF2-40B4-BE49-F238E27FC236}">
                <a16:creationId xmlns:a16="http://schemas.microsoft.com/office/drawing/2014/main" id="{7946ABA9-4BB6-4BC9-B00B-4D9C4D35E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28600"/>
            <a:ext cx="17526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409A"/>
          </a:solidFill>
          <a:ln xmlns:a="http://schemas.openxmlformats.org/drawingml/2006/main" w="0">
            <a:solidFill>
              <a:srgbClr val="02409A"/>
            </a:solidFill>
            <a:prstDash val="solid"/>
          </a:ln>
        </p:spPr>
      </p:sp>
      <p:sp>
        <p:nvSpPr>
          <p:cNvPr id="2" name="header-accent">
            <a:extLst xmlns:a="http://schemas.openxmlformats.org/drawingml/2006/main">
              <a:ext uri="{FF2B5EF4-FFF2-40B4-BE49-F238E27FC236}">
                <a16:creationId xmlns:a16="http://schemas.microsoft.com/office/drawing/2014/main" id="{C7FD7C8A-2CAC-41DA-B575-383E423B6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28600"/>
            <a:ext cx="14097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822F"/>
          </a:solidFill>
          <a:ln xmlns:a="http://schemas.openxmlformats.org/drawingml/2006/main" w="0">
            <a:solidFill>
              <a:srgbClr val="EE822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E94943-68D2-41D3-A9D6-507AA888E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1000"/>
            <a:ext cx="142113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十、字段映射结果：主数据库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DC0856-B86A-4699-A43D-6A3EA87D2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06650" y="381000"/>
            <a:ext cx="2476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DCE8FF"/>
                </a:solidFill>
              </a:defRPr>
            </a:pPr>
            <a:r>
              <a:rPr sz="1275" b="0">
                <a:solidFill>
                  <a:srgbClr val="DCE8FF"/>
                </a:solidFill>
              </a:rPr>
              <a:t>字段映射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7C08CF-3776-4AC6-9C0C-2F6F8B458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371600"/>
            <a:ext cx="26670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02409A"/>
                </a:solidFill>
              </a:defRPr>
            </a:pPr>
            <a:r>
              <a:rPr sz="4650" b="1">
                <a:solidFill>
                  <a:srgbClr val="02409A"/>
                </a:solidFill>
              </a:rPr>
              <a:t>666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5B1374-EB63-4DDE-BBCD-7088AFCFB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000250"/>
            <a:ext cx="2667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F6B7A"/>
                </a:solidFill>
              </a:defRPr>
            </a:pPr>
            <a:r>
              <a:rPr sz="1500" b="0">
                <a:solidFill>
                  <a:srgbClr val="5F6B7A"/>
                </a:solidFill>
              </a:rPr>
              <a:t>样例记录数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CBDF31-314D-4351-9AA1-08448C38E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371600"/>
            <a:ext cx="24765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EE822F"/>
                </a:solidFill>
              </a:defRPr>
            </a:pPr>
            <a:r>
              <a:rPr sz="4650" b="1">
                <a:solidFill>
                  <a:srgbClr val="EE822F"/>
                </a:solidFill>
              </a:rPr>
              <a:t>16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D9E89A-4AAA-4BE1-96B0-0495CB2FE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000250"/>
            <a:ext cx="2476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F6B7A"/>
                </a:solidFill>
              </a:defRPr>
            </a:pPr>
            <a:r>
              <a:rPr sz="1500" b="0">
                <a:solidFill>
                  <a:srgbClr val="5F6B7A"/>
                </a:solidFill>
              </a:rPr>
              <a:t>字段数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E35D00-6EB3-4950-B24E-38D0CF137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371600"/>
            <a:ext cx="30480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75BD42"/>
                </a:solidFill>
              </a:defRPr>
            </a:pPr>
            <a:r>
              <a:rPr sz="4650" b="1">
                <a:solidFill>
                  <a:srgbClr val="75BD42"/>
                </a:solidFill>
              </a:rPr>
              <a:t>100%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6C31D8-E9D1-4400-899C-C9701A84E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0002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F6B7A"/>
                </a:solidFill>
              </a:defRPr>
            </a:pPr>
            <a:r>
              <a:rPr sz="1500" b="0">
                <a:solidFill>
                  <a:srgbClr val="5F6B7A"/>
                </a:solidFill>
              </a:rPr>
              <a:t>字段纳入映射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217873-BA77-4868-8574-57415B5D4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438400"/>
            <a:ext cx="17526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409A"/>
          </a:solidFill>
          <a:ln xmlns:a="http://schemas.openxmlformats.org/drawingml/2006/main" w="0">
            <a:solidFill>
              <a:srgbClr val="02409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641C1D-8FE6-427D-8741-62E2BA2C6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95550"/>
            <a:ext cx="2667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字段类型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61B60C-AAF4-441E-B01F-766C25922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495550"/>
            <a:ext cx="5334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代表字段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D0C2C1-E8FB-4F9C-BBEB-546ED11E4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495550"/>
            <a:ext cx="6762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映射处理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994CDD-1D19-4ECE-BD4A-F5FED864F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895600"/>
            <a:ext cx="17526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822F"/>
          </a:solidFill>
          <a:ln xmlns:a="http://schemas.openxmlformats.org/drawingml/2006/main" w="0">
            <a:solidFill>
              <a:srgbClr val="EE822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02AE91-0BA0-43A1-B631-468C37878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67050"/>
            <a:ext cx="26670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F2933"/>
                </a:solidFill>
              </a:defRPr>
            </a:pPr>
            <a:r>
              <a:rPr sz="1425" b="1">
                <a:solidFill>
                  <a:srgbClr val="1F2933"/>
                </a:solidFill>
              </a:rPr>
              <a:t>主链路字段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111F86-4454-4F82-815A-EA928A9FE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067050"/>
            <a:ext cx="53340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F6B7A"/>
                </a:solidFill>
              </a:defRPr>
            </a:pPr>
            <a:r>
              <a:rPr sz="1425" b="0">
                <a:solidFill>
                  <a:srgbClr val="5F6B7A"/>
                </a:solidFill>
              </a:rPr>
              <a:t>line_name、device_name、prog_no、rivet_id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A3654D-0E4F-41D4-A3A1-50A21CF41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067050"/>
            <a:ext cx="67627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F6B7A"/>
                </a:solidFill>
              </a:defRPr>
            </a:pPr>
            <a:r>
              <a:rPr sz="1425" b="0">
                <a:solidFill>
                  <a:srgbClr val="5F6B7A"/>
                </a:solidFill>
              </a:rPr>
              <a:t>映射到产线、设备、程序、SPR连接点，并由过程记录关联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166E7DA-8900-4D2E-9A5C-54D7C304A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600450"/>
            <a:ext cx="1752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8"/>
          </a:solidFill>
          <a:ln xmlns:a="http://schemas.openxmlformats.org/drawingml/2006/main" w="0">
            <a:solidFill>
              <a:srgbClr val="D9DE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62DA608-0178-405C-8372-5380E0EBC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714750"/>
            <a:ext cx="26670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F2933"/>
                </a:solidFill>
              </a:defRPr>
            </a:pPr>
            <a:r>
              <a:rPr sz="1425" b="1">
                <a:solidFill>
                  <a:srgbClr val="1F2933"/>
                </a:solidFill>
              </a:rPr>
              <a:t>记录元数据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FF2EB3E-C8B8-4022-A47B-4003F44AD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714750"/>
            <a:ext cx="53340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F6B7A"/>
                </a:solidFill>
              </a:defRPr>
            </a:pPr>
            <a:r>
              <a:rPr sz="1425" b="0">
                <a:solidFill>
                  <a:srgbClr val="5F6B7A"/>
                </a:solidFill>
              </a:rPr>
              <a:t>id、biz_id、origin_time、consumer_time、create_time、update_time、is_deleted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961D904-235E-468A-97A9-0D78535C3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714750"/>
            <a:ext cx="67627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F6B7A"/>
                </a:solidFill>
              </a:defRPr>
            </a:pPr>
            <a:r>
              <a:rPr sz="1425" b="0">
                <a:solidFill>
                  <a:srgbClr val="5F6B7A"/>
                </a:solidFill>
              </a:rPr>
              <a:t>新增 SPR过程记录类统一承载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142C632-9642-4A64-8198-84C4A5BC8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267200"/>
            <a:ext cx="1752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8"/>
          </a:solidFill>
          <a:ln xmlns:a="http://schemas.openxmlformats.org/drawingml/2006/main" w="0">
            <a:solidFill>
              <a:srgbClr val="D9DE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017DC97-24B6-4DAF-AC01-EDDE5BFEF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381500"/>
            <a:ext cx="26670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F2933"/>
                </a:solidFill>
              </a:defRPr>
            </a:pPr>
            <a:r>
              <a:rPr sz="1425" b="1">
                <a:solidFill>
                  <a:srgbClr val="1F2933"/>
                </a:solidFill>
              </a:rPr>
              <a:t>曲线字段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8C16288-B891-4296-A550-246A02947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381500"/>
            <a:ext cx="53340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F6B7A"/>
                </a:solidFill>
              </a:defRPr>
            </a:pPr>
            <a:r>
              <a:rPr sz="1425" b="0">
                <a:solidFill>
                  <a:srgbClr val="5F6B7A"/>
                </a:solidFill>
              </a:rPr>
              <a:t>original_data、calculate_data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C544D8A-D8B9-4562-828F-A170E935A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381500"/>
            <a:ext cx="67627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F6B7A"/>
                </a:solidFill>
              </a:defRPr>
            </a:pPr>
            <a:r>
              <a:rPr sz="1425" b="0">
                <a:solidFill>
                  <a:srgbClr val="5F6B7A"/>
                </a:solidFill>
              </a:rPr>
              <a:t>新增 SPR曲线数据类、原始曲线类、计算后曲线类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ED25A84-E041-4297-8465-F9E8A8FB0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914900"/>
            <a:ext cx="1752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8"/>
          </a:solidFill>
          <a:ln xmlns:a="http://schemas.openxmlformats.org/drawingml/2006/main" w="0">
            <a:solidFill>
              <a:srgbClr val="D9DEE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FEBB9F7-2BC8-4F32-A350-783EA096A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029200"/>
            <a:ext cx="26670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F2933"/>
                </a:solidFill>
              </a:defRPr>
            </a:pPr>
            <a:r>
              <a:rPr sz="1425" b="1">
                <a:solidFill>
                  <a:srgbClr val="1F2933"/>
                </a:solidFill>
              </a:rPr>
              <a:t>质量/预测字段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91BDF1F-1C81-467B-8B6B-1F7AD83E7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029200"/>
            <a:ext cx="53340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F6B7A"/>
                </a:solidFill>
              </a:defRPr>
            </a:pPr>
            <a:r>
              <a:rPr sz="1425" b="0">
                <a:solidFill>
                  <a:srgbClr val="5F6B7A"/>
                </a:solidFill>
              </a:rPr>
              <a:t>error_rate、pre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3CE59F6-605A-46AC-9A9E-4B83CC121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5029200"/>
            <a:ext cx="67627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F6B7A"/>
                </a:solidFill>
              </a:defRPr>
            </a:pPr>
            <a:r>
              <a:rPr sz="1425" b="0">
                <a:solidFill>
                  <a:srgbClr val="5F6B7A"/>
                </a:solidFill>
              </a:rPr>
              <a:t>接入质量结果类/模型预测结果类，编码含义待确认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C651595-7031-4BA5-91E8-8D928E98B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581650"/>
            <a:ext cx="1752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8"/>
          </a:solidFill>
          <a:ln xmlns:a="http://schemas.openxmlformats.org/drawingml/2006/main" w="0">
            <a:solidFill>
              <a:srgbClr val="D9DEE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4DDC866-6E9C-4FFE-9417-0AFB1B3EF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695950"/>
            <a:ext cx="26670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F2933"/>
                </a:solidFill>
              </a:defRPr>
            </a:pPr>
            <a:r>
              <a:rPr sz="1425" b="1">
                <a:solidFill>
                  <a:srgbClr val="1F2933"/>
                </a:solidFill>
              </a:rPr>
              <a:t>车身字段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5F37C03-1D2C-4AE2-85BE-00CDF4130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695950"/>
            <a:ext cx="53340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F6B7A"/>
                </a:solidFill>
              </a:defRPr>
            </a:pPr>
            <a:r>
              <a:rPr sz="1425" b="0">
                <a:solidFill>
                  <a:srgbClr val="5F6B7A"/>
                </a:solidFill>
              </a:rPr>
              <a:t>carbody_id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756FD69-461C-415C-84E7-C8A4D6437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5695950"/>
            <a:ext cx="67627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F6B7A"/>
                </a:solidFill>
              </a:defRPr>
            </a:pPr>
            <a:r>
              <a:rPr sz="1425" b="0">
                <a:solidFill>
                  <a:srgbClr val="5F6B7A"/>
                </a:solidFill>
              </a:rPr>
              <a:t>暂作为过程记录属性，后续确认是否新增车身对象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CD51B09-867C-460B-A947-29E819290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229350"/>
            <a:ext cx="1752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8"/>
          </a:solidFill>
          <a:ln xmlns:a="http://schemas.openxmlformats.org/drawingml/2006/main" w="0">
            <a:solidFill>
              <a:srgbClr val="D9DEE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4A5B874-4279-43A0-AC5C-C3FA401D5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9734550"/>
            <a:ext cx="168592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8B95A1"/>
                </a:solidFill>
              </a:defRPr>
            </a:pPr>
            <a:r>
              <a:rPr sz="1050" b="0">
                <a:solidFill>
                  <a:srgbClr val="8B95A1"/>
                </a:solidFill>
              </a:rPr>
              <a:t>SPR 本体更新导师汇报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C3B3C0B-5C28-40ED-8E29-BB898B188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0" y="9734550"/>
            <a:ext cx="666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2409A"/>
                </a:solidFill>
              </a:defRPr>
            </a:pPr>
            <a:r>
              <a:rPr sz="1125" b="1">
                <a:solidFill>
                  <a:srgbClr val="02409A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2081075294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header-blue">
            <a:extLst xmlns:a="http://schemas.openxmlformats.org/drawingml/2006/main">
              <a:ext uri="{FF2B5EF4-FFF2-40B4-BE49-F238E27FC236}">
                <a16:creationId xmlns:a16="http://schemas.microsoft.com/office/drawing/2014/main" id="{7EC23228-C801-4572-B4E6-2DF95D0E2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28600"/>
            <a:ext cx="17526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409A"/>
          </a:solidFill>
          <a:ln xmlns:a="http://schemas.openxmlformats.org/drawingml/2006/main" w="0">
            <a:solidFill>
              <a:srgbClr val="02409A"/>
            </a:solidFill>
            <a:prstDash val="solid"/>
          </a:ln>
        </p:spPr>
      </p:sp>
      <p:sp>
        <p:nvSpPr>
          <p:cNvPr id="2" name="header-accent">
            <a:extLst xmlns:a="http://schemas.openxmlformats.org/drawingml/2006/main">
              <a:ext uri="{FF2B5EF4-FFF2-40B4-BE49-F238E27FC236}">
                <a16:creationId xmlns:a16="http://schemas.microsoft.com/office/drawing/2014/main" id="{4E59A6B2-E75F-4237-B599-2A4CFFC6D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28600"/>
            <a:ext cx="14097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822F"/>
          </a:solidFill>
          <a:ln xmlns:a="http://schemas.openxmlformats.org/drawingml/2006/main" w="0">
            <a:solidFill>
              <a:srgbClr val="EE822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B7FF9F-2185-4211-8A72-DB2FC95D7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1000"/>
            <a:ext cx="142113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十一、字段映射结果：RIP_ROP 明细表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9D5F37-C6FE-494E-AEE6-540D06376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06650" y="381000"/>
            <a:ext cx="2476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DCE8FF"/>
                </a:solidFill>
              </a:defRPr>
            </a:pPr>
            <a:r>
              <a:rPr sz="1275" b="0">
                <a:solidFill>
                  <a:srgbClr val="DCE8FF"/>
                </a:solidFill>
              </a:rPr>
              <a:t>字段映射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19D211-A263-4E86-865C-695A9E4B8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371600"/>
            <a:ext cx="26670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02409A"/>
                </a:solidFill>
              </a:defRPr>
            </a:pPr>
            <a:r>
              <a:rPr sz="4650" b="1">
                <a:solidFill>
                  <a:srgbClr val="02409A"/>
                </a:solidFill>
              </a:rPr>
              <a:t>177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A17D42-E512-4805-9E17-9EA7A0278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000250"/>
            <a:ext cx="2667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F6B7A"/>
                </a:solidFill>
              </a:defRPr>
            </a:pPr>
            <a:r>
              <a:rPr sz="1500" b="0">
                <a:solidFill>
                  <a:srgbClr val="5F6B7A"/>
                </a:solidFill>
              </a:rPr>
              <a:t>样例记录数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EF19B0-6E19-423C-8C0F-B08F36C29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371600"/>
            <a:ext cx="24765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EE822F"/>
                </a:solidFill>
              </a:defRPr>
            </a:pPr>
            <a:r>
              <a:rPr sz="4650" b="1">
                <a:solidFill>
                  <a:srgbClr val="EE822F"/>
                </a:solidFill>
              </a:rPr>
              <a:t>42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89C009-5C55-4976-B5C7-E22672689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000250"/>
            <a:ext cx="2476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F6B7A"/>
                </a:solidFill>
              </a:defRPr>
            </a:pPr>
            <a:r>
              <a:rPr sz="1500" b="0">
                <a:solidFill>
                  <a:srgbClr val="5F6B7A"/>
                </a:solidFill>
              </a:rPr>
              <a:t>字段数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99DDB8-B29A-49DF-B473-1F4DB837C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371600"/>
            <a:ext cx="28575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75BD42"/>
                </a:solidFill>
              </a:defRPr>
            </a:pPr>
            <a:r>
              <a:rPr sz="4650" b="1">
                <a:solidFill>
                  <a:srgbClr val="75BD42"/>
                </a:solidFill>
              </a:rPr>
              <a:t>5 类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6450C9-AC5D-449F-A94E-98F882CF7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000250"/>
            <a:ext cx="2857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F6B7A"/>
                </a:solidFill>
              </a:defRPr>
            </a:pPr>
            <a:r>
              <a:rPr sz="1500" b="0">
                <a:solidFill>
                  <a:srgbClr val="5F6B7A"/>
                </a:solidFill>
              </a:rPr>
              <a:t>主要字段分组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A9831F-CD66-4E75-B1CE-557144D0A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438400"/>
            <a:ext cx="17526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409A"/>
          </a:solidFill>
          <a:ln xmlns:a="http://schemas.openxmlformats.org/drawingml/2006/main" w="0">
            <a:solidFill>
              <a:srgbClr val="02409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BB1D9B-2B76-4539-B007-850906427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95550"/>
            <a:ext cx="2667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字段分组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C5054F-1E63-4A4D-9ECA-108C41C1C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495550"/>
            <a:ext cx="6096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代表字段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F7C4CE-EB10-4D42-BFE8-28C5D41A3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495550"/>
            <a:ext cx="6000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本体承载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1A603A-D07E-4899-9C61-791C74FD5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895600"/>
            <a:ext cx="17526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822F"/>
          </a:solidFill>
          <a:ln xmlns:a="http://schemas.openxmlformats.org/drawingml/2006/main" w="0">
            <a:solidFill>
              <a:srgbClr val="EE822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CE3301-D7D4-4EF5-A3AD-CF257DB07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67050"/>
            <a:ext cx="26670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F2933"/>
                </a:solidFill>
              </a:defRPr>
            </a:pPr>
            <a:r>
              <a:rPr sz="1350" b="1">
                <a:solidFill>
                  <a:srgbClr val="1F2933"/>
                </a:solidFill>
              </a:rPr>
              <a:t>过程上下文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64F040-71A5-4072-8D25-C9F841F18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067050"/>
            <a:ext cx="60960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F6B7A"/>
                </a:solidFill>
              </a:defRPr>
            </a:pPr>
            <a:r>
              <a:rPr sz="1350" b="0">
                <a:solidFill>
                  <a:srgbClr val="5F6B7A"/>
                </a:solidFill>
              </a:rPr>
              <a:t>实物编号、日期/时间、输出、程序、流程类型、铆钉计数器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1A02BC-A7D8-4998-A91A-422135E7E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067050"/>
            <a:ext cx="60007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F6B7A"/>
                </a:solidFill>
              </a:defRPr>
            </a:pPr>
            <a:r>
              <a:rPr sz="1350" b="0">
                <a:solidFill>
                  <a:srgbClr val="5F6B7A"/>
                </a:solidFill>
              </a:rPr>
              <a:t>SPR过程记录类、程序类、工艺类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79124C-4B61-456F-84A8-5D5736796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600450"/>
            <a:ext cx="1752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8"/>
          </a:solidFill>
          <a:ln xmlns:a="http://schemas.openxmlformats.org/drawingml/2006/main" w="0">
            <a:solidFill>
              <a:srgbClr val="D9DE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70C73EC-31E5-418A-A598-4FB2C875F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714750"/>
            <a:ext cx="26670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F2933"/>
                </a:solidFill>
              </a:defRPr>
            </a:pPr>
            <a:r>
              <a:rPr sz="1350" b="1">
                <a:solidFill>
                  <a:srgbClr val="1F2933"/>
                </a:solidFill>
              </a:rPr>
              <a:t>过程参数与材料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1E1AF26-7B59-4638-A2AB-C9A187659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714750"/>
            <a:ext cx="60960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F6B7A"/>
                </a:solidFill>
              </a:defRPr>
            </a:pPr>
            <a:r>
              <a:rPr sz="1350" b="0">
                <a:solidFill>
                  <a:srgbClr val="5F6B7A"/>
                </a:solidFill>
              </a:rPr>
              <a:t>铆接线最大力、冲压行程、钢板厚度、铆钉长度、JIC dVal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4D6EFE3-F664-4177-83E5-30F7FAC0A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714750"/>
            <a:ext cx="60007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F6B7A"/>
                </a:solidFill>
              </a:defRPr>
            </a:pPr>
            <a:r>
              <a:rPr sz="1350" b="0">
                <a:solidFill>
                  <a:srgbClr val="5F6B7A"/>
                </a:solidFill>
              </a:rPr>
              <a:t>工艺参数类、材料类、SPR铆钉类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E38019B-007C-4730-8C13-2B6F61973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267200"/>
            <a:ext cx="1752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8"/>
          </a:solidFill>
          <a:ln xmlns:a="http://schemas.openxmlformats.org/drawingml/2006/main" w="0">
            <a:solidFill>
              <a:srgbClr val="D9DE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1D6F4E8-95A8-4F39-A507-9F5A68D16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381500"/>
            <a:ext cx="26670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F2933"/>
                </a:solidFill>
              </a:defRPr>
            </a:pPr>
            <a:r>
              <a:rPr sz="1350" b="1">
                <a:solidFill>
                  <a:srgbClr val="1F2933"/>
                </a:solidFill>
              </a:rPr>
              <a:t>曲线与包络线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7C6880D-DC21-4423-B152-5B19C6C51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381500"/>
            <a:ext cx="60960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F6B7A"/>
                </a:solidFill>
              </a:defRPr>
            </a:pPr>
            <a:r>
              <a:rPr sz="1350" b="0">
                <a:solidFill>
                  <a:srgbClr val="5F6B7A"/>
                </a:solidFill>
              </a:rPr>
              <a:t>铆接曲线、包络线、最大力、分辨率、Y刻度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1048D41-4222-4920-982F-81F63EECE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381500"/>
            <a:ext cx="60007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F6B7A"/>
                </a:solidFill>
              </a:defRPr>
            </a:pPr>
            <a:r>
              <a:rPr sz="1350" b="0">
                <a:solidFill>
                  <a:srgbClr val="5F6B7A"/>
                </a:solidFill>
              </a:rPr>
              <a:t>铆接曲线类、包络线类、曲线特征类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33ABA72-1E68-4047-B480-819258938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914900"/>
            <a:ext cx="1752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8"/>
          </a:solidFill>
          <a:ln xmlns:a="http://schemas.openxmlformats.org/drawingml/2006/main" w="0">
            <a:solidFill>
              <a:srgbClr val="D9DEE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098169F-F7B8-4C02-9500-59710529F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029200"/>
            <a:ext cx="26670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F2933"/>
                </a:solidFill>
              </a:defRPr>
            </a:pPr>
            <a:r>
              <a:rPr sz="1350" b="1">
                <a:solidFill>
                  <a:srgbClr val="1F2933"/>
                </a:solidFill>
              </a:rPr>
              <a:t>公差与故障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5B17895-02D1-4DEE-9611-575B0D0F1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029200"/>
            <a:ext cx="60960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F6B7A"/>
                </a:solidFill>
              </a:defRPr>
            </a:pPr>
            <a:r>
              <a:rPr sz="1350" b="0">
                <a:solidFill>
                  <a:srgbClr val="5F6B7A"/>
                </a:solidFill>
              </a:rPr>
              <a:t>故障代码、包络线公差警告/故障、末端力公差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B2D7897-156B-4AC3-BA00-094579485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5029200"/>
            <a:ext cx="60007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F6B7A"/>
                </a:solidFill>
              </a:defRPr>
            </a:pPr>
            <a:r>
              <a:rPr sz="1350" b="0">
                <a:solidFill>
                  <a:srgbClr val="5F6B7A"/>
                </a:solidFill>
              </a:rPr>
              <a:t>质量结果类、缺陷类、包络线公差类、末端力公差类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1BEE44C-C141-435E-863C-466B98A8A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581650"/>
            <a:ext cx="1752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8"/>
          </a:solidFill>
          <a:ln xmlns:a="http://schemas.openxmlformats.org/drawingml/2006/main" w="0">
            <a:solidFill>
              <a:srgbClr val="D9DEE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E1E24D2-BACD-4FB8-86A3-C69076A55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695950"/>
            <a:ext cx="26670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F2933"/>
                </a:solidFill>
              </a:defRPr>
            </a:pPr>
            <a:r>
              <a:rPr sz="1350" b="1">
                <a:solidFill>
                  <a:srgbClr val="1F2933"/>
                </a:solidFill>
              </a:rPr>
              <a:t>控制诊断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FF72B3B-50B5-4CA6-BDAB-742372D44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695950"/>
            <a:ext cx="60960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F6B7A"/>
                </a:solidFill>
              </a:defRPr>
            </a:pPr>
            <a:r>
              <a:rPr sz="1350" b="0">
                <a:solidFill>
                  <a:srgbClr val="5F6B7A"/>
                </a:solidFill>
              </a:rPr>
              <a:t>RRC启用、RRC偏差、PECV2 activated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76BA943-5200-4C9D-A77F-4618D4289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5695950"/>
            <a:ext cx="60007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F6B7A"/>
                </a:solidFill>
              </a:defRPr>
            </a:pPr>
            <a:r>
              <a:rPr sz="1350" b="0">
                <a:solidFill>
                  <a:srgbClr val="5F6B7A"/>
                </a:solidFill>
              </a:rPr>
              <a:t>RRC参数类、PECV2状态类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06C61A2-BFE4-4F87-8572-4AFF960BB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229350"/>
            <a:ext cx="1752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8"/>
          </a:solidFill>
          <a:ln xmlns:a="http://schemas.openxmlformats.org/drawingml/2006/main" w="0">
            <a:solidFill>
              <a:srgbClr val="D9DEE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53C6149-2E2A-4D70-87F6-7EEB67EA9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9734550"/>
            <a:ext cx="168592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8B95A1"/>
                </a:solidFill>
              </a:defRPr>
            </a:pPr>
            <a:r>
              <a:rPr sz="1050" b="0">
                <a:solidFill>
                  <a:srgbClr val="8B95A1"/>
                </a:solidFill>
              </a:rPr>
              <a:t>SPR 本体更新导师汇报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BD8653C-DD9A-4F9F-B8B3-A2FF2E287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0" y="9734550"/>
            <a:ext cx="666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2409A"/>
                </a:solidFill>
              </a:defRPr>
            </a:pPr>
            <a:r>
              <a:rPr sz="1125" b="1">
                <a:solidFill>
                  <a:srgbClr val="02409A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490813434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header-blue">
            <a:extLst xmlns:a="http://schemas.openxmlformats.org/drawingml/2006/main">
              <a:ext uri="{FF2B5EF4-FFF2-40B4-BE49-F238E27FC236}">
                <a16:creationId xmlns:a16="http://schemas.microsoft.com/office/drawing/2014/main" id="{EE593EF5-319B-464B-A38D-E876CA4D4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28600"/>
            <a:ext cx="17526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409A"/>
          </a:solidFill>
          <a:ln xmlns:a="http://schemas.openxmlformats.org/drawingml/2006/main" w="0">
            <a:solidFill>
              <a:srgbClr val="02409A"/>
            </a:solidFill>
            <a:prstDash val="solid"/>
          </a:ln>
        </p:spPr>
      </p:sp>
      <p:sp>
        <p:nvSpPr>
          <p:cNvPr id="2" name="header-accent">
            <a:extLst xmlns:a="http://schemas.openxmlformats.org/drawingml/2006/main">
              <a:ext uri="{FF2B5EF4-FFF2-40B4-BE49-F238E27FC236}">
                <a16:creationId xmlns:a16="http://schemas.microsoft.com/office/drawing/2014/main" id="{F2C442DC-B75D-4161-814E-ABA60AB49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28600"/>
            <a:ext cx="14097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822F"/>
          </a:solidFill>
          <a:ln xmlns:a="http://schemas.openxmlformats.org/drawingml/2006/main" w="0">
            <a:solidFill>
              <a:srgbClr val="EE822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6BF99C-E412-4397-A79D-6797394D6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1000"/>
            <a:ext cx="142113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十二、规则层补充建议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3F0C26-B52C-4AE7-8571-80F355DBE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06650" y="381000"/>
            <a:ext cx="2476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DCE8FF"/>
                </a:solidFill>
              </a:defRPr>
            </a:pPr>
            <a:r>
              <a:rPr sz="1275" b="0">
                <a:solidFill>
                  <a:srgbClr val="DCE8FF"/>
                </a:solidFill>
              </a:rPr>
              <a:t>规则层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C4C1F3-04C7-48D2-AD5D-F1187374C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371600"/>
            <a:ext cx="17526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409A"/>
          </a:solidFill>
          <a:ln xmlns:a="http://schemas.openxmlformats.org/drawingml/2006/main" w="0">
            <a:solidFill>
              <a:srgbClr val="02409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908489-A760-4505-BE58-5FEB3C1A7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66850"/>
            <a:ext cx="3238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规则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01EC16-9DEF-4E60-94AA-8BE817204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466850"/>
            <a:ext cx="7239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触发依据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8F9D42-8642-4A17-AE0A-526638048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1466850"/>
            <a:ext cx="4000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当前状态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0C4DDB-083C-4985-978B-A5B5BE3E8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905000"/>
            <a:ext cx="17526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822F"/>
          </a:solidFill>
          <a:ln xmlns:a="http://schemas.openxmlformats.org/drawingml/2006/main" w="0">
            <a:solidFill>
              <a:srgbClr val="EE822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F2010F-CD49-4617-8F8B-C18F0C2FD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38350"/>
            <a:ext cx="32385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F2933"/>
                </a:solidFill>
              </a:defRPr>
            </a:pPr>
            <a:r>
              <a:rPr sz="1425" b="1">
                <a:solidFill>
                  <a:srgbClr val="1F2933"/>
                </a:solidFill>
              </a:rPr>
              <a:t>曲线高于包络线判定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A1BE0A-5EF6-400D-9584-415E55651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038350"/>
            <a:ext cx="72390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F6B7A"/>
                </a:solidFill>
              </a:defRPr>
            </a:pPr>
            <a:r>
              <a:rPr sz="1425" b="0">
                <a:solidFill>
                  <a:srgbClr val="5F6B7A"/>
                </a:solidFill>
              </a:rPr>
              <a:t>故障代码出现“铆接曲线高于包络线”，且记录具有曲线与包络线对象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23E918-574F-4698-B110-EAA8A2F12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2038350"/>
            <a:ext cx="40005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F6B7A"/>
                </a:solidFill>
              </a:defRPr>
            </a:pPr>
            <a:r>
              <a:rPr sz="1425" b="0">
                <a:solidFill>
                  <a:srgbClr val="5F6B7A"/>
                </a:solidFill>
              </a:rPr>
              <a:t>建议新增，具体算法待实现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8AD856-12C7-40E4-BD8B-3C93F2348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705100"/>
            <a:ext cx="1752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8"/>
          </a:solidFill>
          <a:ln xmlns:a="http://schemas.openxmlformats.org/drawingml/2006/main" w="0">
            <a:solidFill>
              <a:srgbClr val="D9DE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96CD7D-AC11-486B-9978-6A77F184F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19400"/>
            <a:ext cx="32385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F2933"/>
                </a:solidFill>
              </a:defRPr>
            </a:pPr>
            <a:r>
              <a:rPr sz="1425" b="1">
                <a:solidFill>
                  <a:srgbClr val="1F2933"/>
                </a:solidFill>
              </a:rPr>
              <a:t>曲线低于包络线判定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5852CC-11EC-4834-9554-5280CD850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819400"/>
            <a:ext cx="72390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F6B7A"/>
                </a:solidFill>
              </a:defRPr>
            </a:pPr>
            <a:r>
              <a:rPr sz="1425" b="0">
                <a:solidFill>
                  <a:srgbClr val="5F6B7A"/>
                </a:solidFill>
              </a:rPr>
              <a:t>故障代码出现“铆接曲线低于包络线”，且记录具有曲线与包络线对象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D60143-65FE-4E39-B3EF-BDCDF6506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2819400"/>
            <a:ext cx="40005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F6B7A"/>
                </a:solidFill>
              </a:defRPr>
            </a:pPr>
            <a:r>
              <a:rPr sz="1425" b="0">
                <a:solidFill>
                  <a:srgbClr val="5F6B7A"/>
                </a:solidFill>
              </a:rPr>
              <a:t>建议新增，具体算法待实现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BA5BDC-C67A-486F-BECE-36D78804A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505200"/>
            <a:ext cx="1752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8"/>
          </a:solidFill>
          <a:ln xmlns:a="http://schemas.openxmlformats.org/drawingml/2006/main" w="0">
            <a:solidFill>
              <a:srgbClr val="D9DE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510911-9E8C-4BB8-A950-60B751FA8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19500"/>
            <a:ext cx="32385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F2933"/>
                </a:solidFill>
              </a:defRPr>
            </a:pPr>
            <a:r>
              <a:rPr sz="1425" b="1">
                <a:solidFill>
                  <a:srgbClr val="1F2933"/>
                </a:solidFill>
              </a:rPr>
              <a:t>冲压行程过大判定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8A2132-B506-4C43-AC7C-99FEB2AD8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619500"/>
            <a:ext cx="72390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F6B7A"/>
                </a:solidFill>
              </a:defRPr>
            </a:pPr>
            <a:r>
              <a:rPr sz="1425" b="0">
                <a:solidFill>
                  <a:srgbClr val="5F6B7A"/>
                </a:solidFill>
              </a:rPr>
              <a:t>故障代码中高频出现“测得得冲压行程过大”，并存在 pressStroke 字段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CE304BA-5C31-4DD0-9853-40EA18953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3619500"/>
            <a:ext cx="40005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F6B7A"/>
                </a:solidFill>
              </a:defRPr>
            </a:pPr>
            <a:r>
              <a:rPr sz="1425" b="0">
                <a:solidFill>
                  <a:srgbClr val="5F6B7A"/>
                </a:solidFill>
              </a:rPr>
              <a:t>建议新增，阈值待确认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3162112-58A6-4512-8919-07C767463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286250"/>
            <a:ext cx="1752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8"/>
          </a:solidFill>
          <a:ln xmlns:a="http://schemas.openxmlformats.org/drawingml/2006/main" w="0">
            <a:solidFill>
              <a:srgbClr val="D9DEE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A727264-EDA9-4425-931B-A7EB51D44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400550"/>
            <a:ext cx="32385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F2933"/>
                </a:solidFill>
              </a:defRPr>
            </a:pPr>
            <a:r>
              <a:rPr sz="1425" b="1">
                <a:solidFill>
                  <a:srgbClr val="1F2933"/>
                </a:solidFill>
              </a:rPr>
              <a:t>预测结果复核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CE6B432-2360-47C8-883B-19A0A0711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400550"/>
            <a:ext cx="72390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F6B7A"/>
                </a:solidFill>
              </a:defRPr>
            </a:pPr>
            <a:r>
              <a:rPr sz="1425" b="0">
                <a:solidFill>
                  <a:srgbClr val="5F6B7A"/>
                </a:solidFill>
              </a:rPr>
              <a:t>模型预测结果存在 errorRate，超过业务阈值时进入复核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106CA7B-6B5B-44E7-AA84-1C22C40D2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4400550"/>
            <a:ext cx="40005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F6B7A"/>
                </a:solidFill>
              </a:defRPr>
            </a:pPr>
            <a:r>
              <a:rPr sz="1425" b="0">
                <a:solidFill>
                  <a:srgbClr val="5F6B7A"/>
                </a:solidFill>
              </a:rPr>
              <a:t>占位建议，阈值与 pre 编码待确认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5204860-F4A5-497F-9676-5FA56E8F4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086350"/>
            <a:ext cx="1752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8"/>
          </a:solidFill>
          <a:ln xmlns:a="http://schemas.openxmlformats.org/drawingml/2006/main" w="0">
            <a:solidFill>
              <a:srgbClr val="D9DEE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DC09C9A-D698-40DD-8A96-7931CEDA1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200650"/>
            <a:ext cx="32385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F2933"/>
                </a:solidFill>
              </a:defRPr>
            </a:pPr>
            <a:r>
              <a:rPr sz="1425" b="1">
                <a:solidFill>
                  <a:srgbClr val="1F2933"/>
                </a:solidFill>
              </a:rPr>
              <a:t>包络线公差预警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4A2923E-2E4F-4A34-8FEE-730CD8F2F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200650"/>
            <a:ext cx="72390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F6B7A"/>
                </a:solidFill>
              </a:defRPr>
            </a:pPr>
            <a:r>
              <a:rPr sz="1425" b="0">
                <a:solidFill>
                  <a:srgbClr val="5F6B7A"/>
                </a:solidFill>
              </a:rPr>
              <a:t>存在包络线公差警告、故障阈值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7E9A564-0277-4B3F-A569-64E7D18BD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5200650"/>
            <a:ext cx="40005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F6B7A"/>
                </a:solidFill>
              </a:defRPr>
            </a:pPr>
            <a:r>
              <a:rPr sz="1425" b="0">
                <a:solidFill>
                  <a:srgbClr val="5F6B7A"/>
                </a:solidFill>
              </a:rPr>
              <a:t>建议作为质量预警规则补充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9444BAC-43A3-44FA-AC09-FA1A718FF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867400"/>
            <a:ext cx="1752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8"/>
          </a:solidFill>
          <a:ln xmlns:a="http://schemas.openxmlformats.org/drawingml/2006/main" w="0">
            <a:solidFill>
              <a:srgbClr val="D9DEE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1F1ACFF-C5BD-4844-B359-8A89114B0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9734550"/>
            <a:ext cx="168592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8B95A1"/>
                </a:solidFill>
              </a:defRPr>
            </a:pPr>
            <a:r>
              <a:rPr sz="1050" b="0">
                <a:solidFill>
                  <a:srgbClr val="8B95A1"/>
                </a:solidFill>
              </a:rPr>
              <a:t>SPR 本体更新导师汇报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9161289-139F-4D37-98F4-48636F79E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0" y="9734550"/>
            <a:ext cx="666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2409A"/>
                </a:solidFill>
              </a:defRPr>
            </a:pPr>
            <a:r>
              <a:rPr sz="1125" b="1">
                <a:solidFill>
                  <a:srgbClr val="02409A"/>
                </a:solidFill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059807932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header-blue">
            <a:extLst xmlns:a="http://schemas.openxmlformats.org/drawingml/2006/main">
              <a:ext uri="{FF2B5EF4-FFF2-40B4-BE49-F238E27FC236}">
                <a16:creationId xmlns:a16="http://schemas.microsoft.com/office/drawing/2014/main" id="{085715B5-7D0C-49D3-B7DD-EE39B9114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28600"/>
            <a:ext cx="17526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409A"/>
          </a:solidFill>
          <a:ln xmlns:a="http://schemas.openxmlformats.org/drawingml/2006/main" w="0">
            <a:solidFill>
              <a:srgbClr val="02409A"/>
            </a:solidFill>
            <a:prstDash val="solid"/>
          </a:ln>
        </p:spPr>
      </p:sp>
      <p:sp>
        <p:nvSpPr>
          <p:cNvPr id="2" name="header-accent">
            <a:extLst xmlns:a="http://schemas.openxmlformats.org/drawingml/2006/main">
              <a:ext uri="{FF2B5EF4-FFF2-40B4-BE49-F238E27FC236}">
                <a16:creationId xmlns:a16="http://schemas.microsoft.com/office/drawing/2014/main" id="{B93173BB-421B-41EC-A698-7AB250BF4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28600"/>
            <a:ext cx="14097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822F"/>
          </a:solidFill>
          <a:ln xmlns:a="http://schemas.openxmlformats.org/drawingml/2006/main" w="0">
            <a:solidFill>
              <a:srgbClr val="EE822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FE0A03-A442-41A1-AF75-A9122C5AB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1000"/>
            <a:ext cx="142113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十三、实例化路径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709BD2-4EB1-4B4E-A867-FABD70070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06650" y="381000"/>
            <a:ext cx="2476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DCE8FF"/>
                </a:solidFill>
              </a:defRPr>
            </a:pPr>
            <a:r>
              <a:rPr sz="1275" b="0">
                <a:solidFill>
                  <a:srgbClr val="DCE8FF"/>
                </a:solidFill>
              </a:rPr>
              <a:t>实例层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9A1CFA-CCDD-42EB-ACDB-AB5414286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371600"/>
            <a:ext cx="7239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409A"/>
                </a:solidFill>
              </a:defRPr>
            </a:pPr>
            <a:r>
              <a:rPr sz="2400" b="1">
                <a:solidFill>
                  <a:srgbClr val="02409A"/>
                </a:solidFill>
              </a:rPr>
              <a:t>主数据库一条记录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1AC583-041B-4D52-B9D3-07F3F3BDE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86690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2409A"/>
          </a:solidFill>
          <a:ln xmlns:a="http://schemas.openxmlformats.org/drawingml/2006/main" w="0">
            <a:solidFill>
              <a:srgbClr val="02409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34500E-2218-4034-BBE4-60A0972E5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847850"/>
            <a:ext cx="4000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9A5821-51BC-4CFC-88EA-70799DF32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43150"/>
            <a:ext cx="819150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F2933"/>
                </a:solidFill>
              </a:defRPr>
            </a:pPr>
            <a:r>
              <a:rPr sz="900" b="1">
                <a:solidFill>
                  <a:srgbClr val="1F2933"/>
                </a:solidFill>
              </a:rPr>
              <a:t>过程记录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5ADFFB-7ED2-4B29-8A4B-522EAD700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847850"/>
            <a:ext cx="1143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A9B4C5"/>
                </a:solidFill>
              </a:defRPr>
            </a:pPr>
            <a:r>
              <a:rPr sz="1350" b="1">
                <a:solidFill>
                  <a:srgbClr val="A9B4C5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4807CC-D6FB-4409-A88B-1905EF44A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86690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0C0B4"/>
          </a:solidFill>
          <a:ln xmlns:a="http://schemas.openxmlformats.org/drawingml/2006/main" w="0">
            <a:solidFill>
              <a:srgbClr val="30C0B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ECEBEC-2C82-4083-87C0-DE7E9D0E0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847850"/>
            <a:ext cx="4000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B5C55A-9C1D-44B9-BE3B-F98E05CCE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343150"/>
            <a:ext cx="819150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F2933"/>
                </a:solidFill>
              </a:defRPr>
            </a:pPr>
            <a:r>
              <a:rPr sz="900" b="1">
                <a:solidFill>
                  <a:srgbClr val="1F2933"/>
                </a:solidFill>
              </a:rPr>
              <a:t>设备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2DEFDD-3F02-4627-BF2C-616112D6D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1847850"/>
            <a:ext cx="1143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A9B4C5"/>
                </a:solidFill>
              </a:defRPr>
            </a:pPr>
            <a:r>
              <a:rPr sz="1350" b="1">
                <a:solidFill>
                  <a:srgbClr val="A9B4C5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DAABDC-518A-4329-99B0-A05429AE7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86690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5BD42"/>
          </a:solidFill>
          <a:ln xmlns:a="http://schemas.openxmlformats.org/drawingml/2006/main" w="0">
            <a:solidFill>
              <a:srgbClr val="75BD4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961CEA-6C47-40DE-9CE1-6A4FB9050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847850"/>
            <a:ext cx="4000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F2F5DA-4A4D-4B32-932B-3193606BA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343150"/>
            <a:ext cx="819150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F2933"/>
                </a:solidFill>
              </a:defRPr>
            </a:pPr>
            <a:r>
              <a:rPr sz="900" b="1">
                <a:solidFill>
                  <a:srgbClr val="1F2933"/>
                </a:solidFill>
              </a:rPr>
              <a:t>程序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4356A2-154B-42B7-AC64-DF565DE86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847850"/>
            <a:ext cx="1143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A9B4C5"/>
                </a:solidFill>
              </a:defRPr>
            </a:pPr>
            <a:r>
              <a:rPr sz="1350" b="1">
                <a:solidFill>
                  <a:srgbClr val="A9B4C5"/>
                </a:solidFill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4F682C-CBD2-4006-B7FB-E3568B2F2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86690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822F"/>
          </a:solidFill>
          <a:ln xmlns:a="http://schemas.openxmlformats.org/drawingml/2006/main" w="0">
            <a:solidFill>
              <a:srgbClr val="EE822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0BB996-4360-4E93-9C35-6DC1D53AF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847850"/>
            <a:ext cx="4000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652D38B-6E8F-4620-A927-86064E1FA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343150"/>
            <a:ext cx="819150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F2933"/>
                </a:solidFill>
              </a:defRPr>
            </a:pPr>
            <a:r>
              <a:rPr sz="900" b="1">
                <a:solidFill>
                  <a:srgbClr val="1F2933"/>
                </a:solidFill>
              </a:rPr>
              <a:t>产线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112111B-CFE8-49D6-8B0A-C2EDB7BDE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847850"/>
            <a:ext cx="1143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A9B4C5"/>
                </a:solidFill>
              </a:defRPr>
            </a:pPr>
            <a:r>
              <a:rPr sz="1350" b="1">
                <a:solidFill>
                  <a:srgbClr val="A9B4C5"/>
                </a:solidFill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649EA49-CB1B-44A2-A12D-8F6EE859A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86690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2409A"/>
          </a:solidFill>
          <a:ln xmlns:a="http://schemas.openxmlformats.org/drawingml/2006/main" w="0">
            <a:solidFill>
              <a:srgbClr val="02409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CD50A1A-A937-49FC-AE4F-2BB20B503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847850"/>
            <a:ext cx="4000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1936DFC-1C8C-4B5D-B9EE-8AD2E1F73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343150"/>
            <a:ext cx="819150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F2933"/>
                </a:solidFill>
              </a:defRPr>
            </a:pPr>
            <a:r>
              <a:rPr sz="900" b="1">
                <a:solidFill>
                  <a:srgbClr val="1F2933"/>
                </a:solidFill>
              </a:rPr>
              <a:t>连接点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06FFB8E-E6BA-4DD1-8A14-974C6A9D0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1847850"/>
            <a:ext cx="1143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A9B4C5"/>
                </a:solidFill>
              </a:defRPr>
            </a:pPr>
            <a:r>
              <a:rPr sz="1350" b="1">
                <a:solidFill>
                  <a:srgbClr val="A9B4C5"/>
                </a:solidFill>
              </a:rPr>
              <a:t>→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9726FBC-45A6-4EE0-85BB-ED2872A79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186690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0C0B4"/>
          </a:solidFill>
          <a:ln xmlns:a="http://schemas.openxmlformats.org/drawingml/2006/main" w="0">
            <a:solidFill>
              <a:srgbClr val="30C0B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025A177-AFA7-4683-A5CA-CB2C83152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847850"/>
            <a:ext cx="4000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F19C8DF-109D-4DA0-BC82-F43A97652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343150"/>
            <a:ext cx="819150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F2933"/>
                </a:solidFill>
              </a:defRPr>
            </a:pPr>
            <a:r>
              <a:rPr sz="900" b="1">
                <a:solidFill>
                  <a:srgbClr val="1F2933"/>
                </a:solidFill>
              </a:rPr>
              <a:t>曲线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0A91B79-9EAC-4AE9-A82D-E86D87C07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47850"/>
            <a:ext cx="1143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A9B4C5"/>
                </a:solidFill>
              </a:defRPr>
            </a:pPr>
            <a:r>
              <a:rPr sz="1350" b="1">
                <a:solidFill>
                  <a:srgbClr val="A9B4C5"/>
                </a:solidFill>
              </a:rPr>
              <a:t>→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1ABE642-BC86-4BC4-93E5-AA7EE44FD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86690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5BD42"/>
          </a:solidFill>
          <a:ln xmlns:a="http://schemas.openxmlformats.org/drawingml/2006/main" w="0">
            <a:solidFill>
              <a:srgbClr val="75BD42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4E879A1-3367-49E7-AC81-7B7CC851D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847850"/>
            <a:ext cx="4000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E863D55-925B-4D2F-9DF8-473509E8A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343150"/>
            <a:ext cx="819150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F2933"/>
                </a:solidFill>
              </a:defRPr>
            </a:pPr>
            <a:r>
              <a:rPr sz="900" b="1">
                <a:solidFill>
                  <a:srgbClr val="1F2933"/>
                </a:solidFill>
              </a:rPr>
              <a:t>预测结果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BAAB8A1-8559-4B79-85BE-FAC087401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6289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822F"/>
          </a:solidFill>
          <a:ln xmlns:a="http://schemas.openxmlformats.org/drawingml/2006/main" w="0">
            <a:solidFill>
              <a:srgbClr val="EE822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169C0AB-FE33-4ED0-B92C-F55FE1B6D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28900"/>
            <a:ext cx="32575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F2933"/>
                </a:solidFill>
              </a:defRPr>
            </a:pPr>
            <a:r>
              <a:rPr sz="1650" b="0">
                <a:solidFill>
                  <a:srgbClr val="1F2933"/>
                </a:solidFill>
              </a:rPr>
              <a:t>以 id/biz_id 建 SPR过程记录实例。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202C82A-DD84-42F4-950A-DD37FF9AB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3147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822F"/>
          </a:solidFill>
          <a:ln xmlns:a="http://schemas.openxmlformats.org/drawingml/2006/main" w="0">
            <a:solidFill>
              <a:srgbClr val="EE822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13FCD72-8CF5-4E6E-A0FC-D865F78D3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14700"/>
            <a:ext cx="46101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F2933"/>
                </a:solidFill>
              </a:defRPr>
            </a:pPr>
            <a:r>
              <a:rPr sz="1650" b="0">
                <a:solidFill>
                  <a:srgbClr val="1F2933"/>
                </a:solidFill>
              </a:rPr>
              <a:t>复用或新建设备、程序、产线、SPR连接点实例。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C7B633F-DBE5-41DB-B6E7-55C1B325D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0005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822F"/>
          </a:solidFill>
          <a:ln xmlns:a="http://schemas.openxmlformats.org/drawingml/2006/main" w="0">
            <a:solidFill>
              <a:srgbClr val="EE822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B792DCF-2FBF-4320-9ADC-04614E3F8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44577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F2933"/>
                </a:solidFill>
              </a:defRPr>
            </a:pPr>
            <a:r>
              <a:rPr sz="1650" b="0">
                <a:solidFill>
                  <a:srgbClr val="1F2933"/>
                </a:solidFill>
              </a:rPr>
              <a:t>挂接原始曲线、计算后曲线、error_rate 与 pre。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3D92FC5-CF06-4CC7-B279-2CA12B809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371600"/>
            <a:ext cx="7239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EE822F"/>
                </a:solidFill>
              </a:defRPr>
            </a:pPr>
            <a:r>
              <a:rPr sz="2400" b="1">
                <a:solidFill>
                  <a:srgbClr val="EE822F"/>
                </a:solidFill>
              </a:rPr>
              <a:t>RIP_ROP 一条记录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406C6B7-8372-477C-9BFF-A14377365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86690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822F"/>
          </a:solidFill>
          <a:ln xmlns:a="http://schemas.openxmlformats.org/drawingml/2006/main" w="0">
            <a:solidFill>
              <a:srgbClr val="EE822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8EC43C0-58A3-410E-843E-C2EFB2E5E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847850"/>
            <a:ext cx="4000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5579DCD-1F43-484C-BC7D-8F309B3CE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343150"/>
            <a:ext cx="819150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F2933"/>
                </a:solidFill>
              </a:defRPr>
            </a:pPr>
            <a:r>
              <a:rPr sz="900" b="1">
                <a:solidFill>
                  <a:srgbClr val="1F2933"/>
                </a:solidFill>
              </a:rPr>
              <a:t>过程记录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39A1922-A705-4E5F-80D7-FFC660840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847850"/>
            <a:ext cx="1143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A9B4C5"/>
                </a:solidFill>
              </a:defRPr>
            </a:pPr>
            <a:r>
              <a:rPr sz="1350" b="1">
                <a:solidFill>
                  <a:srgbClr val="A9B4C5"/>
                </a:solidFill>
              </a:rPr>
              <a:t>→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4047767-8252-4D2E-BE0A-2D0795E47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86690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5BD42"/>
          </a:solidFill>
          <a:ln xmlns:a="http://schemas.openxmlformats.org/drawingml/2006/main" w="0">
            <a:solidFill>
              <a:srgbClr val="75BD42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817C878-8142-43D0-804B-A8F84445C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847850"/>
            <a:ext cx="4000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FD7C122-F15F-49BE-9EEE-AD4B6C924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343150"/>
            <a:ext cx="819150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F2933"/>
                </a:solidFill>
              </a:defRPr>
            </a:pPr>
            <a:r>
              <a:rPr sz="900" b="1">
                <a:solidFill>
                  <a:srgbClr val="1F2933"/>
                </a:solidFill>
              </a:rPr>
              <a:t>参数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D2B3A91-4463-427D-A664-244F2F096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1847850"/>
            <a:ext cx="1143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A9B4C5"/>
                </a:solidFill>
              </a:defRPr>
            </a:pPr>
            <a:r>
              <a:rPr sz="1350" b="1">
                <a:solidFill>
                  <a:srgbClr val="A9B4C5"/>
                </a:solidFill>
              </a:rPr>
              <a:t>→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6D3FC1F-2ABC-4541-BBF0-84E938AEA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186690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0C0B4"/>
          </a:solidFill>
          <a:ln xmlns:a="http://schemas.openxmlformats.org/drawingml/2006/main" w="0">
            <a:solidFill>
              <a:srgbClr val="30C0B4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A724B99-B1EC-4AC6-9648-84753CA85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847850"/>
            <a:ext cx="4000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F4584FA-B105-410B-90DE-CC90771DE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343150"/>
            <a:ext cx="819150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F2933"/>
                </a:solidFill>
              </a:defRPr>
            </a:pPr>
            <a:r>
              <a:rPr sz="900" b="1">
                <a:solidFill>
                  <a:srgbClr val="1F2933"/>
                </a:solidFill>
              </a:rPr>
              <a:t>铆接曲线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1E64EE4-B1E7-4840-85D1-EFFAF221A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1847850"/>
            <a:ext cx="1143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A9B4C5"/>
                </a:solidFill>
              </a:defRPr>
            </a:pPr>
            <a:r>
              <a:rPr sz="1350" b="1">
                <a:solidFill>
                  <a:srgbClr val="A9B4C5"/>
                </a:solidFill>
              </a:rPr>
              <a:t>→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83B1288-EA8F-42FC-8DFB-F9B0BA4B8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186690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54C5E"/>
          </a:solidFill>
          <a:ln xmlns:a="http://schemas.openxmlformats.org/drawingml/2006/main" w="0">
            <a:solidFill>
              <a:srgbClr val="E54C5E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2314088-F073-4964-9DBB-DED5A1311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1847850"/>
            <a:ext cx="4000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B980A90-8BC7-411C-81F3-D88393D19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2343150"/>
            <a:ext cx="819150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F2933"/>
                </a:solidFill>
              </a:defRPr>
            </a:pPr>
            <a:r>
              <a:rPr sz="900" b="1">
                <a:solidFill>
                  <a:srgbClr val="1F2933"/>
                </a:solidFill>
              </a:rPr>
              <a:t>包络线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A0501CB-EAC2-42BC-BB75-2D4E3F7B0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68150" y="1847850"/>
            <a:ext cx="1143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A9B4C5"/>
                </a:solidFill>
              </a:defRPr>
            </a:pPr>
            <a:r>
              <a:rPr sz="1350" b="1">
                <a:solidFill>
                  <a:srgbClr val="A9B4C5"/>
                </a:solidFill>
              </a:rPr>
              <a:t>→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9398C0B-492D-45B9-AAF1-314BA10FB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9600" y="186690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822F"/>
          </a:solidFill>
          <a:ln xmlns:a="http://schemas.openxmlformats.org/drawingml/2006/main" w="0">
            <a:solidFill>
              <a:srgbClr val="EE822F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65CEE70-092A-48E3-974E-9744F79FE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0550" y="1847850"/>
            <a:ext cx="4000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F29DDA8-D0CB-4611-89B4-763FD2125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0550" y="2343150"/>
            <a:ext cx="819150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F2933"/>
                </a:solidFill>
              </a:defRPr>
            </a:pPr>
            <a:r>
              <a:rPr sz="900" b="1">
                <a:solidFill>
                  <a:srgbClr val="1F2933"/>
                </a:solidFill>
              </a:rPr>
              <a:t>公差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F15B9E34-D2F5-496B-A46E-54DD07134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77800" y="1847850"/>
            <a:ext cx="1143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A9B4C5"/>
                </a:solidFill>
              </a:defRPr>
            </a:pPr>
            <a:r>
              <a:rPr sz="1350" b="1">
                <a:solidFill>
                  <a:srgbClr val="A9B4C5"/>
                </a:solidFill>
              </a:rPr>
              <a:t>→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9C21BE5B-A47A-4E52-8E58-0FAEC4CA3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30200" y="186690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5BD42"/>
          </a:solidFill>
          <a:ln xmlns:a="http://schemas.openxmlformats.org/drawingml/2006/main" w="0">
            <a:solidFill>
              <a:srgbClr val="75BD42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39CF259-BA3F-475E-AF23-6366D1D9C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30200" y="1847850"/>
            <a:ext cx="4000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272CAE37-0F01-4805-B22C-D122EC08B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30200" y="2343150"/>
            <a:ext cx="819150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F2933"/>
                </a:solidFill>
              </a:defRPr>
            </a:pPr>
            <a:r>
              <a:rPr sz="900" b="1">
                <a:solidFill>
                  <a:srgbClr val="1F2933"/>
                </a:solidFill>
              </a:rPr>
              <a:t>质量结果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AE425268-1CF6-4F3C-859A-8DE86B3BD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87450" y="1847850"/>
            <a:ext cx="1143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A9B4C5"/>
                </a:solidFill>
              </a:defRPr>
            </a:pPr>
            <a:r>
              <a:rPr sz="1350" b="1">
                <a:solidFill>
                  <a:srgbClr val="A9B4C5"/>
                </a:solidFill>
              </a:rPr>
              <a:t>→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A3F3DEEC-9025-4A8C-A4C4-A8D141C27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58900" y="186690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0C0B4"/>
          </a:solidFill>
          <a:ln xmlns:a="http://schemas.openxmlformats.org/drawingml/2006/main" w="0">
            <a:solidFill>
              <a:srgbClr val="30C0B4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26CA8E02-72AB-4035-80C9-75AE4091E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39850" y="1847850"/>
            <a:ext cx="4000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89E92358-D29E-4CC6-B5C9-604433AF8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39850" y="2343150"/>
            <a:ext cx="819150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F2933"/>
                </a:solidFill>
              </a:defRPr>
            </a:pPr>
            <a:r>
              <a:rPr sz="900" b="1">
                <a:solidFill>
                  <a:srgbClr val="1F2933"/>
                </a:solidFill>
              </a:rPr>
              <a:t>RRC/PECV2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BE50C2CB-16A2-496A-AFB6-98B9220DC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6289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822F"/>
          </a:solidFill>
          <a:ln xmlns:a="http://schemas.openxmlformats.org/drawingml/2006/main" w="0">
            <a:solidFill>
              <a:srgbClr val="EE822F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E1D127F5-AB68-4D19-A30A-5DFD6A8AC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628900"/>
            <a:ext cx="44005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F2933"/>
                </a:solidFill>
              </a:defRPr>
            </a:pPr>
            <a:r>
              <a:rPr sz="1650" b="0">
                <a:solidFill>
                  <a:srgbClr val="1F2933"/>
                </a:solidFill>
              </a:rPr>
              <a:t>记录实物编号、时间、输出、程序和流程类型。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094CD284-8BD9-4E4E-A21F-71A0880C6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3147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822F"/>
          </a:solidFill>
          <a:ln xmlns:a="http://schemas.openxmlformats.org/drawingml/2006/main" w="0">
            <a:solidFill>
              <a:srgbClr val="EE822F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03273B39-A96C-4B5F-86CE-1507D81BE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314700"/>
            <a:ext cx="44005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F2933"/>
                </a:solidFill>
              </a:defRPr>
            </a:pPr>
            <a:r>
              <a:rPr sz="1650" b="0">
                <a:solidFill>
                  <a:srgbClr val="1F2933"/>
                </a:solidFill>
              </a:rPr>
              <a:t>实例化实测力、行程、板厚、铆钉长度等参数。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7A46FF96-8469-4AB0-85E5-34D4B6D4C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0005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822F"/>
          </a:solidFill>
          <a:ln xmlns:a="http://schemas.openxmlformats.org/drawingml/2006/main" w="0">
            <a:solidFill>
              <a:srgbClr val="EE822F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60D5E309-F2CD-4102-9A83-2DE71E9BD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000500"/>
            <a:ext cx="44005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F2933"/>
                </a:solidFill>
              </a:defRPr>
            </a:pPr>
            <a:r>
              <a:rPr sz="1650" b="0">
                <a:solidFill>
                  <a:srgbClr val="1F2933"/>
                </a:solidFill>
              </a:rPr>
              <a:t>关联包络线、公差、故障代码和控制诊断状态。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57A56A3C-E569-4211-9841-D8A08FA56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9734550"/>
            <a:ext cx="168592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8B95A1"/>
                </a:solidFill>
              </a:defRPr>
            </a:pPr>
            <a:r>
              <a:rPr sz="1050" b="0">
                <a:solidFill>
                  <a:srgbClr val="8B95A1"/>
                </a:solidFill>
              </a:rPr>
              <a:t>SPR 本体更新导师汇报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04F5AC12-F72C-4743-9EB6-BF150B9A5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0" y="9734550"/>
            <a:ext cx="666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2409A"/>
                </a:solidFill>
              </a:defRPr>
            </a:pPr>
            <a:r>
              <a:rPr sz="1125" b="1">
                <a:solidFill>
                  <a:srgbClr val="02409A"/>
                </a:solidFill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436787182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header-blue">
            <a:extLst xmlns:a="http://schemas.openxmlformats.org/drawingml/2006/main">
              <a:ext uri="{FF2B5EF4-FFF2-40B4-BE49-F238E27FC236}">
                <a16:creationId xmlns:a16="http://schemas.microsoft.com/office/drawing/2014/main" id="{FC9ABB3E-AC7E-4937-9D86-FFE1A7CBF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28600"/>
            <a:ext cx="17526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409A"/>
          </a:solidFill>
          <a:ln xmlns:a="http://schemas.openxmlformats.org/drawingml/2006/main" w="0">
            <a:solidFill>
              <a:srgbClr val="02409A"/>
            </a:solidFill>
            <a:prstDash val="solid"/>
          </a:ln>
        </p:spPr>
      </p:sp>
      <p:sp>
        <p:nvSpPr>
          <p:cNvPr id="2" name="header-accent">
            <a:extLst xmlns:a="http://schemas.openxmlformats.org/drawingml/2006/main">
              <a:ext uri="{FF2B5EF4-FFF2-40B4-BE49-F238E27FC236}">
                <a16:creationId xmlns:a16="http://schemas.microsoft.com/office/drawing/2014/main" id="{120E3FDC-2D77-4235-8A12-688B9F820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28600"/>
            <a:ext cx="14097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822F"/>
          </a:solidFill>
          <a:ln xmlns:a="http://schemas.openxmlformats.org/drawingml/2006/main" w="0">
            <a:solidFill>
              <a:srgbClr val="EE822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1BAD2C-A3B7-49D3-A903-31CB301C0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1000"/>
            <a:ext cx="142113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十四、顶层本体补充建议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3E404C-4DB2-4BB6-8A9C-426CF97FD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06650" y="381000"/>
            <a:ext cx="2476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DCE8FF"/>
                </a:solidFill>
              </a:defRPr>
            </a:pPr>
            <a:r>
              <a:rPr sz="1275" b="0">
                <a:solidFill>
                  <a:srgbClr val="DCE8FF"/>
                </a:solidFill>
              </a:rPr>
              <a:t>顶层建议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16323E-54B7-40E6-BDD5-7E92BC08B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371600"/>
            <a:ext cx="108394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F2933"/>
                </a:solidFill>
              </a:defRPr>
            </a:pPr>
            <a:r>
              <a:rPr sz="2250" b="1">
                <a:solidFill>
                  <a:srgbClr val="1F2933"/>
                </a:solidFill>
              </a:rPr>
              <a:t>只有具备跨工艺复用价值的抽象建议上升到顶层；SPR 专属控制项留在 SPR 扩展层。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591989-D87E-473D-B6AB-B666CD3CB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905000"/>
            <a:ext cx="17526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409A"/>
          </a:solidFill>
          <a:ln xmlns:a="http://schemas.openxmlformats.org/drawingml/2006/main" w="0">
            <a:solidFill>
              <a:srgbClr val="02409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9F62C8-B6E0-46D9-AB45-280B2546E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62150"/>
            <a:ext cx="3810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建议上升顶层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57F20C-BA2E-42A7-A29A-F31EDA294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962150"/>
            <a:ext cx="9810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原因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FBD0AB-65FB-4F4C-B286-BA0CD916A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62200"/>
            <a:ext cx="17526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822F"/>
          </a:solidFill>
          <a:ln xmlns:a="http://schemas.openxmlformats.org/drawingml/2006/main" w="0">
            <a:solidFill>
              <a:srgbClr val="EE822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51DC13-723F-4DEC-91A6-8F4FD752A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33650"/>
            <a:ext cx="38100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F2933"/>
                </a:solidFill>
              </a:defRPr>
            </a:pPr>
            <a:r>
              <a:rPr sz="1575" b="1">
                <a:solidFill>
                  <a:srgbClr val="1F2933"/>
                </a:solidFill>
              </a:rPr>
              <a:t>在线过程记录类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096DEB-EBE1-4178-9C1B-4FC341613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533650"/>
            <a:ext cx="98107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F6B7A"/>
                </a:solidFill>
              </a:defRPr>
            </a:pPr>
            <a:r>
              <a:rPr sz="1575" b="0">
                <a:solidFill>
                  <a:srgbClr val="5F6B7A"/>
                </a:solidFill>
              </a:rPr>
              <a:t>点焊、涂胶、FDS 等工艺也会产生设备采集记录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90C93B-7F83-4564-9D72-F6809B8D6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067050"/>
            <a:ext cx="1752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8"/>
          </a:solidFill>
          <a:ln xmlns:a="http://schemas.openxmlformats.org/drawingml/2006/main" w="0">
            <a:solidFill>
              <a:srgbClr val="D9DE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F01431-EBEF-411E-9260-262D58BE5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181350"/>
            <a:ext cx="38100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F2933"/>
                </a:solidFill>
              </a:defRPr>
            </a:pPr>
            <a:r>
              <a:rPr sz="1575" b="1">
                <a:solidFill>
                  <a:srgbClr val="1F2933"/>
                </a:solidFill>
              </a:rPr>
              <a:t>过程数据 / 曲线数据类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4E82DE-8CFF-41E1-90AB-0BEE5E248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81350"/>
            <a:ext cx="98107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F6B7A"/>
                </a:solidFill>
              </a:defRPr>
            </a:pPr>
            <a:r>
              <a:rPr sz="1575" b="0">
                <a:solidFill>
                  <a:srgbClr val="5F6B7A"/>
                </a:solidFill>
              </a:rPr>
              <a:t>多工艺都有压力、电流、力位移、流量等时序或曲线数据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BF3CF5-4888-4A95-A540-8877EEFD0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733800"/>
            <a:ext cx="1752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8"/>
          </a:solidFill>
          <a:ln xmlns:a="http://schemas.openxmlformats.org/drawingml/2006/main" w="0">
            <a:solidFill>
              <a:srgbClr val="D9DE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00E07F-6FB1-49E7-A9A5-4429CD1A8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848100"/>
            <a:ext cx="38100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F2933"/>
                </a:solidFill>
              </a:defRPr>
            </a:pPr>
            <a:r>
              <a:rPr sz="1575" b="1">
                <a:solidFill>
                  <a:srgbClr val="1F2933"/>
                </a:solidFill>
              </a:rPr>
              <a:t>参考曲线 / 包络线类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03A36E-AF92-4B9C-B73D-74B38FD4C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848100"/>
            <a:ext cx="98107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F6B7A"/>
                </a:solidFill>
              </a:defRPr>
            </a:pPr>
            <a:r>
              <a:rPr sz="1575" b="0">
                <a:solidFill>
                  <a:srgbClr val="5F6B7A"/>
                </a:solidFill>
              </a:rPr>
              <a:t>可作为工艺窗口的曲线化表达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303E85-CBE2-4E9E-BBF8-C68BF010F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381500"/>
            <a:ext cx="1752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8"/>
          </a:solidFill>
          <a:ln xmlns:a="http://schemas.openxmlformats.org/drawingml/2006/main" w="0">
            <a:solidFill>
              <a:srgbClr val="D9DE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363BE50-FB68-4731-A077-93EEC709F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495800"/>
            <a:ext cx="38100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F2933"/>
                </a:solidFill>
              </a:defRPr>
            </a:pPr>
            <a:r>
              <a:rPr sz="1575" b="1">
                <a:solidFill>
                  <a:srgbClr val="1F2933"/>
                </a:solidFill>
              </a:rPr>
              <a:t>公差阈值类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DF015C4-7B33-4281-9A20-A588FD72C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495800"/>
            <a:ext cx="98107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F6B7A"/>
                </a:solidFill>
              </a:defRPr>
            </a:pPr>
            <a:r>
              <a:rPr sz="1575" b="0">
                <a:solidFill>
                  <a:srgbClr val="5F6B7A"/>
                </a:solidFill>
              </a:rPr>
              <a:t>统一参数越界、质量预警和故障阈值表达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4112A5C-108A-44CD-B2F5-DE68DED78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048250"/>
            <a:ext cx="1752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8"/>
          </a:solidFill>
          <a:ln xmlns:a="http://schemas.openxmlformats.org/drawingml/2006/main" w="0">
            <a:solidFill>
              <a:srgbClr val="D9DEE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EFCDB97-2225-452F-BB7B-E259E1F6B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162550"/>
            <a:ext cx="38100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F2933"/>
                </a:solidFill>
              </a:defRPr>
            </a:pPr>
            <a:r>
              <a:rPr sz="1575" b="1">
                <a:solidFill>
                  <a:srgbClr val="1F2933"/>
                </a:solidFill>
              </a:rPr>
              <a:t>模型预测结果类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789AB66-D323-4825-8247-2B1E907CD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162550"/>
            <a:ext cx="98107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F6B7A"/>
                </a:solidFill>
              </a:defRPr>
            </a:pPr>
            <a:r>
              <a:rPr sz="1575" b="0">
                <a:solidFill>
                  <a:srgbClr val="5F6B7A"/>
                </a:solidFill>
              </a:rPr>
              <a:t>支撑后续模型服务、质量预测和 Action 输出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908802A-3B22-4D67-8590-406E79533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695950"/>
            <a:ext cx="1752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8"/>
          </a:solidFill>
          <a:ln xmlns:a="http://schemas.openxmlformats.org/drawingml/2006/main" w="0">
            <a:solidFill>
              <a:srgbClr val="D9DEE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2E85D29-CE88-42D4-B0AB-8E0200684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810250"/>
            <a:ext cx="38100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F2933"/>
                </a:solidFill>
              </a:defRPr>
            </a:pPr>
            <a:r>
              <a:rPr sz="1575" b="1">
                <a:solidFill>
                  <a:srgbClr val="1F2933"/>
                </a:solidFill>
              </a:rPr>
              <a:t>数据处理过程类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294C2A4-403D-4F2D-A339-DC65E51A9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810250"/>
            <a:ext cx="98107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F6B7A"/>
                </a:solidFill>
              </a:defRPr>
            </a:pPr>
            <a:r>
              <a:rPr sz="1575" b="0">
                <a:solidFill>
                  <a:srgbClr val="5F6B7A"/>
                </a:solidFill>
              </a:rPr>
              <a:t>追溯原始数据到计算后数据的处理方法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3FC1CE7-15D7-4220-B1AF-AEF758B76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362700"/>
            <a:ext cx="1752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8"/>
          </a:solidFill>
          <a:ln xmlns:a="http://schemas.openxmlformats.org/drawingml/2006/main" w="0">
            <a:solidFill>
              <a:srgbClr val="D9DEE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BFAC6CD-B2B1-4DBD-955A-C1C70232A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9734550"/>
            <a:ext cx="168592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8B95A1"/>
                </a:solidFill>
              </a:defRPr>
            </a:pPr>
            <a:r>
              <a:rPr sz="1050" b="0">
                <a:solidFill>
                  <a:srgbClr val="8B95A1"/>
                </a:solidFill>
              </a:rPr>
              <a:t>SPR 本体更新导师汇报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3766B2C-18A1-4DBD-8AD4-AC3B5F211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0" y="9734550"/>
            <a:ext cx="666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2409A"/>
                </a:solidFill>
              </a:defRPr>
            </a:pPr>
            <a:r>
              <a:rPr sz="1125" b="1">
                <a:solidFill>
                  <a:srgbClr val="02409A"/>
                </a:solidFill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695865991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header-blue">
            <a:extLst xmlns:a="http://schemas.openxmlformats.org/drawingml/2006/main">
              <a:ext uri="{FF2B5EF4-FFF2-40B4-BE49-F238E27FC236}">
                <a16:creationId xmlns:a16="http://schemas.microsoft.com/office/drawing/2014/main" id="{BCBD37F4-5208-4EA6-894D-B62526B22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28600"/>
            <a:ext cx="17526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409A"/>
          </a:solidFill>
          <a:ln xmlns:a="http://schemas.openxmlformats.org/drawingml/2006/main" w="0">
            <a:solidFill>
              <a:srgbClr val="02409A"/>
            </a:solidFill>
            <a:prstDash val="solid"/>
          </a:ln>
        </p:spPr>
      </p:sp>
      <p:sp>
        <p:nvSpPr>
          <p:cNvPr id="2" name="header-accent">
            <a:extLst xmlns:a="http://schemas.openxmlformats.org/drawingml/2006/main">
              <a:ext uri="{FF2B5EF4-FFF2-40B4-BE49-F238E27FC236}">
                <a16:creationId xmlns:a16="http://schemas.microsoft.com/office/drawing/2014/main" id="{7DAFD86D-B3B5-41E3-B8E5-8DC91A7CD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28600"/>
            <a:ext cx="14097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822F"/>
          </a:solidFill>
          <a:ln xmlns:a="http://schemas.openxmlformats.org/drawingml/2006/main" w="0">
            <a:solidFill>
              <a:srgbClr val="EE822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9BE4B2-2242-4C02-9096-3D45A9893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1000"/>
            <a:ext cx="142113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十五、待确认问题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7A29E9-E59A-4CD2-9C3A-E7474CECF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06650" y="381000"/>
            <a:ext cx="2476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DCE8FF"/>
                </a:solidFill>
              </a:defRPr>
            </a:pPr>
            <a:r>
              <a:rPr sz="1275" b="0">
                <a:solidFill>
                  <a:srgbClr val="DCE8FF"/>
                </a:solidFill>
              </a:rPr>
              <a:t>待确认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BAB2BE-AE4D-4FF2-9DD7-CBC882F34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371600"/>
            <a:ext cx="17526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409A"/>
          </a:solidFill>
          <a:ln xmlns:a="http://schemas.openxmlformats.org/drawingml/2006/main" w="0">
            <a:solidFill>
              <a:srgbClr val="02409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0DC764-1B32-41EC-837F-B7E56F53B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66850"/>
            <a:ext cx="1619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优先级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F28141-974A-4B97-B258-486E267F9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466850"/>
            <a:ext cx="7524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待确认问题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0C07B3-9924-439D-A6B1-FA864A662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1466850"/>
            <a:ext cx="5334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当前建模处理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8DE0E6-170F-4223-9694-E6C4E9762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905000"/>
            <a:ext cx="17526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822F"/>
          </a:solidFill>
          <a:ln xmlns:a="http://schemas.openxmlformats.org/drawingml/2006/main" w="0">
            <a:solidFill>
              <a:srgbClr val="EE822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AA62DC-BB0E-4094-AAF3-5E0FACEAA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38350"/>
            <a:ext cx="16192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F2933"/>
                </a:solidFill>
              </a:defRPr>
            </a:pPr>
            <a:r>
              <a:rPr sz="1425" b="1">
                <a:solidFill>
                  <a:srgbClr val="1F2933"/>
                </a:solidFill>
              </a:rPr>
              <a:t>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8AD4B8-AAA9-4C00-AEF7-BC63D06B4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038350"/>
            <a:ext cx="75247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F6B7A"/>
                </a:solidFill>
              </a:defRPr>
            </a:pPr>
            <a:r>
              <a:rPr sz="1425" b="0">
                <a:solidFill>
                  <a:srgbClr val="5F6B7A"/>
                </a:solidFill>
              </a:rPr>
              <a:t>pre 中 0、1、3 的业务含义，是否对应合格/异常/其他类别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C8B24F-FDC8-4139-82E4-3CCAEDB58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038350"/>
            <a:ext cx="5334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F6B7A"/>
                </a:solidFill>
              </a:defRPr>
            </a:pPr>
            <a:r>
              <a:rPr sz="1425" b="0">
                <a:solidFill>
                  <a:srgbClr val="5F6B7A"/>
                </a:solidFill>
              </a:rPr>
              <a:t>暂作为 predictionCategory 编码，不直接推断质量状态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31488B-B972-466F-A861-3822116A2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647950"/>
            <a:ext cx="1752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8"/>
          </a:solidFill>
          <a:ln xmlns:a="http://schemas.openxmlformats.org/drawingml/2006/main" w="0">
            <a:solidFill>
              <a:srgbClr val="D9DE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1DBF70-93FB-4C27-B95E-304F0D093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762250"/>
            <a:ext cx="16192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F2933"/>
                </a:solidFill>
              </a:defRPr>
            </a:pPr>
            <a:r>
              <a:rPr sz="1425" b="1">
                <a:solidFill>
                  <a:srgbClr val="1F2933"/>
                </a:solidFill>
              </a:rPr>
              <a:t>高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7785CA-E1CB-4BD7-AEAF-13B56A7A2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762250"/>
            <a:ext cx="75247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F6B7A"/>
                </a:solidFill>
              </a:defRPr>
            </a:pPr>
            <a:r>
              <a:rPr sz="1425" b="0">
                <a:solidFill>
                  <a:srgbClr val="5F6B7A"/>
                </a:solidFill>
              </a:rPr>
              <a:t>error_rate 中 88.040、99.990、95.700 等异常大值的口径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E7A2B2-BFE1-481D-B52F-94FBA5EDB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762250"/>
            <a:ext cx="5334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F6B7A"/>
                </a:solidFill>
              </a:defRPr>
            </a:pPr>
            <a:r>
              <a:rPr sz="1425" b="0">
                <a:solidFill>
                  <a:srgbClr val="5F6B7A"/>
                </a:solidFill>
              </a:rPr>
              <a:t>保留原值并标记为需确认，不做阈值规则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6CC1C7-DDC8-4FB8-A384-A038FFA9B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390900"/>
            <a:ext cx="1752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8"/>
          </a:solidFill>
          <a:ln xmlns:a="http://schemas.openxmlformats.org/drawingml/2006/main" w="0">
            <a:solidFill>
              <a:srgbClr val="D9DE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7D66CB-1C55-4915-ACFA-C17C534A8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05200"/>
            <a:ext cx="16192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F2933"/>
                </a:solidFill>
              </a:defRPr>
            </a:pPr>
            <a:r>
              <a:rPr sz="1425" b="1">
                <a:solidFill>
                  <a:srgbClr val="1F2933"/>
                </a:solidFill>
              </a:rPr>
              <a:t>高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8A0B4E0-0CB2-4F28-8027-F1942197F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505200"/>
            <a:ext cx="75247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F6B7A"/>
                </a:solidFill>
              </a:defRPr>
            </a:pPr>
            <a:r>
              <a:rPr sz="1425" b="0">
                <a:solidFill>
                  <a:srgbClr val="5F6B7A"/>
                </a:solidFill>
              </a:rPr>
              <a:t>original_data 与 calculate_data 的计算方式、缩放关系和单位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7DC4D63-9EC7-4DBF-8237-670A78E2F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505200"/>
            <a:ext cx="5334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F6B7A"/>
                </a:solidFill>
              </a:defRPr>
            </a:pPr>
            <a:r>
              <a:rPr sz="1425" b="0">
                <a:solidFill>
                  <a:srgbClr val="5F6B7A"/>
                </a:solidFill>
              </a:rPr>
              <a:t>建立处理前后关系，计算方法待补充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54651C9-8B66-4631-A21C-BDAFCDABE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114800"/>
            <a:ext cx="1752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8"/>
          </a:solidFill>
          <a:ln xmlns:a="http://schemas.openxmlformats.org/drawingml/2006/main" w="0">
            <a:solidFill>
              <a:srgbClr val="D9DEE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C20CBAC-CF54-44D7-8AB0-BC5E27F9F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29100"/>
            <a:ext cx="16192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F2933"/>
                </a:solidFill>
              </a:defRPr>
            </a:pPr>
            <a:r>
              <a:rPr sz="1425" b="1">
                <a:solidFill>
                  <a:srgbClr val="1F2933"/>
                </a:solidFill>
              </a:rPr>
              <a:t>中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D925F3E-CF83-4AC4-9AD5-30533299D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229100"/>
            <a:ext cx="75247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F6B7A"/>
                </a:solidFill>
              </a:defRPr>
            </a:pPr>
            <a:r>
              <a:rPr sz="1425" b="0">
                <a:solidFill>
                  <a:srgbClr val="5F6B7A"/>
                </a:solidFill>
              </a:rPr>
              <a:t>carbody_id / 车身标识是否需要新增车身对象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4854BC4-0234-4C93-88C6-CB906FCF3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4229100"/>
            <a:ext cx="5334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F6B7A"/>
                </a:solidFill>
              </a:defRPr>
            </a:pPr>
            <a:r>
              <a:rPr sz="1425" b="0">
                <a:solidFill>
                  <a:srgbClr val="5F6B7A"/>
                </a:solidFill>
              </a:rPr>
              <a:t>先作为过程记录属性保留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4E7EB63-EB4C-49CE-9AF3-3D79A7A7C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857750"/>
            <a:ext cx="1752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8"/>
          </a:solidFill>
          <a:ln xmlns:a="http://schemas.openxmlformats.org/drawingml/2006/main" w="0">
            <a:solidFill>
              <a:srgbClr val="D9DEE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6F32F0F-0D36-444C-9498-88E0AEDBB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972050"/>
            <a:ext cx="16192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F2933"/>
                </a:solidFill>
              </a:defRPr>
            </a:pPr>
            <a:r>
              <a:rPr sz="1425" b="1">
                <a:solidFill>
                  <a:srgbClr val="1F2933"/>
                </a:solidFill>
              </a:rPr>
              <a:t>中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A2E7F41-AB1F-47A5-8597-47D8AF9B6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972050"/>
            <a:ext cx="75247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F6B7A"/>
                </a:solidFill>
              </a:defRPr>
            </a:pPr>
            <a:r>
              <a:rPr sz="1425" b="0">
                <a:solidFill>
                  <a:srgbClr val="5F6B7A"/>
                </a:solidFill>
              </a:rPr>
              <a:t>RRC、PECV2、JIC dVal 的真实业务含义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71D75F1-DC57-44F3-8D8E-E2E87E0F5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4972050"/>
            <a:ext cx="5334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F6B7A"/>
                </a:solidFill>
              </a:defRPr>
            </a:pPr>
            <a:r>
              <a:rPr sz="1425" b="0">
                <a:solidFill>
                  <a:srgbClr val="5F6B7A"/>
                </a:solidFill>
              </a:rPr>
              <a:t>暂建 SPR 专属参数/状态类，不上升顶层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E6613A7-6E99-4361-B2E8-CC5FA9B5E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581650"/>
            <a:ext cx="1752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8"/>
          </a:solidFill>
          <a:ln xmlns:a="http://schemas.openxmlformats.org/drawingml/2006/main" w="0">
            <a:solidFill>
              <a:srgbClr val="D9DEE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0A22F47-FD10-4B55-8036-B21AEF5B9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9734550"/>
            <a:ext cx="168592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8B95A1"/>
                </a:solidFill>
              </a:defRPr>
            </a:pPr>
            <a:r>
              <a:rPr sz="1050" b="0">
                <a:solidFill>
                  <a:srgbClr val="8B95A1"/>
                </a:solidFill>
              </a:rPr>
              <a:t>SPR 本体更新导师汇报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E0FFFAF-E94D-4133-966F-7DA4444CE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0" y="9734550"/>
            <a:ext cx="666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2409A"/>
                </a:solidFill>
              </a:defRPr>
            </a:pPr>
            <a:r>
              <a:rPr sz="1125" b="1">
                <a:solidFill>
                  <a:srgbClr val="02409A"/>
                </a:solidFill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45389781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header-blue">
            <a:extLst xmlns:a="http://schemas.openxmlformats.org/drawingml/2006/main">
              <a:ext uri="{FF2B5EF4-FFF2-40B4-BE49-F238E27FC236}">
                <a16:creationId xmlns:a16="http://schemas.microsoft.com/office/drawing/2014/main" id="{FF5291C7-BEBA-448E-9972-A006BB61B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28600"/>
            <a:ext cx="17526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409A"/>
          </a:solidFill>
          <a:ln xmlns:a="http://schemas.openxmlformats.org/drawingml/2006/main" w="0">
            <a:solidFill>
              <a:srgbClr val="02409A"/>
            </a:solidFill>
            <a:prstDash val="solid"/>
          </a:ln>
        </p:spPr>
      </p:sp>
      <p:sp>
        <p:nvSpPr>
          <p:cNvPr id="2" name="header-accent">
            <a:extLst xmlns:a="http://schemas.openxmlformats.org/drawingml/2006/main">
              <a:ext uri="{FF2B5EF4-FFF2-40B4-BE49-F238E27FC236}">
                <a16:creationId xmlns:a16="http://schemas.microsoft.com/office/drawing/2014/main" id="{10E8D0B2-E0F3-4134-8E3E-29DE74172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28600"/>
            <a:ext cx="14097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822F"/>
          </a:solidFill>
          <a:ln xmlns:a="http://schemas.openxmlformats.org/drawingml/2006/main" w="0">
            <a:solidFill>
              <a:srgbClr val="EE822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640BB6-E019-45E6-A2BE-554DE7B85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1000"/>
            <a:ext cx="142113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十六、下一步计划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D583A7-4240-461C-B0FF-2E2C21C35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06650" y="381000"/>
            <a:ext cx="2476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DCE8FF"/>
                </a:solidFill>
              </a:defRPr>
            </a:pPr>
            <a:r>
              <a:rPr sz="1275" b="0">
                <a:solidFill>
                  <a:srgbClr val="DCE8FF"/>
                </a:solidFill>
              </a:rPr>
              <a:t>计划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613799-3363-4901-B953-6E25052AF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371600"/>
            <a:ext cx="704850" cy="704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2409A"/>
          </a:solidFill>
          <a:ln xmlns:a="http://schemas.openxmlformats.org/drawingml/2006/main" w="0">
            <a:solidFill>
              <a:srgbClr val="02409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DB4F31-2EA6-4159-B27F-C2D713738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371600"/>
            <a:ext cx="7048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C9BB49-4D76-416B-B372-13BCE0666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171700"/>
            <a:ext cx="16954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3"/>
                </a:solidFill>
              </a:defRPr>
            </a:pPr>
            <a:r>
              <a:rPr sz="1500" b="1">
                <a:solidFill>
                  <a:srgbClr val="1F2933"/>
                </a:solidFill>
              </a:rPr>
              <a:t>业务口径确认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162D7E-8DA5-4016-8C01-5E306D0FE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1371600"/>
            <a:ext cx="3429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A9B4C5"/>
                </a:solidFill>
              </a:defRPr>
            </a:pPr>
            <a:r>
              <a:rPr sz="2550" b="1">
                <a:solidFill>
                  <a:srgbClr val="A9B4C5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E055B3-68B5-4712-B2DF-4905BBF28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1371600"/>
            <a:ext cx="704850" cy="704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874CB"/>
          </a:solidFill>
          <a:ln xmlns:a="http://schemas.openxmlformats.org/drawingml/2006/main" w="0">
            <a:solidFill>
              <a:srgbClr val="4874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B00800-C93E-40D1-BF67-1388BC127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1371600"/>
            <a:ext cx="7048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DE591A-5E3A-4D0B-BB0E-3A7A3C7F6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171700"/>
            <a:ext cx="16954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3"/>
                </a:solidFill>
              </a:defRPr>
            </a:pPr>
            <a:r>
              <a:rPr sz="1500" b="1">
                <a:solidFill>
                  <a:srgbClr val="1F2933"/>
                </a:solidFill>
              </a:rPr>
              <a:t>修订 v0.3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EF6560-9AB7-42E4-8F84-1FE375480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371600"/>
            <a:ext cx="3429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A9B4C5"/>
                </a:solidFill>
              </a:defRPr>
            </a:pPr>
            <a:r>
              <a:rPr sz="2550" b="1">
                <a:solidFill>
                  <a:srgbClr val="A9B4C5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FD0D82-CD78-44BE-BE44-CD4D44902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1371600"/>
            <a:ext cx="704850" cy="704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822F"/>
          </a:solidFill>
          <a:ln xmlns:a="http://schemas.openxmlformats.org/drawingml/2006/main" w="0">
            <a:solidFill>
              <a:srgbClr val="EE822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A8A039-3CE5-4848-89B4-583E474F8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1371600"/>
            <a:ext cx="7048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B809FE-7F19-4C06-B37F-7335A35F5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171700"/>
            <a:ext cx="16954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3"/>
                </a:solidFill>
              </a:defRPr>
            </a:pPr>
            <a:r>
              <a:rPr sz="1500" b="1">
                <a:solidFill>
                  <a:srgbClr val="1F2933"/>
                </a:solidFill>
              </a:rPr>
              <a:t>转 OWL/RDF 或图 Schema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05A05C-6C60-426A-8818-AEE2E240E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371600"/>
            <a:ext cx="3429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A9B4C5"/>
                </a:solidFill>
              </a:defRPr>
            </a:pPr>
            <a:r>
              <a:rPr sz="2550" b="1">
                <a:solidFill>
                  <a:srgbClr val="A9B4C5"/>
                </a:solidFill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16E15D-750E-4A9A-A2C6-AEAF01F5E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371600"/>
            <a:ext cx="704850" cy="704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5BD42"/>
          </a:solidFill>
          <a:ln xmlns:a="http://schemas.openxmlformats.org/drawingml/2006/main" w="0">
            <a:solidFill>
              <a:srgbClr val="75BD4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B6B8732-F686-4CC6-9689-22919534C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371600"/>
            <a:ext cx="7048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B35AF5-859C-494A-9FD3-E19F77A0E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171700"/>
            <a:ext cx="16954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3"/>
                </a:solidFill>
              </a:defRPr>
            </a:pPr>
            <a:r>
              <a:rPr sz="1500" b="1">
                <a:solidFill>
                  <a:srgbClr val="1F2933"/>
                </a:solidFill>
              </a:rPr>
              <a:t>样例实例化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C39C61E-255C-4B64-A677-C74E56D1A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371600"/>
            <a:ext cx="3429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A9B4C5"/>
                </a:solidFill>
              </a:defRPr>
            </a:pPr>
            <a:r>
              <a:rPr sz="2550" b="1">
                <a:solidFill>
                  <a:srgbClr val="A9B4C5"/>
                </a:solidFill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2B5E7AB-2E52-45E8-90A0-4F2AD3D13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371600"/>
            <a:ext cx="704850" cy="704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2409A"/>
          </a:solidFill>
          <a:ln xmlns:a="http://schemas.openxmlformats.org/drawingml/2006/main" w="0">
            <a:solidFill>
              <a:srgbClr val="02409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0DC800-51AC-4D80-A83E-950D5459E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371600"/>
            <a:ext cx="7048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147CAAD-0C5E-4F91-97B0-A1983099F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171700"/>
            <a:ext cx="16954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3"/>
                </a:solidFill>
              </a:defRPr>
            </a:pPr>
            <a:r>
              <a:rPr sz="1500" b="1">
                <a:solidFill>
                  <a:srgbClr val="1F2933"/>
                </a:solidFill>
              </a:rPr>
              <a:t>本体组复审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BE15D3E-3AC0-4DCD-BE7F-EACE5FB78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1371600"/>
            <a:ext cx="3429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A9B4C5"/>
                </a:solidFill>
              </a:defRPr>
            </a:pPr>
            <a:r>
              <a:rPr sz="2550" b="1">
                <a:solidFill>
                  <a:srgbClr val="A9B4C5"/>
                </a:solidFill>
              </a:rP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27C8786-4442-4593-82DA-E6F3309AD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1371600"/>
            <a:ext cx="704850" cy="704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874CB"/>
          </a:solidFill>
          <a:ln xmlns:a="http://schemas.openxmlformats.org/drawingml/2006/main" w="0">
            <a:solidFill>
              <a:srgbClr val="4874C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B0F4E21-5E87-4288-974A-CEB7FCB54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1371600"/>
            <a:ext cx="7048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611700C-72DE-4B0E-8A2A-561C0B909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171700"/>
            <a:ext cx="16954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3"/>
                </a:solidFill>
              </a:defRPr>
            </a:pPr>
            <a:r>
              <a:rPr sz="1500" b="1">
                <a:solidFill>
                  <a:srgbClr val="1F2933"/>
                </a:solidFill>
              </a:rPr>
              <a:t>接入 Action/模型输出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EA42FB5-720A-40CB-844B-650FE5A6B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743200"/>
            <a:ext cx="17526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409A"/>
          </a:solidFill>
          <a:ln xmlns:a="http://schemas.openxmlformats.org/drawingml/2006/main" w="0">
            <a:solidFill>
              <a:srgbClr val="02409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C425C9F-76EE-4A9B-AFDF-177A50561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0"/>
            <a:ext cx="2381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阶段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703EE47-0651-41F3-BBA0-D71F95E61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857500"/>
            <a:ext cx="10953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具体工作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FAE7329-5629-41E0-8505-CE92D79D7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276600"/>
            <a:ext cx="17526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822F"/>
          </a:solidFill>
          <a:ln xmlns:a="http://schemas.openxmlformats.org/drawingml/2006/main" w="0">
            <a:solidFill>
              <a:srgbClr val="EE822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1BF9F88-A8FC-4408-984B-FC49F2068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29000"/>
            <a:ext cx="23812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F2933"/>
                </a:solidFill>
              </a:defRPr>
            </a:pPr>
            <a:r>
              <a:rPr sz="1650" b="1">
                <a:solidFill>
                  <a:srgbClr val="1F2933"/>
                </a:solidFill>
              </a:rPr>
              <a:t>短期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9B315BF-D91C-43DF-8501-EEFCB3887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429000"/>
            <a:ext cx="109537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F6B7A"/>
                </a:solidFill>
              </a:defRPr>
            </a:pPr>
            <a:r>
              <a:rPr sz="1650" b="0">
                <a:solidFill>
                  <a:srgbClr val="5F6B7A"/>
                </a:solidFill>
              </a:rPr>
              <a:t>确认 pre、error_rate、曲线缩放、车身对象、RRC/PECV2 等关键口径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ED6B187-F2E5-44FF-B354-7E023F986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019550"/>
            <a:ext cx="1752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8"/>
          </a:solidFill>
          <a:ln xmlns:a="http://schemas.openxmlformats.org/drawingml/2006/main" w="0">
            <a:solidFill>
              <a:srgbClr val="D9DEE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C436A46-84A9-4C8C-8958-8C3022759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133850"/>
            <a:ext cx="23812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F2933"/>
                </a:solidFill>
              </a:defRPr>
            </a:pPr>
            <a:r>
              <a:rPr sz="1650" b="1">
                <a:solidFill>
                  <a:srgbClr val="1F2933"/>
                </a:solidFill>
              </a:rPr>
              <a:t>中期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E9CA97E-F9D4-4D47-89C2-6D4BC50BE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133850"/>
            <a:ext cx="109537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F6B7A"/>
                </a:solidFill>
              </a:defRPr>
            </a:pPr>
            <a:r>
              <a:rPr sz="1650" b="0">
                <a:solidFill>
                  <a:srgbClr val="5F6B7A"/>
                </a:solidFill>
              </a:rPr>
              <a:t>把文档方案转成可执行本体文件或图数据库 Schema，并用 5-10 条样例记录验证实例化链路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0759631-2C42-4A10-9001-496780448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743450"/>
            <a:ext cx="1752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8"/>
          </a:solidFill>
          <a:ln xmlns:a="http://schemas.openxmlformats.org/drawingml/2006/main" w="0">
            <a:solidFill>
              <a:srgbClr val="D9DEE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6B1FDEA-F5F8-4464-9BF5-E9F14A914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57750"/>
            <a:ext cx="23812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F2933"/>
                </a:solidFill>
              </a:defRPr>
            </a:pPr>
            <a:r>
              <a:rPr sz="1650" b="1">
                <a:solidFill>
                  <a:srgbClr val="1F2933"/>
                </a:solidFill>
              </a:rPr>
              <a:t>后续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52B1AE0-133E-4D3D-A0E5-230DDBE5A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857750"/>
            <a:ext cx="109537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F6B7A"/>
                </a:solidFill>
              </a:defRPr>
            </a:pPr>
            <a:r>
              <a:rPr sz="1650" b="0">
                <a:solidFill>
                  <a:srgbClr val="5F6B7A"/>
                </a:solidFill>
              </a:rPr>
              <a:t>与本体组确认哪些概念上升顶层，哪些保持 SPR 专属扩展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C77C76C-FE74-4F7C-B1DF-E188A0A04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448300"/>
            <a:ext cx="1752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8"/>
          </a:solidFill>
          <a:ln xmlns:a="http://schemas.openxmlformats.org/drawingml/2006/main" w="0">
            <a:solidFill>
              <a:srgbClr val="D9DEE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2298C8A-20EF-4513-859A-2C5679837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62600"/>
            <a:ext cx="23812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F2933"/>
                </a:solidFill>
              </a:defRPr>
            </a:pPr>
            <a:r>
              <a:rPr sz="1650" b="1">
                <a:solidFill>
                  <a:srgbClr val="1F2933"/>
                </a:solidFill>
              </a:rPr>
              <a:t>面向应用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C1956B9-C3D6-4EFA-8CE4-BD626CDB1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562600"/>
            <a:ext cx="109537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F6B7A"/>
                </a:solidFill>
              </a:defRPr>
            </a:pPr>
            <a:r>
              <a:rPr sz="1650" b="0">
                <a:solidFill>
                  <a:srgbClr val="5F6B7A"/>
                </a:solidFill>
              </a:rPr>
              <a:t>将质量判定、预测结果和待复核规则接入后续 Action 或模型服务输出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2495ADD-6F38-412A-B95C-BB9D276A4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172200"/>
            <a:ext cx="1752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8"/>
          </a:solidFill>
          <a:ln xmlns:a="http://schemas.openxmlformats.org/drawingml/2006/main" w="0">
            <a:solidFill>
              <a:srgbClr val="D9DEE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52F3F08-A217-4304-8062-8F3106A41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9734550"/>
            <a:ext cx="168592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8B95A1"/>
                </a:solidFill>
              </a:defRPr>
            </a:pPr>
            <a:r>
              <a:rPr sz="1050" b="0">
                <a:solidFill>
                  <a:srgbClr val="8B95A1"/>
                </a:solidFill>
              </a:rPr>
              <a:t>SPR 本体更新导师汇报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48A4590-535E-4BD4-A2B7-258312C17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0" y="9734550"/>
            <a:ext cx="666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2409A"/>
                </a:solidFill>
              </a:defRPr>
            </a:pPr>
            <a:r>
              <a:rPr sz="1125" b="1">
                <a:solidFill>
                  <a:srgbClr val="02409A"/>
                </a:solidFill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757626816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header-blue">
            <a:extLst xmlns:a="http://schemas.openxmlformats.org/drawingml/2006/main">
              <a:ext uri="{FF2B5EF4-FFF2-40B4-BE49-F238E27FC236}">
                <a16:creationId xmlns:a16="http://schemas.microsoft.com/office/drawing/2014/main" id="{A5B716C2-0FC1-457C-A517-0C6194242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28600"/>
            <a:ext cx="17526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409A"/>
          </a:solidFill>
          <a:ln xmlns:a="http://schemas.openxmlformats.org/drawingml/2006/main" w="0">
            <a:solidFill>
              <a:srgbClr val="02409A"/>
            </a:solidFill>
            <a:prstDash val="solid"/>
          </a:ln>
        </p:spPr>
      </p:sp>
      <p:sp>
        <p:nvSpPr>
          <p:cNvPr id="2" name="header-accent">
            <a:extLst xmlns:a="http://schemas.openxmlformats.org/drawingml/2006/main">
              <a:ext uri="{FF2B5EF4-FFF2-40B4-BE49-F238E27FC236}">
                <a16:creationId xmlns:a16="http://schemas.microsoft.com/office/drawing/2014/main" id="{1E7D2546-5922-4CF2-8898-D76C94F37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28600"/>
            <a:ext cx="14097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822F"/>
          </a:solidFill>
          <a:ln xmlns:a="http://schemas.openxmlformats.org/drawingml/2006/main" w="0">
            <a:solidFill>
              <a:srgbClr val="EE822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0B318C-A45C-4820-9BA2-B25C6170B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1000"/>
            <a:ext cx="142113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汇报结论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D19275-D1AB-4C78-BA17-390EB614A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06650" y="381000"/>
            <a:ext cx="2476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DCE8FF"/>
                </a:solidFill>
              </a:defRPr>
            </a:pPr>
            <a:r>
              <a:rPr sz="1275" b="0">
                <a:solidFill>
                  <a:srgbClr val="DCE8FF"/>
                </a:solidFill>
              </a:rPr>
              <a:t>结论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9A887D-592E-4111-A961-F0C2D808F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371600"/>
            <a:ext cx="17526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2409A"/>
                </a:solidFill>
              </a:defRPr>
            </a:pPr>
            <a:r>
              <a:rPr sz="2550" b="1">
                <a:solidFill>
                  <a:srgbClr val="02409A"/>
                </a:solidFill>
              </a:rPr>
              <a:t>本次更新的价值：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D8D0C4-39C2-40D6-97D5-E757B2419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905000"/>
            <a:ext cx="13868400" cy="1485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F2933"/>
                </a:solidFill>
              </a:defRPr>
            </a:pPr>
            <a:r>
              <a:rPr sz="3900" b="1">
                <a:solidFill>
                  <a:srgbClr val="1F2933"/>
                </a:solidFill>
              </a:rPr>
              <a:t>在不改变原 SPR 本体主骨架的前提下，补齐了真实生产过程数据接入所需的语义层。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E6714C-48F9-48A8-A787-35E8F0162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6004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822F"/>
          </a:solidFill>
          <a:ln xmlns:a="http://schemas.openxmlformats.org/drawingml/2006/main" w="0">
            <a:solidFill>
              <a:srgbClr val="EE822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16F1D6-CBCF-456E-AEA3-AB865E26A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0450"/>
            <a:ext cx="77343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F2933"/>
                </a:solidFill>
              </a:defRPr>
            </a:pPr>
            <a:r>
              <a:rPr sz="2100" b="0">
                <a:solidFill>
                  <a:srgbClr val="1F2933"/>
                </a:solidFill>
              </a:rPr>
              <a:t>数据库字段已经可以逐项映射到本体类、属性、关系或待确认项。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B0CB8D-90F1-4A10-9751-DBC45CBDD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4005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822F"/>
          </a:solidFill>
          <a:ln xmlns:a="http://schemas.openxmlformats.org/drawingml/2006/main" w="0">
            <a:solidFill>
              <a:srgbClr val="EE822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A78E77-F16C-41C6-B9D0-4F0A2D1A4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00550"/>
            <a:ext cx="101346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F2933"/>
                </a:solidFill>
              </a:defRPr>
            </a:pPr>
            <a:r>
              <a:rPr sz="2100" b="0">
                <a:solidFill>
                  <a:srgbClr val="1F2933"/>
                </a:solidFill>
              </a:rPr>
              <a:t>曲线、包络线、公差和预测结果被对象化，为后续质量判定和模型调用提供结构基础。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15F092-89B6-416A-9802-C47EC7F2A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2006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822F"/>
          </a:solidFill>
          <a:ln xmlns:a="http://schemas.openxmlformats.org/drawingml/2006/main" w="0">
            <a:solidFill>
              <a:srgbClr val="EE822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9D882D-D279-40BC-9BDF-536E9EAB3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00650"/>
            <a:ext cx="56007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F2933"/>
                </a:solidFill>
              </a:defRPr>
            </a:pPr>
            <a:r>
              <a:rPr sz="2100" b="0">
                <a:solidFill>
                  <a:srgbClr val="1F2933"/>
                </a:solidFill>
              </a:rPr>
              <a:t>下一步重点是业务口径确认与样例实例化验证。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798661-7EDD-47E5-BE25-86F0C5775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9734550"/>
            <a:ext cx="168592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8B95A1"/>
                </a:solidFill>
              </a:defRPr>
            </a:pPr>
            <a:r>
              <a:rPr sz="1050" b="0">
                <a:solidFill>
                  <a:srgbClr val="8B95A1"/>
                </a:solidFill>
              </a:rPr>
              <a:t>SPR 本体更新导师汇报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F96D5A-5B64-4CA6-9358-5DE18C795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0" y="9734550"/>
            <a:ext cx="666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2409A"/>
                </a:solidFill>
              </a:defRPr>
            </a:pPr>
            <a:r>
              <a:rPr sz="1125" b="1">
                <a:solidFill>
                  <a:srgbClr val="02409A"/>
                </a:solidFill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512865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2026-04-24T07:47:36.2990000Z</dcterms:created>
  <dcterms:modified xsi:type="dcterms:W3CDTF">2026-04-24T07:47:36.2990000Z</dcterms:modified>
</coreProperties>
</file>