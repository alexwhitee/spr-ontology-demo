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31f3a92c4544f2" /><Relationship Type="http://schemas.openxmlformats.org/officeDocument/2006/relationships/extended-properties" Target="/docProps/app.xml" Id="Rf3178fd09ee6449b" /><Relationship Type="http://schemas.openxmlformats.org/officeDocument/2006/relationships/officeDocument" Target="/ppt/presentation.xml" Id="Rc75aa9c89d7f4f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20e88238044376"/>
  </p:sldMasterIdLst>
  <p:notesMasterIdLst>
    <p:notesMasterId xmlns:r="http://schemas.openxmlformats.org/officeDocument/2006/relationships" r:id="R01e79194405d4891"/>
  </p:notesMasterIdLst>
  <p:sldIdLst>
    <p:sldId xmlns:r="http://schemas.openxmlformats.org/officeDocument/2006/relationships" id="256" r:id="R523ee0992c424a3f"/>
    <p:sldId xmlns:r="http://schemas.openxmlformats.org/officeDocument/2006/relationships" id="257" r:id="Rcbe3ab2698c94eaa"/>
    <p:sldId xmlns:r="http://schemas.openxmlformats.org/officeDocument/2006/relationships" id="258" r:id="R7fd4fc3f705f47db"/>
    <p:sldId xmlns:r="http://schemas.openxmlformats.org/officeDocument/2006/relationships" id="259" r:id="R823e9a3d57e046d4"/>
    <p:sldId xmlns:r="http://schemas.openxmlformats.org/officeDocument/2006/relationships" id="260" r:id="R3e2dec439e4a4788"/>
    <p:sldId xmlns:r="http://schemas.openxmlformats.org/officeDocument/2006/relationships" id="261" r:id="R1391f623265b4c0c"/>
    <p:sldId xmlns:r="http://schemas.openxmlformats.org/officeDocument/2006/relationships" id="262" r:id="Rdce2d3dc20654ff1"/>
    <p:sldId xmlns:r="http://schemas.openxmlformats.org/officeDocument/2006/relationships" id="263" r:id="Rc48961aadbcb4ce3"/>
    <p:sldId xmlns:r="http://schemas.openxmlformats.org/officeDocument/2006/relationships" id="264" r:id="R0d0e751c641b4afa"/>
    <p:sldId xmlns:r="http://schemas.openxmlformats.org/officeDocument/2006/relationships" id="265" r:id="R4d5c55e9dc334cd6"/>
    <p:sldId xmlns:r="http://schemas.openxmlformats.org/officeDocument/2006/relationships" id="266" r:id="R22be2169ce1f43bf"/>
    <p:sldId xmlns:r="http://schemas.openxmlformats.org/officeDocument/2006/relationships" id="267" r:id="Rf034f59dda2d498c"/>
    <p:sldId xmlns:r="http://schemas.openxmlformats.org/officeDocument/2006/relationships" id="268" r:id="R963eec64373d4a25"/>
    <p:sldId xmlns:r="http://schemas.openxmlformats.org/officeDocument/2006/relationships" id="269" r:id="R4c1f82b7f3204c9b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20e88238044376" /><Relationship Type="http://schemas.openxmlformats.org/officeDocument/2006/relationships/theme" Target="/ppt/theme/theme1.xml" Id="Re4880d0a5513498c" /><Relationship Type="http://schemas.openxmlformats.org/officeDocument/2006/relationships/notesMaster" Target="/ppt/notesMasters/notesMaster1.xml" Id="R01e79194405d4891" /><Relationship Type="http://schemas.openxmlformats.org/officeDocument/2006/relationships/presProps" Target="/ppt/presProps.xml" Id="Rc255a35ebdfb44b0" /><Relationship Type="http://schemas.openxmlformats.org/officeDocument/2006/relationships/viewProps" Target="/ppt/viewProps.xml" Id="R385cfb8127084154" /><Relationship Type="http://schemas.openxmlformats.org/officeDocument/2006/relationships/tableStyles" Target="/ppt/tableStyles.xml" Id="Rfdf5f07c886f47ba" /><Relationship Type="http://schemas.openxmlformats.org/officeDocument/2006/relationships/slide" Target="/ppt/slides/slide1.xml" Id="R523ee0992c424a3f" /><Relationship Type="http://schemas.openxmlformats.org/officeDocument/2006/relationships/slide" Target="/ppt/slides/slide2.xml" Id="Rcbe3ab2698c94eaa" /><Relationship Type="http://schemas.openxmlformats.org/officeDocument/2006/relationships/slide" Target="/ppt/slides/slide3.xml" Id="R7fd4fc3f705f47db" /><Relationship Type="http://schemas.openxmlformats.org/officeDocument/2006/relationships/slide" Target="/ppt/slides/slide4.xml" Id="R823e9a3d57e046d4" /><Relationship Type="http://schemas.openxmlformats.org/officeDocument/2006/relationships/slide" Target="/ppt/slides/slide5.xml" Id="R3e2dec439e4a4788" /><Relationship Type="http://schemas.openxmlformats.org/officeDocument/2006/relationships/slide" Target="/ppt/slides/slide6.xml" Id="R1391f623265b4c0c" /><Relationship Type="http://schemas.openxmlformats.org/officeDocument/2006/relationships/slide" Target="/ppt/slides/slide7.xml" Id="Rdce2d3dc20654ff1" /><Relationship Type="http://schemas.openxmlformats.org/officeDocument/2006/relationships/slide" Target="/ppt/slides/slide8.xml" Id="Rc48961aadbcb4ce3" /><Relationship Type="http://schemas.openxmlformats.org/officeDocument/2006/relationships/slide" Target="/ppt/slides/slide9.xml" Id="R0d0e751c641b4afa" /><Relationship Type="http://schemas.openxmlformats.org/officeDocument/2006/relationships/slide" Target="/ppt/slides/slide10.xml" Id="R4d5c55e9dc334cd6" /><Relationship Type="http://schemas.openxmlformats.org/officeDocument/2006/relationships/slide" Target="/ppt/slides/slide11.xml" Id="R22be2169ce1f43bf" /><Relationship Type="http://schemas.openxmlformats.org/officeDocument/2006/relationships/slide" Target="/ppt/slides/slide12.xml" Id="Rf034f59dda2d498c" /><Relationship Type="http://schemas.openxmlformats.org/officeDocument/2006/relationships/slide" Target="/ppt/slides/slide13.xml" Id="R963eec64373d4a25" /><Relationship Type="http://schemas.openxmlformats.org/officeDocument/2006/relationships/slide" Target="/ppt/slides/slide14.xml" Id="R4c1f82b7f3204c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4b38a5f629247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904d20f6d54170" /><Relationship Type="http://schemas.openxmlformats.org/officeDocument/2006/relationships/notesMaster" Target="/ppt/notesMasters/notesMaster1.xml" Id="R3c9596e9ea164b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7c770d39804cc9" /><Relationship Type="http://schemas.openxmlformats.org/officeDocument/2006/relationships/notesMaster" Target="/ppt/notesMasters/notesMaster1.xml" Id="Rc773a287005d48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239ee22bf443a0" /><Relationship Type="http://schemas.openxmlformats.org/officeDocument/2006/relationships/notesMaster" Target="/ppt/notesMasters/notesMaster1.xml" Id="R511334c5afe345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8f4575ecc445d2" /><Relationship Type="http://schemas.openxmlformats.org/officeDocument/2006/relationships/notesMaster" Target="/ppt/notesMasters/notesMaster1.xml" Id="R6da319ecd45c43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d04f44e4544bb0" /><Relationship Type="http://schemas.openxmlformats.org/officeDocument/2006/relationships/notesMaster" Target="/ppt/notesMasters/notesMaster1.xml" Id="R0fa64095c01e4e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3c63ae96dd4812" /><Relationship Type="http://schemas.openxmlformats.org/officeDocument/2006/relationships/notesMaster" Target="/ppt/notesMasters/notesMaster1.xml" Id="R29085b8c1c5e4a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d4b2ec85e4e4b5c" /><Relationship Type="http://schemas.openxmlformats.org/officeDocument/2006/relationships/notesMaster" Target="/ppt/notesMasters/notesMaster1.xml" Id="R94b0f404601e425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ff45b0b678048f6" /><Relationship Type="http://schemas.openxmlformats.org/officeDocument/2006/relationships/notesMaster" Target="/ppt/notesMasters/notesMaster1.xml" Id="R73ce0ddd2b65454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fe32495f934d33" /><Relationship Type="http://schemas.openxmlformats.org/officeDocument/2006/relationships/notesMaster" Target="/ppt/notesMasters/notesMaster1.xml" Id="R6e17e0956856490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e3e84de950149a3" /><Relationship Type="http://schemas.openxmlformats.org/officeDocument/2006/relationships/notesMaster" Target="/ppt/notesMasters/notesMaster1.xml" Id="R8590eee434414af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b9ef5e134ba4954" /><Relationship Type="http://schemas.openxmlformats.org/officeDocument/2006/relationships/notesMaster" Target="/ppt/notesMasters/notesMaster1.xml" Id="Rd182ef56884d4b9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b0acbea55674973" /><Relationship Type="http://schemas.openxmlformats.org/officeDocument/2006/relationships/notesMaster" Target="/ppt/notesMasters/notesMaster1.xml" Id="R72e08df073b24db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83cebb3fa94476c" /><Relationship Type="http://schemas.openxmlformats.org/officeDocument/2006/relationships/notesMaster" Target="/ppt/notesMasters/notesMaster1.xml" Id="Re0b7a22a08ef473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b7b9d37105a46bf" /><Relationship Type="http://schemas.openxmlformats.org/officeDocument/2006/relationships/notesMaster" Target="/ppt/notesMasters/notesMaster1.xml" Id="R82123682c0464f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33873f56a44b9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266c8aaaf6a4946" /><Relationship Type="http://schemas.openxmlformats.org/officeDocument/2006/relationships/slideLayout" Target="/ppt/slideLayouts/slideLayout2.xml" Id="R0ebeaee612a740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beaee612a740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d1e6cc68184bc0" /><Relationship Type="http://schemas.openxmlformats.org/officeDocument/2006/relationships/notesSlide" Target="/ppt/notesSlides/notesSlide1.xml" Id="Rc9d93f38742145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4d8ff7cebc40b7" /><Relationship Type="http://schemas.openxmlformats.org/officeDocument/2006/relationships/notesSlide" Target="/ppt/notesSlides/notesSlide2.xml" Id="Rbb7e6e802c8042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b4a15a300244b0" /><Relationship Type="http://schemas.openxmlformats.org/officeDocument/2006/relationships/notesSlide" Target="/ppt/notesSlides/notesSlide3.xml" Id="Rab901f49f9db4a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6b2a8f311b4db1" /><Relationship Type="http://schemas.openxmlformats.org/officeDocument/2006/relationships/notesSlide" Target="/ppt/notesSlides/notesSlide4.xml" Id="Rb22c191b65fe4f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1b629d527e41ae" /><Relationship Type="http://schemas.openxmlformats.org/officeDocument/2006/relationships/notesSlide" Target="/ppt/notesSlides/notesSlide5.xml" Id="R84b0a24b1ea94b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e41e8ec0234cd6" /><Relationship Type="http://schemas.openxmlformats.org/officeDocument/2006/relationships/notesSlide" Target="/ppt/notesSlides/notesSlide6.xml" Id="Ra3f64ccd25344b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f1b19bcf2942e8" /><Relationship Type="http://schemas.openxmlformats.org/officeDocument/2006/relationships/notesSlide" Target="/ppt/notesSlides/notesSlide7.xml" Id="R7dcf91ea569d41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3b96f6db6846e9" /><Relationship Type="http://schemas.openxmlformats.org/officeDocument/2006/relationships/notesSlide" Target="/ppt/notesSlides/notesSlide8.xml" Id="R8434a79b4c4f4a6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d4d7658fcb403d" /><Relationship Type="http://schemas.openxmlformats.org/officeDocument/2006/relationships/notesSlide" Target="/ppt/notesSlides/notesSlide9.xml" Id="Re3fcba23645143d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b40b3e5caf47ad" /><Relationship Type="http://schemas.openxmlformats.org/officeDocument/2006/relationships/notesSlide" Target="/ppt/notesSlides/notesSlide10.xml" Id="R7fae4fc7912a408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008df837864324" /><Relationship Type="http://schemas.openxmlformats.org/officeDocument/2006/relationships/notesSlide" Target="/ppt/notesSlides/notesSlide11.xml" Id="R56b362075e8c40d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f86c534504403c" /><Relationship Type="http://schemas.openxmlformats.org/officeDocument/2006/relationships/notesSlide" Target="/ppt/notesSlides/notesSlide12.xml" Id="Rf9c9cd3970b443d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c9ddd577224627" /><Relationship Type="http://schemas.openxmlformats.org/officeDocument/2006/relationships/notesSlide" Target="/ppt/notesSlides/notesSlide13.xml" Id="Re14b5c2a6fc74b9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8e52a8dac241a3" /><Relationship Type="http://schemas.openxmlformats.org/officeDocument/2006/relationships/notesSlide" Target="/ppt/notesSlides/notesSlide14.xml" Id="R5fd9f9c1e0194e2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band">
            <a:extLst xmlns:a="http://schemas.openxmlformats.org/drawingml/2006/main">
              <a:ext uri="{FF2B5EF4-FFF2-40B4-BE49-F238E27FC236}">
                <a16:creationId xmlns:a16="http://schemas.microsoft.com/office/drawing/2014/main" id="{579BC976-1450-45A5-ABD6-33C8D17C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334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sp>
        <p:nvSpPr>
          <p:cNvPr id="2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E2A9A609-B777-4DC2-8995-63BFDB59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42D"/>
          </a:solidFill>
          <a:ln xmlns:a="http://schemas.openxmlformats.org/drawingml/2006/main" w="0">
            <a:solidFill>
              <a:srgbClr val="D9942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5AD43C-3FDE-44B9-BC60-90A06F4F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1066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最终输出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4595B1-507E-4646-9784-F4CB7850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76350"/>
            <a:ext cx="27432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FFFFFF"/>
                </a:solidFill>
              </a:defRPr>
            </a:pPr>
            <a:r>
              <a:rPr sz="3150" b="1" i="0">
                <a:solidFill>
                  <a:srgbClr val="FFFFFF"/>
                </a:solidFill>
              </a:rPr>
              <a:t>完整交付文档 + 工作汇报 PPT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58BF1D-D913-4A82-9D5D-641B2F07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860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4C74AB-363D-4F4E-BBFA-A4A63544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422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D5EFEC"/>
                </a:solidFill>
              </a:defRPr>
            </a:pPr>
            <a:r>
              <a:rPr sz="1800" b="0" i="0">
                <a:solidFill>
                  <a:srgbClr val="D5EFEC"/>
                </a:solidFill>
              </a:rPr>
              <a:t>2026-04-24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D05A4-6638-4A77-90F4-FB49334A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876300"/>
            <a:ext cx="5772150" cy="182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200" b="1" i="0">
                <a:solidFill>
                  <a:srgbClr val="17212B"/>
                </a:solidFill>
              </a:defRPr>
            </a:pPr>
            <a:r>
              <a:rPr sz="7200" b="1" i="0">
                <a:solidFill>
                  <a:srgbClr val="17212B"/>
                </a:solidFill>
              </a:rPr>
              <a:t>SPR 本体更新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5F951C-FF47-476A-8B18-961B2053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28950"/>
            <a:ext cx="36576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200" b="1" i="0">
                <a:solidFill>
                  <a:srgbClr val="17212B"/>
                </a:solidFill>
              </a:defRPr>
            </a:pPr>
            <a:r>
              <a:rPr sz="7200" b="1" i="0">
                <a:solidFill>
                  <a:srgbClr val="17212B"/>
                </a:solidFill>
              </a:rPr>
              <a:t>工作汇报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5D796F-ACF0-4F26-B1C3-6327E2C6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6720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63AE1A-D3C2-4295-B7AA-2999DD82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48200"/>
            <a:ext cx="4533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64717D"/>
                </a:solidFill>
              </a:defRPr>
            </a:pPr>
            <a:r>
              <a:rPr sz="2550" b="0" i="0">
                <a:solidFill>
                  <a:srgbClr val="64717D"/>
                </a:solidFill>
              </a:rPr>
              <a:t>从数据库字段到可落地本体扩展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553D48-039C-4CDA-8A59-209B826B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295900"/>
            <a:ext cx="33718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550" b="1" i="0">
                <a:solidFill>
                  <a:srgbClr val="0E7C7B"/>
                </a:solidFill>
              </a:defRPr>
            </a:pPr>
            <a:r>
              <a:rPr sz="5550" b="1" i="0">
                <a:solidFill>
                  <a:srgbClr val="0E7C7B"/>
                </a:solidFill>
              </a:rPr>
              <a:t>16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8960DF-74EE-4B6C-BE25-F86964BAE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038850"/>
            <a:ext cx="3371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64717D"/>
                </a:solidFill>
              </a:defRPr>
            </a:pPr>
            <a:r>
              <a:rPr sz="1650" b="0" i="0">
                <a:solidFill>
                  <a:srgbClr val="64717D"/>
                </a:solidFill>
              </a:rPr>
              <a:t>主数据库字段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C90E5E-B32C-4E6E-8F97-8721C859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295900"/>
            <a:ext cx="33718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550" b="1" i="0">
                <a:solidFill>
                  <a:srgbClr val="2B5C9E"/>
                </a:solidFill>
              </a:defRPr>
            </a:pPr>
            <a:r>
              <a:rPr sz="5550" b="1" i="0">
                <a:solidFill>
                  <a:srgbClr val="2B5C9E"/>
                </a:solidFill>
              </a:rPr>
              <a:t>42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C94B89-A5C4-4C47-AF64-D98686EF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6038850"/>
            <a:ext cx="3371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64717D"/>
                </a:solidFill>
              </a:defRPr>
            </a:pPr>
            <a:r>
              <a:rPr sz="1650" b="0" i="0">
                <a:solidFill>
                  <a:srgbClr val="64717D"/>
                </a:solidFill>
              </a:rPr>
              <a:t>RIP_ROP 字段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709D60-870B-44F2-B6E0-B7D796AA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5295900"/>
            <a:ext cx="33718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550" b="1" i="0">
                <a:solidFill>
                  <a:srgbClr val="D9942D"/>
                </a:solidFill>
              </a:defRPr>
            </a:pPr>
            <a:r>
              <a:rPr sz="5550" b="1" i="0">
                <a:solidFill>
                  <a:srgbClr val="D9942D"/>
                </a:solidFill>
              </a:rPr>
              <a:t>v0.3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2BFAA6-2D6B-467E-94F2-25A70FAD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6038850"/>
            <a:ext cx="3371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64717D"/>
                </a:solidFill>
              </a:defRPr>
            </a:pPr>
            <a:r>
              <a:rPr sz="1650" b="0" i="0">
                <a:solidFill>
                  <a:srgbClr val="64717D"/>
                </a:solidFill>
              </a:rPr>
              <a:t>更新版本体方案</a:t>
            </a:r>
          </a:p>
        </p:txBody>
      </p:sp>
    </p:spTree>
    <p:extLst>
      <p:ext uri="{BB962C8B-B14F-4D97-AF65-F5344CB8AC3E}">
        <p14:creationId xmlns:p14="http://schemas.microsoft.com/office/powerpoint/2010/main" val="86578980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23619ED6-8447-4530-B499-3437E447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EA51FE-7D4A-4B4D-A7C4-D90757A4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66750"/>
            <a:ext cx="16459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E7C7B"/>
                </a:solidFill>
              </a:defRPr>
            </a:pPr>
            <a:r>
              <a:rPr sz="1500" b="1" i="0">
                <a:solidFill>
                  <a:srgbClr val="0E7C7B"/>
                </a:solidFill>
              </a:rPr>
              <a:t>工作汇报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F81A97-AB8D-4099-8503-6C7376FA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90600"/>
            <a:ext cx="3867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17212B"/>
                </a:solidFill>
              </a:defRPr>
            </a:pPr>
            <a:r>
              <a:rPr sz="4350" b="1" i="0">
                <a:solidFill>
                  <a:srgbClr val="17212B"/>
                </a:solidFill>
              </a:rPr>
              <a:t>这次完成了什么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2BAAF9-79C6-4780-B469-96A32FC4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6915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64717D"/>
                </a:solidFill>
              </a:defRPr>
            </a:pPr>
            <a:r>
              <a:rPr sz="1875" b="0" i="0">
                <a:solidFill>
                  <a:srgbClr val="64717D"/>
                </a:solidFill>
              </a:rPr>
              <a:t>把分散的任务说明、数据字段和本体方案收束成可交付的设计包。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65451836-8D97-43F8-A181-CD73BD96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24A6DC-E54F-4F3B-A855-EE0A88C0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5048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550" b="1" i="0">
                <a:solidFill>
                  <a:srgbClr val="0E7C7B"/>
                </a:solidFill>
              </a:defRPr>
            </a:pPr>
            <a:r>
              <a:rPr sz="5550" b="1" i="0">
                <a:solidFill>
                  <a:srgbClr val="0E7C7B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FE7AD6-0064-4764-AC50-67A143D7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5048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64717D"/>
                </a:solidFill>
              </a:defRPr>
            </a:pPr>
            <a:r>
              <a:rPr sz="1650" b="0" i="0">
                <a:solidFill>
                  <a:srgbClr val="64717D"/>
                </a:solidFill>
              </a:rPr>
              <a:t>最终完整交付文档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BD8703-6445-43E7-B80A-E2EF3682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62200"/>
            <a:ext cx="5048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550" b="1" i="0">
                <a:solidFill>
                  <a:srgbClr val="2B5C9E"/>
                </a:solidFill>
              </a:defRPr>
            </a:pPr>
            <a:r>
              <a:rPr sz="5550" b="1" i="0">
                <a:solidFill>
                  <a:srgbClr val="2B5C9E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81B2E0-E602-461A-80A8-A3453304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05150"/>
            <a:ext cx="5048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64717D"/>
                </a:solidFill>
              </a:defRPr>
            </a:pPr>
            <a:r>
              <a:rPr sz="1650" b="0" i="0">
                <a:solidFill>
                  <a:srgbClr val="64717D"/>
                </a:solidFill>
              </a:rPr>
              <a:t>汇报 PPTX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03A127-E676-4210-9B1B-A0824A76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2362200"/>
            <a:ext cx="5048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550" b="1" i="0">
                <a:solidFill>
                  <a:srgbClr val="D9942D"/>
                </a:solidFill>
              </a:defRPr>
            </a:pPr>
            <a:r>
              <a:rPr sz="5550" b="1" i="0">
                <a:solidFill>
                  <a:srgbClr val="D9942D"/>
                </a:solidFill>
              </a:rPr>
              <a:t>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2AE134-88F5-40D2-83FA-F161D355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3105150"/>
            <a:ext cx="5048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64717D"/>
                </a:solidFill>
              </a:defRPr>
            </a:pPr>
            <a:r>
              <a:rPr sz="1650" b="0" i="0">
                <a:solidFill>
                  <a:srgbClr val="64717D"/>
                </a:solidFill>
              </a:rPr>
              <a:t>中间交付物被整合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FCB8AC-867F-477A-A63B-2A402D98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814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6E2A7F-F863-4BF0-8EDA-FF49D56A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81400"/>
            <a:ext cx="7143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7212B"/>
                </a:solidFill>
              </a:defRPr>
            </a:pPr>
            <a:r>
              <a:rPr sz="2025" b="0" i="0">
                <a:solidFill>
                  <a:srgbClr val="17212B"/>
                </a:solidFill>
              </a:rPr>
              <a:t>完成主数据库 16 字段和 RIP_ROP 42 字段的字段级本体映射。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6CFF87-CE8F-4ED2-AAB5-99724F79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E28947-80E3-4506-B951-F5DE948E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38650"/>
            <a:ext cx="8667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7212B"/>
                </a:solidFill>
              </a:defRPr>
            </a:pPr>
            <a:r>
              <a:rPr sz="2025" b="0" i="0">
                <a:solidFill>
                  <a:srgbClr val="17212B"/>
                </a:solidFill>
              </a:rPr>
              <a:t>形成 SPR 本体更新版 v0.3，明确新增类、属性、关系、规则和实例化路径。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383FDE-F2E0-41A8-BD24-A4CBFDDF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95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16E6BD-A8C4-435B-8936-9D7C53E4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95900"/>
            <a:ext cx="7715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7212B"/>
                </a:solidFill>
              </a:defRPr>
            </a:pPr>
            <a:r>
              <a:rPr sz="2025" b="0" i="0">
                <a:solidFill>
                  <a:srgbClr val="17212B"/>
                </a:solidFill>
              </a:rPr>
              <a:t>整理变更记录、顶层补充建议和待确认问题，方便后续沟通与落地。</a:t>
            </a:r>
          </a:p>
        </p:txBody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97A2F7B5-599A-445B-805B-2CEBEE3B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67850"/>
            <a:ext cx="16764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B8275"/>
                </a:solidFill>
              </a:defRPr>
            </a:pPr>
            <a:r>
              <a:rPr sz="1200">
                <a:solidFill>
                  <a:srgbClr val="8B8275"/>
                </a:solidFill>
              </a:rPr>
              <a:t>SPR 本体更新工作汇报 · 2026-04-24</a:t>
            </a:r>
          </a:p>
        </p:txBody>
      </p:sp>
    </p:spTree>
    <p:extLst>
      <p:ext uri="{BB962C8B-B14F-4D97-AF65-F5344CB8AC3E}">
        <p14:creationId xmlns:p14="http://schemas.microsoft.com/office/powerpoint/2010/main" val="76251697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40950B6-A65A-48B2-99EA-FFD7CA4F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E53ADA-ECD1-4BB8-8395-AA36F1A4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66750"/>
            <a:ext cx="16459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E7C7B"/>
                </a:solidFill>
              </a:defRPr>
            </a:pPr>
            <a:r>
              <a:rPr sz="1500" b="1" i="0">
                <a:solidFill>
                  <a:srgbClr val="0E7C7B"/>
                </a:solidFill>
              </a:rPr>
              <a:t>工作汇报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AA2D89-7D68-41CF-A21E-EA0D1222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90600"/>
            <a:ext cx="4972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17212B"/>
                </a:solidFill>
              </a:defRPr>
            </a:pPr>
            <a:r>
              <a:rPr sz="4350" b="1" i="0">
                <a:solidFill>
                  <a:srgbClr val="17212B"/>
                </a:solidFill>
              </a:rPr>
              <a:t>输入材料被分成三类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AF706E-9959-4DED-8875-85CD6AAE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6915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64717D"/>
                </a:solidFill>
              </a:defRPr>
            </a:pPr>
            <a:r>
              <a:rPr sz="1875" b="0" i="0">
                <a:solidFill>
                  <a:srgbClr val="64717D"/>
                </a:solidFill>
              </a:rPr>
              <a:t>先确认现有本体，再读取数据库字段，最后按顶层继承约束收口。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0802D5A1-1608-4092-83C2-0DF6B9C1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D60B75-00DC-42A6-A446-7DFA999F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075E5D"/>
                </a:solidFill>
              </a:defRPr>
            </a:pPr>
            <a:r>
              <a:rPr sz="1725" b="1" i="0">
                <a:solidFill>
                  <a:srgbClr val="075E5D"/>
                </a:solidFill>
              </a:rPr>
              <a:t>材料类型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7F4F20-4C11-4687-88D5-8D9A7F00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457450"/>
            <a:ext cx="619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075E5D"/>
                </a:solidFill>
              </a:defRPr>
            </a:pPr>
            <a:r>
              <a:rPr sz="1725" b="1" i="0">
                <a:solidFill>
                  <a:srgbClr val="075E5D"/>
                </a:solidFill>
              </a:rPr>
              <a:t>具体文件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784913-D337-46C0-9698-88B37CDE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457450"/>
            <a:ext cx="590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075E5D"/>
                </a:solidFill>
              </a:defRPr>
            </a:pPr>
            <a:r>
              <a:rPr sz="1725" b="1" i="0">
                <a:solidFill>
                  <a:srgbClr val="075E5D"/>
                </a:solidFill>
              </a:rPr>
              <a:t>作用</a:t>
            </a:r>
          </a:p>
        </p:txBody>
      </p:sp>
      <p:sp>
        <p:nvSpPr>
          <p:cNvPr id="9" name="table-top-rule">
            <a:extLst xmlns:a="http://schemas.openxmlformats.org/drawingml/2006/main">
              <a:ext uri="{FF2B5EF4-FFF2-40B4-BE49-F238E27FC236}">
                <a16:creationId xmlns:a16="http://schemas.microsoft.com/office/drawing/2014/main" id="{3B8756A8-22BE-47A6-A4A4-A33D409F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16459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7CF4EF-A4F1-453C-A49B-57B2A850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7212B"/>
                </a:solidFill>
              </a:defRPr>
            </a:pPr>
            <a:r>
              <a:rPr sz="1650" b="1" i="0">
                <a:solidFill>
                  <a:srgbClr val="17212B"/>
                </a:solidFill>
              </a:rPr>
              <a:t>任务与背景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7EF9BD-E6B4-4717-853D-DADC1C6F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895600"/>
            <a:ext cx="6191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64717D"/>
                </a:solidFill>
              </a:defRPr>
            </a:pPr>
            <a:r>
              <a:rPr sz="1650" b="0" i="0">
                <a:solidFill>
                  <a:srgbClr val="64717D"/>
                </a:solidFill>
              </a:rPr>
              <a:t>1.txt、SPR本体更新任务说明.md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5C16FD-2D0D-4EEA-89C0-1A76BF7B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895600"/>
            <a:ext cx="590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64717D"/>
                </a:solidFill>
              </a:defRPr>
            </a:pPr>
            <a:r>
              <a:rPr sz="1650" b="0" i="0">
                <a:solidFill>
                  <a:srgbClr val="64717D"/>
                </a:solidFill>
              </a:rPr>
              <a:t>明确师兄要求、交付目标和边界</a:t>
            </a:r>
          </a:p>
        </p:txBody>
      </p:sp>
      <p:sp>
        <p:nvSpPr>
          <p:cNvPr id="13" name="table-rule-0">
            <a:extLst xmlns:a="http://schemas.openxmlformats.org/drawingml/2006/main">
              <a:ext uri="{FF2B5EF4-FFF2-40B4-BE49-F238E27FC236}">
                <a16:creationId xmlns:a16="http://schemas.microsoft.com/office/drawing/2014/main" id="{3554D0D3-DF36-4704-B52F-E660D6F1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1645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3"/>
          </a:solidFill>
          <a:ln xmlns:a="http://schemas.openxmlformats.org/drawingml/2006/main" w="0">
            <a:solidFill>
              <a:srgbClr val="D9D2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DDCED5-8122-46E8-ABA8-F76DE356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7212B"/>
                </a:solidFill>
              </a:defRPr>
            </a:pPr>
            <a:r>
              <a:rPr sz="1650" b="1" i="0">
                <a:solidFill>
                  <a:srgbClr val="17212B"/>
                </a:solidFill>
              </a:rPr>
              <a:t>本体依据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CFF711-BFF3-43E4-BD7C-0D1560CE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276600"/>
            <a:ext cx="6191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64717D"/>
                </a:solidFill>
              </a:defRPr>
            </a:pPr>
            <a:r>
              <a:rPr sz="1650" b="0" i="0">
                <a:solidFill>
                  <a:srgbClr val="64717D"/>
                </a:solidFill>
              </a:rPr>
              <a:t>工艺本体v2.md、顶层工艺本体建设方案_v0.2.md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27E9A5-87D7-47CC-8706-F6DD4F73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276600"/>
            <a:ext cx="590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64717D"/>
                </a:solidFill>
              </a:defRPr>
            </a:pPr>
            <a:r>
              <a:rPr sz="1650" b="0" i="0">
                <a:solidFill>
                  <a:srgbClr val="64717D"/>
                </a:solidFill>
              </a:rPr>
              <a:t>确认保留主链路与顶层继承原则</a:t>
            </a:r>
          </a:p>
        </p:txBody>
      </p:sp>
      <p:sp>
        <p:nvSpPr>
          <p:cNvPr id="17" name="table-rule-1">
            <a:extLst xmlns:a="http://schemas.openxmlformats.org/drawingml/2006/main">
              <a:ext uri="{FF2B5EF4-FFF2-40B4-BE49-F238E27FC236}">
                <a16:creationId xmlns:a16="http://schemas.microsoft.com/office/drawing/2014/main" id="{2690C507-BC5B-4B3E-8519-2974BC9A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81400"/>
            <a:ext cx="1645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3"/>
          </a:solidFill>
          <a:ln xmlns:a="http://schemas.openxmlformats.org/drawingml/2006/main" w="0">
            <a:solidFill>
              <a:srgbClr val="D9D2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6E1FF6-AB35-40FD-943A-2C801E1C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7212B"/>
                </a:solidFill>
              </a:defRPr>
            </a:pPr>
            <a:r>
              <a:rPr sz="1650" b="1" i="0">
                <a:solidFill>
                  <a:srgbClr val="17212B"/>
                </a:solidFill>
              </a:rPr>
              <a:t>数据依据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CC7EC5-13D2-4374-A3B9-76923CD4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676650"/>
            <a:ext cx="6191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64717D"/>
                </a:solidFill>
              </a:defRPr>
            </a:pPr>
            <a:r>
              <a:rPr sz="1650" b="0" i="0">
                <a:solidFill>
                  <a:srgbClr val="64717D"/>
                </a:solidFill>
              </a:rPr>
              <a:t>pmc_body_shop_prod…xlsx、spr data2(1).xlsx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99219C-3B79-4E57-BF1C-E0A4573E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676650"/>
            <a:ext cx="590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64717D"/>
                </a:solidFill>
              </a:defRPr>
            </a:pPr>
            <a:r>
              <a:rPr sz="1650" b="0" i="0">
                <a:solidFill>
                  <a:srgbClr val="64717D"/>
                </a:solidFill>
              </a:rPr>
              <a:t>抽取字段、取值特征和本体映射来源</a:t>
            </a:r>
          </a:p>
        </p:txBody>
      </p:sp>
      <p:sp>
        <p:nvSpPr>
          <p:cNvPr id="21" name="table-rule-2">
            <a:extLst xmlns:a="http://schemas.openxmlformats.org/drawingml/2006/main">
              <a:ext uri="{FF2B5EF4-FFF2-40B4-BE49-F238E27FC236}">
                <a16:creationId xmlns:a16="http://schemas.microsoft.com/office/drawing/2014/main" id="{D7012354-D5E0-416D-93AD-A4E0C091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1645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3"/>
          </a:solidFill>
          <a:ln xmlns:a="http://schemas.openxmlformats.org/drawingml/2006/main" w="0">
            <a:solidFill>
              <a:srgbClr val="D9D2C3"/>
            </a:solidFill>
            <a:prstDash val="solid"/>
          </a:ln>
        </p:spPr>
      </p:sp>
      <p:sp>
        <p:nvSpPr>
          <p:cNvPr id="22" name="footer">
            <a:extLst xmlns:a="http://schemas.openxmlformats.org/drawingml/2006/main">
              <a:ext uri="{FF2B5EF4-FFF2-40B4-BE49-F238E27FC236}">
                <a16:creationId xmlns:a16="http://schemas.microsoft.com/office/drawing/2014/main" id="{6F4E73EC-4535-4B4B-9F7A-C24FD91F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67850"/>
            <a:ext cx="16764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B8275"/>
                </a:solidFill>
              </a:defRPr>
            </a:pPr>
            <a:r>
              <a:rPr sz="1200">
                <a:solidFill>
                  <a:srgbClr val="8B8275"/>
                </a:solidFill>
              </a:rPr>
              <a:t>SPR 本体更新工作汇报 · 2026-04-24</a:t>
            </a:r>
          </a:p>
        </p:txBody>
      </p:sp>
    </p:spTree>
    <p:extLst>
      <p:ext uri="{BB962C8B-B14F-4D97-AF65-F5344CB8AC3E}">
        <p14:creationId xmlns:p14="http://schemas.microsoft.com/office/powerpoint/2010/main" val="169921023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6CAB03F-DC0B-4E15-9C32-AD5FE379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1D428C-E491-4BDE-AD20-3396D7F1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66750"/>
            <a:ext cx="16459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E7C7B"/>
                </a:solidFill>
              </a:defRPr>
            </a:pPr>
            <a:r>
              <a:rPr sz="1500" b="1" i="0">
                <a:solidFill>
                  <a:srgbClr val="0E7C7B"/>
                </a:solidFill>
              </a:rPr>
              <a:t>工作汇报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D73F3D-6155-4DE5-9645-80856429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90600"/>
            <a:ext cx="2209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17212B"/>
                </a:solidFill>
              </a:defRPr>
            </a:pPr>
            <a:r>
              <a:rPr sz="4350" b="1" i="0">
                <a:solidFill>
                  <a:srgbClr val="17212B"/>
                </a:solidFill>
              </a:rPr>
              <a:t>执行路径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10C2BC-8298-4971-B531-42784FC9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6191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64717D"/>
                </a:solidFill>
              </a:defRPr>
            </a:pPr>
            <a:r>
              <a:rPr sz="1875" b="0" i="0">
                <a:solidFill>
                  <a:srgbClr val="64717D"/>
                </a:solidFill>
              </a:rPr>
              <a:t>工作不是只汇总文字，而是从字段统计一路落到本体结构。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1CDF92FC-978F-4CA6-978B-F5183705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22A221-D73A-46D4-BF56-971DDAAD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37C840-83D2-43C4-B653-BBCB67E0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1695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7212B"/>
                </a:solidFill>
              </a:defRPr>
            </a:pPr>
            <a:r>
              <a:rPr sz="1350" b="1" i="0">
                <a:solidFill>
                  <a:srgbClr val="17212B"/>
                </a:solidFill>
              </a:rPr>
              <a:t>读取任务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4C09C5-9990-4ACE-8632-CEB7D868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362200"/>
            <a:ext cx="323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D9D2C3"/>
                </a:solidFill>
              </a:defRPr>
            </a:pPr>
            <a:r>
              <a:rPr sz="2550" b="1" i="0">
                <a:solidFill>
                  <a:srgbClr val="D9D2C3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C48AF1-7DB4-4A57-9922-54E03A08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6220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5C9E"/>
          </a:solidFill>
          <a:ln xmlns:a="http://schemas.openxmlformats.org/drawingml/2006/main" w="0">
            <a:solidFill>
              <a:srgbClr val="2B5C9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52BB44-FF43-49F9-90FA-7E588898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67050"/>
            <a:ext cx="1695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7212B"/>
                </a:solidFill>
              </a:defRPr>
            </a:pPr>
            <a:r>
              <a:rPr sz="1350" b="1" i="0">
                <a:solidFill>
                  <a:srgbClr val="17212B"/>
                </a:solidFill>
              </a:rPr>
              <a:t>复核本体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AA6C61-6CC7-4CB0-9CB4-C2841D12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62200"/>
            <a:ext cx="323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D9D2C3"/>
                </a:solidFill>
              </a:defRPr>
            </a:pPr>
            <a:r>
              <a:rPr sz="2550" b="1" i="0">
                <a:solidFill>
                  <a:srgbClr val="D9D2C3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0BF251-0CAF-4E31-8A30-50F8F36B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6220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942D"/>
          </a:solidFill>
          <a:ln xmlns:a="http://schemas.openxmlformats.org/drawingml/2006/main" w="0">
            <a:solidFill>
              <a:srgbClr val="D9942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BC1C4D-E24D-4F8C-8149-579F3C99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067050"/>
            <a:ext cx="1695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7212B"/>
                </a:solidFill>
              </a:defRPr>
            </a:pPr>
            <a:r>
              <a:rPr sz="1350" b="1" i="0">
                <a:solidFill>
                  <a:srgbClr val="17212B"/>
                </a:solidFill>
              </a:rPr>
              <a:t>统计字段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4F9FA8-56DD-47C8-BB6B-5B0B7667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62200"/>
            <a:ext cx="323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D9D2C3"/>
                </a:solidFill>
              </a:defRPr>
            </a:pPr>
            <a:r>
              <a:rPr sz="2550" b="1" i="0">
                <a:solidFill>
                  <a:srgbClr val="D9D2C3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8A0780-7E3B-4E9E-9264-29672A9B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6220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5402BB-586D-45A8-BFAA-ACCB5502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67050"/>
            <a:ext cx="1695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7212B"/>
                </a:solidFill>
              </a:defRPr>
            </a:pPr>
            <a:r>
              <a:rPr sz="1350" b="1" i="0">
                <a:solidFill>
                  <a:srgbClr val="17212B"/>
                </a:solidFill>
              </a:rPr>
              <a:t>建立映射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30004C-B290-47BA-92B3-BBD2C1A3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62200"/>
            <a:ext cx="323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D9D2C3"/>
                </a:solidFill>
              </a:defRPr>
            </a:pPr>
            <a:r>
              <a:rPr sz="2550" b="1" i="0">
                <a:solidFill>
                  <a:srgbClr val="D9D2C3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1FEF57-054B-48B7-AC8D-15E4B3A5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6220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5C9E"/>
          </a:solidFill>
          <a:ln xmlns:a="http://schemas.openxmlformats.org/drawingml/2006/main" w="0">
            <a:solidFill>
              <a:srgbClr val="2B5C9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4BE5F3-029C-458D-A39F-D94D1D4F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67050"/>
            <a:ext cx="1695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7212B"/>
                </a:solidFill>
              </a:defRPr>
            </a:pPr>
            <a:r>
              <a:rPr sz="1350" b="1" i="0">
                <a:solidFill>
                  <a:srgbClr val="17212B"/>
                </a:solidFill>
              </a:rPr>
              <a:t>更新本体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5D672F-39C2-4C37-87A6-480AC02B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362200"/>
            <a:ext cx="323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D9D2C3"/>
                </a:solidFill>
              </a:defRPr>
            </a:pPr>
            <a:r>
              <a:rPr sz="2550" b="1" i="0">
                <a:solidFill>
                  <a:srgbClr val="D9D2C3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D3BFBC-4302-4278-9CF9-301D2054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236220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942D"/>
          </a:solidFill>
          <a:ln xmlns:a="http://schemas.openxmlformats.org/drawingml/2006/main" w="0">
            <a:solidFill>
              <a:srgbClr val="D9942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9C0124-77F6-4C24-AA00-E5B81C00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3067050"/>
            <a:ext cx="1695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7212B"/>
                </a:solidFill>
              </a:defRPr>
            </a:pPr>
            <a:r>
              <a:rPr sz="1350" b="1" i="0">
                <a:solidFill>
                  <a:srgbClr val="17212B"/>
                </a:solidFill>
              </a:rPr>
              <a:t>形成交付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F63639-FE19-4383-8122-9D5F1209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2DB7F2-A9A4-4E70-8A79-CDF60A4A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05200"/>
            <a:ext cx="74676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7212B"/>
                </a:solidFill>
              </a:defRPr>
            </a:pPr>
            <a:r>
              <a:rPr sz="1875" b="0" i="0">
                <a:solidFill>
                  <a:srgbClr val="17212B"/>
                </a:solidFill>
              </a:rPr>
              <a:t>先确认原 SPR 本体已有的“连接点-工位-设备-程序-参数-质量”主链路。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639049-C69B-471A-AAF8-84236FE0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0CF643-1E93-407B-A921-3F693ABC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62450"/>
            <a:ext cx="7620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7212B"/>
                </a:solidFill>
              </a:defRPr>
            </a:pPr>
            <a:r>
              <a:rPr sz="1875" b="0" i="0">
                <a:solidFill>
                  <a:srgbClr val="17212B"/>
                </a:solidFill>
              </a:rPr>
              <a:t>再判断数据库字段是由现有类承载、补属性、建扩展类，还是暂需确认。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192D60-441B-459A-8A87-3BBCA2C4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3E955F-C05E-451A-9C44-BCAA6883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4324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7212B"/>
                </a:solidFill>
              </a:defRPr>
            </a:pPr>
            <a:r>
              <a:rPr sz="1875" b="0" i="0">
                <a:solidFill>
                  <a:srgbClr val="17212B"/>
                </a:solidFill>
              </a:rPr>
              <a:t>最后把结果固化为最终文档和汇报 PPT。</a:t>
            </a:r>
          </a:p>
        </p:txBody>
      </p:sp>
      <p:sp>
        <p:nvSpPr>
          <p:cNvPr id="29" name="footer">
            <a:extLst xmlns:a="http://schemas.openxmlformats.org/drawingml/2006/main">
              <a:ext uri="{FF2B5EF4-FFF2-40B4-BE49-F238E27FC236}">
                <a16:creationId xmlns:a16="http://schemas.microsoft.com/office/drawing/2014/main" id="{3523AB70-0AC9-49A7-89E1-F2284525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67850"/>
            <a:ext cx="16764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B8275"/>
                </a:solidFill>
              </a:defRPr>
            </a:pPr>
            <a:r>
              <a:rPr sz="1200">
                <a:solidFill>
                  <a:srgbClr val="8B8275"/>
                </a:solidFill>
              </a:rPr>
              <a:t>SPR 本体更新工作汇报 · 2026-04-24</a:t>
            </a:r>
          </a:p>
        </p:txBody>
      </p:sp>
    </p:spTree>
    <p:extLst>
      <p:ext uri="{BB962C8B-B14F-4D97-AF65-F5344CB8AC3E}">
        <p14:creationId xmlns:p14="http://schemas.microsoft.com/office/powerpoint/2010/main" val="31330834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35894EF-1328-4EE0-A449-0C5058C9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4CC9F0-BF5E-4F86-AF4E-505F46FB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66750"/>
            <a:ext cx="16459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E7C7B"/>
                </a:solidFill>
              </a:defRPr>
            </a:pPr>
            <a:r>
              <a:rPr sz="1500" b="1" i="0">
                <a:solidFill>
                  <a:srgbClr val="0E7C7B"/>
                </a:solidFill>
              </a:rPr>
              <a:t>工作汇报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532AC2-B30F-4073-BDBC-F7B9BA42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90600"/>
            <a:ext cx="60769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17212B"/>
                </a:solidFill>
              </a:defRPr>
            </a:pPr>
            <a:r>
              <a:rPr sz="4350" b="1" i="0">
                <a:solidFill>
                  <a:srgbClr val="17212B"/>
                </a:solidFill>
              </a:rPr>
              <a:t>关键原则：主链路不重构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CE202E-94F8-4282-B50F-E6DA760A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8229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64717D"/>
                </a:solidFill>
              </a:defRPr>
            </a:pPr>
            <a:r>
              <a:rPr sz="1875" b="0" i="0">
                <a:solidFill>
                  <a:srgbClr val="64717D"/>
                </a:solidFill>
              </a:rPr>
              <a:t>顶层方案明确要求保持现有 SPR 本体内部定义不变，本次只补数据接入能力。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0B60410B-821E-40AD-94DF-329314A1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5A63D8-1E74-43CC-A9EF-E98A8B7D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D94F46-C33E-461C-B97C-D9ADD7F6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1695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7212B"/>
                </a:solidFill>
              </a:defRPr>
            </a:pPr>
            <a:r>
              <a:rPr sz="1350" b="1" i="0">
                <a:solidFill>
                  <a:srgbClr val="17212B"/>
                </a:solidFill>
              </a:rPr>
              <a:t>SPR连接点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0990F1-8878-4009-AD2C-F1F672DE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362200"/>
            <a:ext cx="323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D9D2C3"/>
                </a:solidFill>
              </a:defRPr>
            </a:pPr>
            <a:r>
              <a:rPr sz="2550" b="1" i="0">
                <a:solidFill>
                  <a:srgbClr val="D9D2C3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E7B5F5-92DB-4CA8-9F08-6E0C066F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6220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5E5D"/>
          </a:solidFill>
          <a:ln xmlns:a="http://schemas.openxmlformats.org/drawingml/2006/main" w="0">
            <a:solidFill>
              <a:srgbClr val="075E5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D6F732-9F82-4006-8794-88F45E29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67050"/>
            <a:ext cx="1695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7212B"/>
                </a:solidFill>
              </a:defRPr>
            </a:pPr>
            <a:r>
              <a:rPr sz="1350" b="1" i="0">
                <a:solidFill>
                  <a:srgbClr val="17212B"/>
                </a:solidFill>
              </a:rPr>
              <a:t>工位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9065B8-C6EB-498E-9E30-FF02280D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62200"/>
            <a:ext cx="323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D9D2C3"/>
                </a:solidFill>
              </a:defRPr>
            </a:pPr>
            <a:r>
              <a:rPr sz="2550" b="1" i="0">
                <a:solidFill>
                  <a:srgbClr val="D9D2C3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CE360E-77F8-444D-A5AA-5CEC57FC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6220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5C9E"/>
          </a:solidFill>
          <a:ln xmlns:a="http://schemas.openxmlformats.org/drawingml/2006/main" w="0">
            <a:solidFill>
              <a:srgbClr val="2B5C9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A9ACBC-9B2C-4FEE-B9B8-D877F9DD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067050"/>
            <a:ext cx="1695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7212B"/>
                </a:solidFill>
              </a:defRPr>
            </a:pPr>
            <a:r>
              <a:rPr sz="1350" b="1" i="0">
                <a:solidFill>
                  <a:srgbClr val="17212B"/>
                </a:solidFill>
              </a:rPr>
              <a:t>设备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1017E2-621E-40A0-9577-0427D508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62200"/>
            <a:ext cx="323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D9D2C3"/>
                </a:solidFill>
              </a:defRPr>
            </a:pPr>
            <a:r>
              <a:rPr sz="2550" b="1" i="0">
                <a:solidFill>
                  <a:srgbClr val="D9D2C3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FCC8CE-815A-4323-94FC-0D61B8A2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6220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68FE62-239E-4500-A9C9-620C6941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67050"/>
            <a:ext cx="1695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7212B"/>
                </a:solidFill>
              </a:defRPr>
            </a:pPr>
            <a:r>
              <a:rPr sz="1350" b="1" i="0">
                <a:solidFill>
                  <a:srgbClr val="17212B"/>
                </a:solidFill>
              </a:rPr>
              <a:t>程序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3A23DC-9F0D-47EE-BF4B-F21835CF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62200"/>
            <a:ext cx="323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D9D2C3"/>
                </a:solidFill>
              </a:defRPr>
            </a:pPr>
            <a:r>
              <a:rPr sz="2550" b="1" i="0">
                <a:solidFill>
                  <a:srgbClr val="D9D2C3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38104A-F129-4AAF-89D7-6B4998EF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6220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5E5D"/>
          </a:solidFill>
          <a:ln xmlns:a="http://schemas.openxmlformats.org/drawingml/2006/main" w="0">
            <a:solidFill>
              <a:srgbClr val="075E5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8E7B6B-D3BD-4A4D-BDAE-2E3D6BE2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67050"/>
            <a:ext cx="1695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7212B"/>
                </a:solidFill>
              </a:defRPr>
            </a:pPr>
            <a:r>
              <a:rPr sz="1350" b="1" i="0">
                <a:solidFill>
                  <a:srgbClr val="17212B"/>
                </a:solidFill>
              </a:rPr>
              <a:t>参数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63B2A8-2456-4765-82F9-95313FEC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362200"/>
            <a:ext cx="323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D9D2C3"/>
                </a:solidFill>
              </a:defRPr>
            </a:pPr>
            <a:r>
              <a:rPr sz="2550" b="1" i="0">
                <a:solidFill>
                  <a:srgbClr val="D9D2C3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6DFD30-FCD5-4D7C-855F-99D506FD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236220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5C9E"/>
          </a:solidFill>
          <a:ln xmlns:a="http://schemas.openxmlformats.org/drawingml/2006/main" w="0">
            <a:solidFill>
              <a:srgbClr val="2B5C9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050979-E8BD-45BF-A73A-72C7A87F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3067050"/>
            <a:ext cx="1695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7212B"/>
                </a:solidFill>
              </a:defRPr>
            </a:pPr>
            <a:r>
              <a:rPr sz="1350" b="1" i="0">
                <a:solidFill>
                  <a:srgbClr val="17212B"/>
                </a:solidFill>
              </a:rPr>
              <a:t>质量结果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046190-7251-4F7D-BFDD-F8AB81A3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5450" y="2362200"/>
            <a:ext cx="323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D9D2C3"/>
                </a:solidFill>
              </a:defRPr>
            </a:pPr>
            <a:r>
              <a:rPr sz="2550" b="1" i="0">
                <a:solidFill>
                  <a:srgbClr val="D9D2C3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1F24E8-6877-43C4-A583-A2712650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236220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0855EF-57B0-4D9F-B912-7216E39D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3067050"/>
            <a:ext cx="1695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7212B"/>
                </a:solidFill>
              </a:defRPr>
            </a:pPr>
            <a:r>
              <a:rPr sz="1350" b="1" i="0">
                <a:solidFill>
                  <a:srgbClr val="17212B"/>
                </a:solidFill>
              </a:rPr>
              <a:t>缺陷/根因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70C962-7346-4524-A613-1D9C9957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0450"/>
            <a:ext cx="647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75E5D"/>
                </a:solidFill>
              </a:defRPr>
            </a:pPr>
            <a:r>
              <a:rPr sz="1800" b="1" i="0">
                <a:solidFill>
                  <a:srgbClr val="075E5D"/>
                </a:solidFill>
              </a:rPr>
              <a:t>保留内容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FA2B56-E488-494E-9889-3D1A7517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600450"/>
            <a:ext cx="781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75E5D"/>
                </a:solidFill>
              </a:defRPr>
            </a:pPr>
            <a:r>
              <a:rPr sz="1800" b="1" i="0">
                <a:solidFill>
                  <a:srgbClr val="075E5D"/>
                </a:solidFill>
              </a:rPr>
              <a:t>本次补充</a:t>
            </a:r>
          </a:p>
        </p:txBody>
      </p:sp>
      <p:sp>
        <p:nvSpPr>
          <p:cNvPr id="28" name="table-top-rule">
            <a:extLst xmlns:a="http://schemas.openxmlformats.org/drawingml/2006/main">
              <a:ext uri="{FF2B5EF4-FFF2-40B4-BE49-F238E27FC236}">
                <a16:creationId xmlns:a16="http://schemas.microsoft.com/office/drawing/2014/main" id="{33ACD390-0772-4896-A809-20227951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16459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ED9C62-6F59-404C-8732-4BC83D9E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38600"/>
            <a:ext cx="647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7212B"/>
                </a:solidFill>
              </a:defRPr>
            </a:pPr>
            <a:r>
              <a:rPr sz="1650" b="1" i="0">
                <a:solidFill>
                  <a:srgbClr val="17212B"/>
                </a:solidFill>
              </a:rPr>
              <a:t>产线、工位、设备、程序等核心实体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82D29C-70CD-4953-8B38-0805B4C8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038600"/>
            <a:ext cx="7810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64717D"/>
                </a:solidFill>
              </a:defRPr>
            </a:pPr>
            <a:r>
              <a:rPr sz="1650" b="0" i="0">
                <a:solidFill>
                  <a:srgbClr val="64717D"/>
                </a:solidFill>
              </a:rPr>
              <a:t>在线过程记录类</a:t>
            </a:r>
          </a:p>
        </p:txBody>
      </p:sp>
      <p:sp>
        <p:nvSpPr>
          <p:cNvPr id="31" name="table-rule-0">
            <a:extLst xmlns:a="http://schemas.openxmlformats.org/drawingml/2006/main">
              <a:ext uri="{FF2B5EF4-FFF2-40B4-BE49-F238E27FC236}">
                <a16:creationId xmlns:a16="http://schemas.microsoft.com/office/drawing/2014/main" id="{1A39B45D-BA8C-43FE-AC72-5AC65A6A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1645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3"/>
          </a:solidFill>
          <a:ln xmlns:a="http://schemas.openxmlformats.org/drawingml/2006/main" w="0">
            <a:solidFill>
              <a:srgbClr val="D9D2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F648FD-E469-4826-A967-9F61C584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647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7212B"/>
                </a:solidFill>
              </a:defRPr>
            </a:pPr>
            <a:r>
              <a:rPr sz="1650" b="1" i="0">
                <a:solidFill>
                  <a:srgbClr val="17212B"/>
                </a:solidFill>
              </a:rPr>
              <a:t>SPR连接点、铆钉、铆模、材料等主数据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A42C8F-6CD8-497F-89C5-2BC1EC7E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38650"/>
            <a:ext cx="7810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64717D"/>
                </a:solidFill>
              </a:defRPr>
            </a:pPr>
            <a:r>
              <a:rPr sz="1650" b="0" i="0">
                <a:solidFill>
                  <a:srgbClr val="64717D"/>
                </a:solidFill>
              </a:rPr>
              <a:t>曲线、计算后曲线、包络线</a:t>
            </a:r>
          </a:p>
        </p:txBody>
      </p:sp>
      <p:sp>
        <p:nvSpPr>
          <p:cNvPr id="34" name="table-rule-1">
            <a:extLst xmlns:a="http://schemas.openxmlformats.org/drawingml/2006/main">
              <a:ext uri="{FF2B5EF4-FFF2-40B4-BE49-F238E27FC236}">
                <a16:creationId xmlns:a16="http://schemas.microsoft.com/office/drawing/2014/main" id="{DEA73E21-FFBE-4A4D-B36A-98C32664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24400"/>
            <a:ext cx="1645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3"/>
          </a:solidFill>
          <a:ln xmlns:a="http://schemas.openxmlformats.org/drawingml/2006/main" w="0">
            <a:solidFill>
              <a:srgbClr val="D9D2C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8089FF-DFFF-4A6F-8DBB-6F011CC3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647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7212B"/>
                </a:solidFill>
              </a:defRPr>
            </a:pPr>
            <a:r>
              <a:rPr sz="1650" b="1" i="0">
                <a:solidFill>
                  <a:srgbClr val="17212B"/>
                </a:solidFill>
              </a:rPr>
              <a:t>工艺参数、质量结果、缺陷、根因链路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60B9A1-BBD4-4D3B-8332-56588ABC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819650"/>
            <a:ext cx="7810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64717D"/>
                </a:solidFill>
              </a:defRPr>
            </a:pPr>
            <a:r>
              <a:rPr sz="1650" b="0" i="0">
                <a:solidFill>
                  <a:srgbClr val="64717D"/>
                </a:solidFill>
              </a:rPr>
              <a:t>预测结果、误差率、RRC/PECV2、公差阈值</a:t>
            </a:r>
          </a:p>
        </p:txBody>
      </p:sp>
      <p:sp>
        <p:nvSpPr>
          <p:cNvPr id="37" name="table-rule-2">
            <a:extLst xmlns:a="http://schemas.openxmlformats.org/drawingml/2006/main">
              <a:ext uri="{FF2B5EF4-FFF2-40B4-BE49-F238E27FC236}">
                <a16:creationId xmlns:a16="http://schemas.microsoft.com/office/drawing/2014/main" id="{EBA34EA8-0254-4125-955D-0FBACB79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24450"/>
            <a:ext cx="1645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3"/>
          </a:solidFill>
          <a:ln xmlns:a="http://schemas.openxmlformats.org/drawingml/2006/main" w="0">
            <a:solidFill>
              <a:srgbClr val="D9D2C3"/>
            </a:solidFill>
            <a:prstDash val="solid"/>
          </a:ln>
        </p:spPr>
      </p:sp>
      <p:sp>
        <p:nvSpPr>
          <p:cNvPr id="38" name="footer">
            <a:extLst xmlns:a="http://schemas.openxmlformats.org/drawingml/2006/main">
              <a:ext uri="{FF2B5EF4-FFF2-40B4-BE49-F238E27FC236}">
                <a16:creationId xmlns:a16="http://schemas.microsoft.com/office/drawing/2014/main" id="{65D70A69-6B19-46C0-805E-DB1DC0E1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67850"/>
            <a:ext cx="16764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B8275"/>
                </a:solidFill>
              </a:defRPr>
            </a:pPr>
            <a:r>
              <a:rPr sz="1200">
                <a:solidFill>
                  <a:srgbClr val="8B8275"/>
                </a:solidFill>
              </a:rPr>
              <a:t>SPR 本体更新工作汇报 · 2026-04-24</a:t>
            </a:r>
          </a:p>
        </p:txBody>
      </p:sp>
    </p:spTree>
    <p:extLst>
      <p:ext uri="{BB962C8B-B14F-4D97-AF65-F5344CB8AC3E}">
        <p14:creationId xmlns:p14="http://schemas.microsoft.com/office/powerpoint/2010/main" val="148179721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657832BE-7A43-4D45-8900-1A868938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1FEA0E-7D9D-44DB-B1AF-6942BB91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66750"/>
            <a:ext cx="16459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E7C7B"/>
                </a:solidFill>
              </a:defRPr>
            </a:pPr>
            <a:r>
              <a:rPr sz="1500" b="1" i="0">
                <a:solidFill>
                  <a:srgbClr val="0E7C7B"/>
                </a:solidFill>
              </a:rPr>
              <a:t>工作汇报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F02E8F-3F62-4962-8E85-F9BA32D3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90600"/>
            <a:ext cx="4419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17212B"/>
                </a:solidFill>
              </a:defRPr>
            </a:pPr>
            <a:r>
              <a:rPr sz="4350" b="1" i="0">
                <a:solidFill>
                  <a:srgbClr val="17212B"/>
                </a:solidFill>
              </a:rPr>
              <a:t>字段映射完成情况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A4EA59-A4F5-4374-B7CA-91653BE7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4762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64717D"/>
                </a:solidFill>
              </a:defRPr>
            </a:pPr>
            <a:r>
              <a:rPr sz="1875" b="0" i="0">
                <a:solidFill>
                  <a:srgbClr val="64717D"/>
                </a:solidFill>
              </a:rPr>
              <a:t>两个 Excel 的字段都已逐项覆盖，没有遗漏。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9535602F-274E-4368-90C4-1AA063AB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95A948-2763-440D-A825-29B63ABC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49720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550" b="1" i="0">
                <a:solidFill>
                  <a:srgbClr val="0E7C7B"/>
                </a:solidFill>
              </a:defRPr>
            </a:pPr>
            <a:r>
              <a:rPr sz="5550" b="1" i="0">
                <a:solidFill>
                  <a:srgbClr val="0E7C7B"/>
                </a:solidFill>
              </a:rPr>
              <a:t>16/16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6A7D60-65BB-4E69-858D-9A3B2A36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64717D"/>
                </a:solidFill>
              </a:defRPr>
            </a:pPr>
            <a:r>
              <a:rPr sz="1650" b="0" i="0">
                <a:solidFill>
                  <a:srgbClr val="64717D"/>
                </a:solidFill>
              </a:rPr>
              <a:t>主数据库字段已映射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B1C2C3-DE2A-4704-989C-B8B4D7A2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09850"/>
            <a:ext cx="49720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550" b="1" i="0">
                <a:solidFill>
                  <a:srgbClr val="2B5C9E"/>
                </a:solidFill>
              </a:defRPr>
            </a:pPr>
            <a:r>
              <a:rPr sz="5550" b="1" i="0">
                <a:solidFill>
                  <a:srgbClr val="2B5C9E"/>
                </a:solidFill>
              </a:rPr>
              <a:t>42/42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999932-F820-46B1-BB82-46161281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5280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64717D"/>
                </a:solidFill>
              </a:defRPr>
            </a:pPr>
            <a:r>
              <a:rPr sz="1650" b="0" i="0">
                <a:solidFill>
                  <a:srgbClr val="64717D"/>
                </a:solidFill>
              </a:rPr>
              <a:t>RIP_ROP 字段已映射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E07DA1-D49D-4EDE-A438-42EC9720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2609850"/>
            <a:ext cx="49720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550" b="1" i="0">
                <a:solidFill>
                  <a:srgbClr val="D9942D"/>
                </a:solidFill>
              </a:defRPr>
            </a:pPr>
            <a:r>
              <a:rPr sz="5550" b="1" i="0">
                <a:solidFill>
                  <a:srgbClr val="D9942D"/>
                </a:solidFill>
              </a:rPr>
              <a:t>4 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C06A0E-7585-4FD4-A864-FC940726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335280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64717D"/>
                </a:solidFill>
              </a:defRPr>
            </a:pPr>
            <a:r>
              <a:rPr sz="1650" b="0" i="0">
                <a:solidFill>
                  <a:srgbClr val="64717D"/>
                </a:solidFill>
              </a:rPr>
              <a:t>处理状态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37676B-4959-4CF2-A238-4E4BD801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247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75E5D"/>
                </a:solidFill>
              </a:defRPr>
            </a:pPr>
            <a:r>
              <a:rPr sz="1650" b="1" i="0">
                <a:solidFill>
                  <a:srgbClr val="075E5D"/>
                </a:solidFill>
              </a:rPr>
              <a:t>处理状态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F5FAE4-E65F-46E2-8600-9D5387FD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5429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75E5D"/>
                </a:solidFill>
              </a:defRPr>
            </a:pPr>
            <a:r>
              <a:rPr sz="1650" b="1" i="0">
                <a:solidFill>
                  <a:srgbClr val="075E5D"/>
                </a:solidFill>
              </a:rPr>
              <a:t>代表字段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255427-3100-47D3-8AB8-5342FBCC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924300"/>
            <a:ext cx="590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75E5D"/>
                </a:solidFill>
              </a:defRPr>
            </a:pPr>
            <a:r>
              <a:rPr sz="1650" b="1" i="0">
                <a:solidFill>
                  <a:srgbClr val="075E5D"/>
                </a:solidFill>
              </a:rPr>
              <a:t>处理方式</a:t>
            </a:r>
          </a:p>
        </p:txBody>
      </p:sp>
      <p:sp>
        <p:nvSpPr>
          <p:cNvPr id="15" name="table-top-rule">
            <a:extLst xmlns:a="http://schemas.openxmlformats.org/drawingml/2006/main">
              <a:ext uri="{FF2B5EF4-FFF2-40B4-BE49-F238E27FC236}">
                <a16:creationId xmlns:a16="http://schemas.microsoft.com/office/drawing/2014/main" id="{CF6C1474-1F46-43C3-9681-08DC5059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16459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C01900-09A5-41DB-B6C4-6A48C688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212B"/>
                </a:solidFill>
              </a:defRPr>
            </a:pPr>
            <a:r>
              <a:rPr sz="1500" b="1" i="0">
                <a:solidFill>
                  <a:srgbClr val="17212B"/>
                </a:solidFill>
              </a:rPr>
              <a:t>已有类可承载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108A22-7F2B-444A-9ADB-31E981CD3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343400"/>
            <a:ext cx="5429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64717D"/>
                </a:solidFill>
              </a:defRPr>
            </a:pPr>
            <a:r>
              <a:rPr sz="1500" b="0" i="0">
                <a:solidFill>
                  <a:srgbClr val="64717D"/>
                </a:solidFill>
              </a:rPr>
              <a:t>line_name、device_name、prog_no、rivet_id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777F7A-834E-4BDB-BB9B-02394AF3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343400"/>
            <a:ext cx="590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64717D"/>
                </a:solidFill>
              </a:defRPr>
            </a:pPr>
            <a:r>
              <a:rPr sz="1500" b="0" i="0">
                <a:solidFill>
                  <a:srgbClr val="64717D"/>
                </a:solidFill>
              </a:rPr>
              <a:t>映射到产线、设备、程序、SPR连接点</a:t>
            </a:r>
          </a:p>
        </p:txBody>
      </p:sp>
      <p:sp>
        <p:nvSpPr>
          <p:cNvPr id="19" name="table-rule-0">
            <a:extLst xmlns:a="http://schemas.openxmlformats.org/drawingml/2006/main">
              <a:ext uri="{FF2B5EF4-FFF2-40B4-BE49-F238E27FC236}">
                <a16:creationId xmlns:a16="http://schemas.microsoft.com/office/drawing/2014/main" id="{7E4BF486-6461-437B-84CA-CEDD2E31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0100"/>
            <a:ext cx="1645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3"/>
          </a:solidFill>
          <a:ln xmlns:a="http://schemas.openxmlformats.org/drawingml/2006/main" w="0">
            <a:solidFill>
              <a:srgbClr val="D9D2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E83F0D-BB15-467D-9B81-8B3C1B8D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0535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212B"/>
                </a:solidFill>
              </a:defRPr>
            </a:pPr>
            <a:r>
              <a:rPr sz="1500" b="1" i="0">
                <a:solidFill>
                  <a:srgbClr val="17212B"/>
                </a:solidFill>
              </a:rPr>
              <a:t>需补属性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2B4AAD-0B29-471E-AE44-0EF9A493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705350"/>
            <a:ext cx="5429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64717D"/>
                </a:solidFill>
              </a:defRPr>
            </a:pPr>
            <a:r>
              <a:rPr sz="1500" b="0" i="0">
                <a:solidFill>
                  <a:srgbClr val="64717D"/>
                </a:solidFill>
              </a:rPr>
              <a:t>钢板厚度、铆钉长度、铆接线最大力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07709D-E655-4979-BBB9-65CF6913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705350"/>
            <a:ext cx="590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64717D"/>
                </a:solidFill>
              </a:defRPr>
            </a:pPr>
            <a:r>
              <a:rPr sz="1500" b="0" i="0">
                <a:solidFill>
                  <a:srgbClr val="64717D"/>
                </a:solidFill>
              </a:rPr>
              <a:t>补到材料、铆钉、工艺参数类</a:t>
            </a:r>
          </a:p>
        </p:txBody>
      </p:sp>
      <p:sp>
        <p:nvSpPr>
          <p:cNvPr id="23" name="table-rule-1">
            <a:extLst xmlns:a="http://schemas.openxmlformats.org/drawingml/2006/main">
              <a:ext uri="{FF2B5EF4-FFF2-40B4-BE49-F238E27FC236}">
                <a16:creationId xmlns:a16="http://schemas.microsoft.com/office/drawing/2014/main" id="{D6EB4FCA-2953-41F8-8DD5-6C7934B2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91100"/>
            <a:ext cx="1645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3"/>
          </a:solidFill>
          <a:ln xmlns:a="http://schemas.openxmlformats.org/drawingml/2006/main" w="0">
            <a:solidFill>
              <a:srgbClr val="D9D2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7BC797-209E-4665-BE68-9BAD1E25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8635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212B"/>
                </a:solidFill>
              </a:defRPr>
            </a:pPr>
            <a:r>
              <a:rPr sz="1500" b="1" i="0">
                <a:solidFill>
                  <a:srgbClr val="17212B"/>
                </a:solidFill>
              </a:rPr>
              <a:t>需新增扩展类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514CF1-B674-4832-83E9-25C0FF66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086350"/>
            <a:ext cx="5429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64717D"/>
                </a:solidFill>
              </a:defRPr>
            </a:pPr>
            <a:r>
              <a:rPr sz="1500" b="0" i="0">
                <a:solidFill>
                  <a:srgbClr val="64717D"/>
                </a:solidFill>
              </a:rPr>
              <a:t>id、biz_id、original_data、calculate_data、包络线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4A9DCB-6344-4929-B402-1672B7BD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086350"/>
            <a:ext cx="590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64717D"/>
                </a:solidFill>
              </a:defRPr>
            </a:pPr>
            <a:r>
              <a:rPr sz="1500" b="0" i="0">
                <a:solidFill>
                  <a:srgbClr val="64717D"/>
                </a:solidFill>
              </a:rPr>
              <a:t>新增过程记录、曲线、包络线类</a:t>
            </a:r>
          </a:p>
        </p:txBody>
      </p:sp>
      <p:sp>
        <p:nvSpPr>
          <p:cNvPr id="27" name="table-rule-2">
            <a:extLst xmlns:a="http://schemas.openxmlformats.org/drawingml/2006/main">
              <a:ext uri="{FF2B5EF4-FFF2-40B4-BE49-F238E27FC236}">
                <a16:creationId xmlns:a16="http://schemas.microsoft.com/office/drawing/2014/main" id="{D9B373E1-242D-4796-852E-F9247993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3050"/>
            <a:ext cx="1645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3"/>
          </a:solidFill>
          <a:ln xmlns:a="http://schemas.openxmlformats.org/drawingml/2006/main" w="0">
            <a:solidFill>
              <a:srgbClr val="D9D2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19E621-C9AA-4255-85AD-78E3ADD1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4830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212B"/>
                </a:solidFill>
              </a:defRPr>
            </a:pPr>
            <a:r>
              <a:rPr sz="1500" b="1" i="0">
                <a:solidFill>
                  <a:srgbClr val="17212B"/>
                </a:solidFill>
              </a:rPr>
              <a:t>需确认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FFDCD6-1C71-45E3-A6CD-276A8145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448300"/>
            <a:ext cx="5429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64717D"/>
                </a:solidFill>
              </a:defRPr>
            </a:pPr>
            <a:r>
              <a:rPr sz="1500" b="0" i="0">
                <a:solidFill>
                  <a:srgbClr val="64717D"/>
                </a:solidFill>
              </a:rPr>
              <a:t>pre、JIC dVal、RRC、PECV2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3C824D-3C29-4870-A798-5E60A3FC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448300"/>
            <a:ext cx="590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64717D"/>
                </a:solidFill>
              </a:defRPr>
            </a:pPr>
            <a:r>
              <a:rPr sz="1500" b="0" i="0">
                <a:solidFill>
                  <a:srgbClr val="64717D"/>
                </a:solidFill>
              </a:rPr>
              <a:t>保守建模并进入待确认清单</a:t>
            </a:r>
          </a:p>
        </p:txBody>
      </p:sp>
      <p:sp>
        <p:nvSpPr>
          <p:cNvPr id="31" name="table-rule-3">
            <a:extLst xmlns:a="http://schemas.openxmlformats.org/drawingml/2006/main">
              <a:ext uri="{FF2B5EF4-FFF2-40B4-BE49-F238E27FC236}">
                <a16:creationId xmlns:a16="http://schemas.microsoft.com/office/drawing/2014/main" id="{D81A12A6-77CC-460E-9534-F0BA160F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34050"/>
            <a:ext cx="1645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3"/>
          </a:solidFill>
          <a:ln xmlns:a="http://schemas.openxmlformats.org/drawingml/2006/main" w="0">
            <a:solidFill>
              <a:srgbClr val="D9D2C3"/>
            </a:solidFill>
            <a:prstDash val="solid"/>
          </a:ln>
        </p:spPr>
      </p:sp>
      <p:sp>
        <p:nvSpPr>
          <p:cNvPr id="32" name="footer">
            <a:extLst xmlns:a="http://schemas.openxmlformats.org/drawingml/2006/main">
              <a:ext uri="{FF2B5EF4-FFF2-40B4-BE49-F238E27FC236}">
                <a16:creationId xmlns:a16="http://schemas.microsoft.com/office/drawing/2014/main" id="{F31E9B85-6A2E-4066-8CA6-174B1459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67850"/>
            <a:ext cx="16764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B8275"/>
                </a:solidFill>
              </a:defRPr>
            </a:pPr>
            <a:r>
              <a:rPr sz="1200">
                <a:solidFill>
                  <a:srgbClr val="8B8275"/>
                </a:solidFill>
              </a:rPr>
              <a:t>SPR 本体更新工作汇报 · 2026-04-24</a:t>
            </a:r>
          </a:p>
        </p:txBody>
      </p:sp>
    </p:spTree>
    <p:extLst>
      <p:ext uri="{BB962C8B-B14F-4D97-AF65-F5344CB8AC3E}">
        <p14:creationId xmlns:p14="http://schemas.microsoft.com/office/powerpoint/2010/main" val="72259757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A69CFE0-4E84-4F0C-A316-948073E3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6D7260-DC00-4A24-9064-8011F7B8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66750"/>
            <a:ext cx="16459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E7C7B"/>
                </a:solidFill>
              </a:defRPr>
            </a:pPr>
            <a:r>
              <a:rPr sz="1500" b="1" i="0">
                <a:solidFill>
                  <a:srgbClr val="0E7C7B"/>
                </a:solidFill>
              </a:rPr>
              <a:t>工作汇报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5D9395-A2BF-405D-938D-903F0507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90600"/>
            <a:ext cx="51435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17212B"/>
                </a:solidFill>
              </a:defRPr>
            </a:pPr>
            <a:r>
              <a:rPr sz="4350" b="1" i="0">
                <a:solidFill>
                  <a:srgbClr val="17212B"/>
                </a:solidFill>
              </a:rPr>
              <a:t>新增 SPR过程记录类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97CC61-BBF4-4B8E-9FBE-8B2D175F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5715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64717D"/>
                </a:solidFill>
              </a:defRPr>
            </a:pPr>
            <a:r>
              <a:rPr sz="1875" b="0" i="0">
                <a:solidFill>
                  <a:srgbClr val="64717D"/>
                </a:solidFill>
              </a:rPr>
              <a:t>用一个记录层承载数据库每一行，避免污染主数据类。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AEF01890-7B7B-466D-AD02-39ED1ED4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4D6422-6AD7-4952-B101-7FDDD30B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5905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 i="0">
                <a:solidFill>
                  <a:srgbClr val="0E7C7B"/>
                </a:solidFill>
              </a:defRPr>
            </a:pPr>
            <a:r>
              <a:rPr sz="3750" b="1" i="0">
                <a:solidFill>
                  <a:srgbClr val="0E7C7B"/>
                </a:solidFill>
              </a:rPr>
              <a:t>SPR过程记录类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86095E-7A8D-4E77-A372-3E780FE9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56007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64717D"/>
                </a:solidFill>
              </a:defRPr>
            </a:pPr>
            <a:r>
              <a:rPr sz="2025" b="0" i="0">
                <a:solidFill>
                  <a:srgbClr val="64717D"/>
                </a:solidFill>
              </a:rPr>
              <a:t>承载 id、biz_id、采集时间、消费时间、创建/更新时间、删除标记、车身标识等在线记录元信息。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8EFF3F-E924-483E-8584-BABCEDF7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3370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5C9E"/>
          </a:solidFill>
          <a:ln xmlns:a="http://schemas.openxmlformats.org/drawingml/2006/main" w="0">
            <a:solidFill>
              <a:srgbClr val="2B5C9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DBF7A2-0CA4-4070-8601-99D87E69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619500"/>
            <a:ext cx="1695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7212B"/>
                </a:solidFill>
              </a:defRPr>
            </a:pPr>
            <a:r>
              <a:rPr sz="1350" b="1" i="0">
                <a:solidFill>
                  <a:srgbClr val="17212B"/>
                </a:solidFill>
              </a:rPr>
              <a:t>设备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431675-E2F1-4C66-861E-DB9BEB9C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14650"/>
            <a:ext cx="323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D9D2C3"/>
                </a:solidFill>
              </a:defRPr>
            </a:pPr>
            <a:r>
              <a:rPr sz="2550" b="1" i="0">
                <a:solidFill>
                  <a:srgbClr val="D9D2C3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B7706E-4CC1-4185-9AFF-70E27AFE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93370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E78B48-ACC2-4AF2-BFB4-BAB1D411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619500"/>
            <a:ext cx="1695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7212B"/>
                </a:solidFill>
              </a:defRPr>
            </a:pPr>
            <a:r>
              <a:rPr sz="1350" b="1" i="0">
                <a:solidFill>
                  <a:srgbClr val="17212B"/>
                </a:solidFill>
              </a:rPr>
              <a:t>过程记录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62D515-4446-460E-9216-978D526C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914650"/>
            <a:ext cx="323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D9D2C3"/>
                </a:solidFill>
              </a:defRPr>
            </a:pPr>
            <a:r>
              <a:rPr sz="2550" b="1" i="0">
                <a:solidFill>
                  <a:srgbClr val="D9D2C3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C16072-9DC9-47E2-B2BB-CD762B23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293370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942D"/>
          </a:solidFill>
          <a:ln xmlns:a="http://schemas.openxmlformats.org/drawingml/2006/main" w="0">
            <a:solidFill>
              <a:srgbClr val="D9942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C66249-D3BF-4264-B86D-C3B9C9A0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3619500"/>
            <a:ext cx="1695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7212B"/>
                </a:solidFill>
              </a:defRPr>
            </a:pPr>
            <a:r>
              <a:rPr sz="1350" b="1" i="0">
                <a:solidFill>
                  <a:srgbClr val="17212B"/>
                </a:solidFill>
              </a:rPr>
              <a:t>程序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E62C7D-B9B3-4761-863A-032477A0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2914650"/>
            <a:ext cx="323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D9D2C3"/>
                </a:solidFill>
              </a:defRPr>
            </a:pPr>
            <a:r>
              <a:rPr sz="2550" b="1" i="0">
                <a:solidFill>
                  <a:srgbClr val="D9D2C3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F3B734-DE2A-4B2B-B6B7-9D610164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293370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5C9E"/>
          </a:solidFill>
          <a:ln xmlns:a="http://schemas.openxmlformats.org/drawingml/2006/main" w="0">
            <a:solidFill>
              <a:srgbClr val="2B5C9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1B4F7D-5AA4-4778-9CEC-ACD8C99A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3619500"/>
            <a:ext cx="1695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7212B"/>
                </a:solidFill>
              </a:defRPr>
            </a:pPr>
            <a:r>
              <a:rPr sz="1350" b="1" i="0">
                <a:solidFill>
                  <a:srgbClr val="17212B"/>
                </a:solidFill>
              </a:rPr>
              <a:t>连接点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5EF866-6E33-41FA-AE93-92401800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01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F72105-6DC8-45AD-BF43-1FA22481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10100"/>
            <a:ext cx="5772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7212B"/>
                </a:solidFill>
              </a:defRPr>
            </a:pPr>
            <a:r>
              <a:rPr sz="1875" b="0" i="0">
                <a:solidFill>
                  <a:srgbClr val="17212B"/>
                </a:solidFill>
              </a:rPr>
              <a:t>主数据库每条记录都可以生成一个 SPR过程记录实例。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80D864-6542-480D-A57E-558C5F1D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006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1465D6-B161-4E6A-9DCE-422FF006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00650"/>
            <a:ext cx="5372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7212B"/>
                </a:solidFill>
              </a:defRPr>
            </a:pPr>
            <a:r>
              <a:rPr sz="1875" b="0" i="0">
                <a:solidFill>
                  <a:srgbClr val="17212B"/>
                </a:solidFill>
              </a:rPr>
              <a:t>过程记录再关联设备、程序、产线和 SPR 连接点。</a:t>
            </a:r>
          </a:p>
        </p:txBody>
      </p:sp>
      <p:sp>
        <p:nvSpPr>
          <p:cNvPr id="23" name="footer">
            <a:extLst xmlns:a="http://schemas.openxmlformats.org/drawingml/2006/main">
              <a:ext uri="{FF2B5EF4-FFF2-40B4-BE49-F238E27FC236}">
                <a16:creationId xmlns:a16="http://schemas.microsoft.com/office/drawing/2014/main" id="{13800A9C-EC24-4471-8385-E6E1CF24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67850"/>
            <a:ext cx="16764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B8275"/>
                </a:solidFill>
              </a:defRPr>
            </a:pPr>
            <a:r>
              <a:rPr sz="1200">
                <a:solidFill>
                  <a:srgbClr val="8B8275"/>
                </a:solidFill>
              </a:rPr>
              <a:t>SPR 本体更新工作汇报 · 2026-04-24</a:t>
            </a:r>
          </a:p>
        </p:txBody>
      </p:sp>
    </p:spTree>
    <p:extLst>
      <p:ext uri="{BB962C8B-B14F-4D97-AF65-F5344CB8AC3E}">
        <p14:creationId xmlns:p14="http://schemas.microsoft.com/office/powerpoint/2010/main" val="63373969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BFB0F95-94B7-44AD-94CC-5E68E5CC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BFB750-C981-4863-B66F-B65C48ED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66750"/>
            <a:ext cx="16459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E7C7B"/>
                </a:solidFill>
              </a:defRPr>
            </a:pPr>
            <a:r>
              <a:rPr sz="1500" b="1" i="0">
                <a:solidFill>
                  <a:srgbClr val="0E7C7B"/>
                </a:solidFill>
              </a:rPr>
              <a:t>工作汇报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56E5E0-EA98-4F38-8A14-E65F9603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90600"/>
            <a:ext cx="4972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17212B"/>
                </a:solidFill>
              </a:defRPr>
            </a:pPr>
            <a:r>
              <a:rPr sz="4350" b="1" i="0">
                <a:solidFill>
                  <a:srgbClr val="17212B"/>
                </a:solidFill>
              </a:rPr>
              <a:t>新增曲线与包络线层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A7182F-348D-4792-AB6C-EC95038F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6438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64717D"/>
                </a:solidFill>
              </a:defRPr>
            </a:pPr>
            <a:r>
              <a:rPr sz="1875" b="0" i="0">
                <a:solidFill>
                  <a:srgbClr val="64717D"/>
                </a:solidFill>
              </a:rPr>
              <a:t>把长序列字段对象化，为后续质量判定和模型输入留出结构。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39A91EE4-B257-464D-BBCF-E3E9BC3B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09EA31-18F3-4EBC-9DAF-B85C6482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304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75E5D"/>
                </a:solidFill>
              </a:defRPr>
            </a:pPr>
            <a:r>
              <a:rPr sz="1650" b="1" i="0">
                <a:solidFill>
                  <a:srgbClr val="075E5D"/>
                </a:solidFill>
              </a:rPr>
              <a:t>新增对象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8D6CED-9ACC-48E7-B7E1-C345EF15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45745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75E5D"/>
                </a:solidFill>
              </a:defRPr>
            </a:pPr>
            <a:r>
              <a:rPr sz="1650" b="1" i="0">
                <a:solidFill>
                  <a:srgbClr val="075E5D"/>
                </a:solidFill>
              </a:rPr>
              <a:t>对应字段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72391B-71DD-4B3E-AB44-C492D36C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57450"/>
            <a:ext cx="6191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75E5D"/>
                </a:solidFill>
              </a:defRPr>
            </a:pPr>
            <a:r>
              <a:rPr sz="1650" b="1" i="0">
                <a:solidFill>
                  <a:srgbClr val="075E5D"/>
                </a:solidFill>
              </a:rPr>
              <a:t>作用</a:t>
            </a:r>
          </a:p>
        </p:txBody>
      </p:sp>
      <p:sp>
        <p:nvSpPr>
          <p:cNvPr id="9" name="table-top-rule">
            <a:extLst xmlns:a="http://schemas.openxmlformats.org/drawingml/2006/main">
              <a:ext uri="{FF2B5EF4-FFF2-40B4-BE49-F238E27FC236}">
                <a16:creationId xmlns:a16="http://schemas.microsoft.com/office/drawing/2014/main" id="{EA4A917C-881B-4E9D-8CDE-84B63BC9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16459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0FE6A6-F121-4D27-8B4F-721DD31C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212B"/>
                </a:solidFill>
              </a:defRPr>
            </a:pPr>
            <a:r>
              <a:rPr sz="1500" b="1" i="0">
                <a:solidFill>
                  <a:srgbClr val="17212B"/>
                </a:solidFill>
              </a:rPr>
              <a:t>原始曲线类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684E53-B7CA-4010-9278-05109A9D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876550"/>
            <a:ext cx="495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64717D"/>
                </a:solidFill>
              </a:defRPr>
            </a:pPr>
            <a:r>
              <a:rPr sz="1500" b="0" i="0">
                <a:solidFill>
                  <a:srgbClr val="64717D"/>
                </a:solidFill>
              </a:rPr>
              <a:t>original_data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0C908A-F772-49B3-9F9C-30F198BF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76550"/>
            <a:ext cx="619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64717D"/>
                </a:solidFill>
              </a:defRPr>
            </a:pPr>
            <a:r>
              <a:rPr sz="1500" b="0" i="0">
                <a:solidFill>
                  <a:srgbClr val="64717D"/>
                </a:solidFill>
              </a:rPr>
              <a:t>保留设备采集或原始浮点序列</a:t>
            </a:r>
          </a:p>
        </p:txBody>
      </p:sp>
      <p:sp>
        <p:nvSpPr>
          <p:cNvPr id="13" name="table-rule-0">
            <a:extLst xmlns:a="http://schemas.openxmlformats.org/drawingml/2006/main">
              <a:ext uri="{FF2B5EF4-FFF2-40B4-BE49-F238E27FC236}">
                <a16:creationId xmlns:a16="http://schemas.microsoft.com/office/drawing/2014/main" id="{4CAA9A52-0343-4C45-82DB-523E35BF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1645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3"/>
          </a:solidFill>
          <a:ln xmlns:a="http://schemas.openxmlformats.org/drawingml/2006/main" w="0">
            <a:solidFill>
              <a:srgbClr val="D9D2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F74737-5079-404E-B1B9-3651600B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212B"/>
                </a:solidFill>
              </a:defRPr>
            </a:pPr>
            <a:r>
              <a:rPr sz="1500" b="1" i="0">
                <a:solidFill>
                  <a:srgbClr val="17212B"/>
                </a:solidFill>
              </a:rPr>
              <a:t>计算后曲线类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175D61-6001-44F3-A3C0-3B2BEC63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257550"/>
            <a:ext cx="495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64717D"/>
                </a:solidFill>
              </a:defRPr>
            </a:pPr>
            <a:r>
              <a:rPr sz="1500" b="0" i="0">
                <a:solidFill>
                  <a:srgbClr val="64717D"/>
                </a:solidFill>
              </a:rPr>
              <a:t>calculate_data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8A1917-64AF-4925-AB4E-7E24454D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57550"/>
            <a:ext cx="619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64717D"/>
                </a:solidFill>
              </a:defRPr>
            </a:pPr>
            <a:r>
              <a:rPr sz="1500" b="0" i="0">
                <a:solidFill>
                  <a:srgbClr val="64717D"/>
                </a:solidFill>
              </a:rPr>
              <a:t>记录处理后、保留精度的曲线</a:t>
            </a:r>
          </a:p>
        </p:txBody>
      </p:sp>
      <p:sp>
        <p:nvSpPr>
          <p:cNvPr id="17" name="table-rule-1">
            <a:extLst xmlns:a="http://schemas.openxmlformats.org/drawingml/2006/main">
              <a:ext uri="{FF2B5EF4-FFF2-40B4-BE49-F238E27FC236}">
                <a16:creationId xmlns:a16="http://schemas.microsoft.com/office/drawing/2014/main" id="{45C82CB5-DD77-40BC-B16D-E0CD80E6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1645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3"/>
          </a:solidFill>
          <a:ln xmlns:a="http://schemas.openxmlformats.org/drawingml/2006/main" w="0">
            <a:solidFill>
              <a:srgbClr val="D9D2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785CC4-DDA1-4AFF-9763-42AF16B4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212B"/>
                </a:solidFill>
              </a:defRPr>
            </a:pPr>
            <a:r>
              <a:rPr sz="1500" b="1" i="0">
                <a:solidFill>
                  <a:srgbClr val="17212B"/>
                </a:solidFill>
              </a:rPr>
              <a:t>铆接曲线类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D3FCAF-418D-4496-8924-55B5E351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619500"/>
            <a:ext cx="495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64717D"/>
                </a:solidFill>
              </a:defRPr>
            </a:pPr>
            <a:r>
              <a:rPr sz="1500" b="0" i="0">
                <a:solidFill>
                  <a:srgbClr val="64717D"/>
                </a:solidFill>
              </a:rPr>
              <a:t>铆接曲线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C38967-9745-400C-9133-C4CA4F4A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619500"/>
            <a:ext cx="619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64717D"/>
                </a:solidFill>
              </a:defRPr>
            </a:pPr>
            <a:r>
              <a:rPr sz="1500" b="0" i="0">
                <a:solidFill>
                  <a:srgbClr val="64717D"/>
                </a:solidFill>
              </a:rPr>
              <a:t>承载 RIP_ROP 中的实际过程曲线</a:t>
            </a:r>
          </a:p>
        </p:txBody>
      </p:sp>
      <p:sp>
        <p:nvSpPr>
          <p:cNvPr id="21" name="table-rule-2">
            <a:extLst xmlns:a="http://schemas.openxmlformats.org/drawingml/2006/main">
              <a:ext uri="{FF2B5EF4-FFF2-40B4-BE49-F238E27FC236}">
                <a16:creationId xmlns:a16="http://schemas.microsoft.com/office/drawing/2014/main" id="{D77B5CBD-906D-4B9F-B513-7A72D6A0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1645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3"/>
          </a:solidFill>
          <a:ln xmlns:a="http://schemas.openxmlformats.org/drawingml/2006/main" w="0">
            <a:solidFill>
              <a:srgbClr val="D9D2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566005-FFCC-4535-BBA7-08134054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212B"/>
                </a:solidFill>
              </a:defRPr>
            </a:pPr>
            <a:r>
              <a:rPr sz="1500" b="1" i="0">
                <a:solidFill>
                  <a:srgbClr val="17212B"/>
                </a:solidFill>
              </a:rPr>
              <a:t>包络线类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E86ACC-C507-4D6D-A878-0168B4F7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000500"/>
            <a:ext cx="495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64717D"/>
                </a:solidFill>
              </a:defRPr>
            </a:pPr>
            <a:r>
              <a:rPr sz="1500" b="0" i="0">
                <a:solidFill>
                  <a:srgbClr val="64717D"/>
                </a:solidFill>
              </a:rPr>
              <a:t>包络线、包络线最大力、分辨率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DAA9B5-96FF-4058-BA2F-A24C5F82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00500"/>
            <a:ext cx="619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64717D"/>
                </a:solidFill>
              </a:defRPr>
            </a:pPr>
            <a:r>
              <a:rPr sz="1500" b="0" i="0">
                <a:solidFill>
                  <a:srgbClr val="64717D"/>
                </a:solidFill>
              </a:rPr>
              <a:t>作为曲线越界判定参考</a:t>
            </a:r>
          </a:p>
        </p:txBody>
      </p:sp>
      <p:sp>
        <p:nvSpPr>
          <p:cNvPr id="25" name="table-rule-3">
            <a:extLst xmlns:a="http://schemas.openxmlformats.org/drawingml/2006/main">
              <a:ext uri="{FF2B5EF4-FFF2-40B4-BE49-F238E27FC236}">
                <a16:creationId xmlns:a16="http://schemas.microsoft.com/office/drawing/2014/main" id="{59D0833C-1767-4CBB-B517-5F5EACCD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1645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3"/>
          </a:solidFill>
          <a:ln xmlns:a="http://schemas.openxmlformats.org/drawingml/2006/main" w="0">
            <a:solidFill>
              <a:srgbClr val="D9D2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84A039-2B4E-4886-8BDA-657549CC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212B"/>
                </a:solidFill>
              </a:defRPr>
            </a:pPr>
            <a:r>
              <a:rPr sz="1500" b="1" i="0">
                <a:solidFill>
                  <a:srgbClr val="17212B"/>
                </a:solidFill>
              </a:rPr>
              <a:t>包络线公差类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872810-9EC7-41F9-8FFE-2D7F3A4B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362450"/>
            <a:ext cx="495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64717D"/>
                </a:solidFill>
              </a:defRPr>
            </a:pPr>
            <a:r>
              <a:rPr sz="1500" b="0" i="0">
                <a:solidFill>
                  <a:srgbClr val="64717D"/>
                </a:solidFill>
              </a:rPr>
              <a:t>公差警告、公差故障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D2338C-D0A2-48BE-9A6A-37C2FC6D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362450"/>
            <a:ext cx="619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64717D"/>
                </a:solidFill>
              </a:defRPr>
            </a:pPr>
            <a:r>
              <a:rPr sz="1500" b="0" i="0">
                <a:solidFill>
                  <a:srgbClr val="64717D"/>
                </a:solidFill>
              </a:rPr>
              <a:t>支持预警和故障阈值</a:t>
            </a:r>
          </a:p>
        </p:txBody>
      </p:sp>
      <p:sp>
        <p:nvSpPr>
          <p:cNvPr id="29" name="table-rule-4">
            <a:extLst xmlns:a="http://schemas.openxmlformats.org/drawingml/2006/main">
              <a:ext uri="{FF2B5EF4-FFF2-40B4-BE49-F238E27FC236}">
                <a16:creationId xmlns:a16="http://schemas.microsoft.com/office/drawing/2014/main" id="{C112CFC0-C7A2-4223-B6B2-CD1B8340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48200"/>
            <a:ext cx="1645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3"/>
          </a:solidFill>
          <a:ln xmlns:a="http://schemas.openxmlformats.org/drawingml/2006/main" w="0">
            <a:solidFill>
              <a:srgbClr val="D9D2C3"/>
            </a:solidFill>
            <a:prstDash val="solid"/>
          </a:ln>
        </p:spPr>
      </p:sp>
      <p:sp>
        <p:nvSpPr>
          <p:cNvPr id="30" name="footer">
            <a:extLst xmlns:a="http://schemas.openxmlformats.org/drawingml/2006/main">
              <a:ext uri="{FF2B5EF4-FFF2-40B4-BE49-F238E27FC236}">
                <a16:creationId xmlns:a16="http://schemas.microsoft.com/office/drawing/2014/main" id="{382606E9-D21B-4595-BE72-04B6DE14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67850"/>
            <a:ext cx="16764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B8275"/>
                </a:solidFill>
              </a:defRPr>
            </a:pPr>
            <a:r>
              <a:rPr sz="1200">
                <a:solidFill>
                  <a:srgbClr val="8B8275"/>
                </a:solidFill>
              </a:rPr>
              <a:t>SPR 本体更新工作汇报 · 2026-04-24</a:t>
            </a:r>
          </a:p>
        </p:txBody>
      </p:sp>
    </p:spTree>
    <p:extLst>
      <p:ext uri="{BB962C8B-B14F-4D97-AF65-F5344CB8AC3E}">
        <p14:creationId xmlns:p14="http://schemas.microsoft.com/office/powerpoint/2010/main" val="196407141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B02EA7A6-8895-42B9-BD28-937474C2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CB69B5-BE87-4861-A348-70C4E644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66750"/>
            <a:ext cx="16459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E7C7B"/>
                </a:solidFill>
              </a:defRPr>
            </a:pPr>
            <a:r>
              <a:rPr sz="1500" b="1" i="0">
                <a:solidFill>
                  <a:srgbClr val="0E7C7B"/>
                </a:solidFill>
              </a:rPr>
              <a:t>工作汇报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DDCE5A-D507-4392-AEFD-52BD5A72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90600"/>
            <a:ext cx="7734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17212B"/>
                </a:solidFill>
              </a:defRPr>
            </a:pPr>
            <a:r>
              <a:rPr sz="4350" b="1" i="0">
                <a:solidFill>
                  <a:srgbClr val="17212B"/>
                </a:solidFill>
              </a:rPr>
              <a:t>质量与预测结果被纳入统一表达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781DC7-F4D8-4FC1-A4CB-C29D29287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68199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64717D"/>
                </a:solidFill>
              </a:defRPr>
            </a:pPr>
            <a:r>
              <a:rPr sz="1875" b="0" i="0">
                <a:solidFill>
                  <a:srgbClr val="64717D"/>
                </a:solidFill>
              </a:rPr>
              <a:t>把 error_rate、pre 和故障代码放入质量结果/模型预测结果链路。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16CB1D21-4FAF-4F52-A2FD-4CC9CB48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1423A2-B3BA-44EC-BB5E-707842D6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666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17212B"/>
                </a:solidFill>
              </a:defRPr>
            </a:pPr>
            <a:r>
              <a:rPr sz="2700" b="1" i="0">
                <a:solidFill>
                  <a:srgbClr val="17212B"/>
                </a:solidFill>
              </a:rPr>
              <a:t>三类新增表达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2EDAFD-9327-4CB8-9DDF-5F006C52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F27849-B006-45ED-9966-9D77CA73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3143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7212B"/>
                </a:solidFill>
              </a:defRPr>
            </a:pPr>
            <a:r>
              <a:rPr sz="1800" b="0" i="0">
                <a:solidFill>
                  <a:srgbClr val="17212B"/>
                </a:solidFill>
              </a:rPr>
              <a:t>error_rate → 误差率 / 异常率。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9DD0C7-4DD8-4A71-A987-CD185D83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3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070AD4-5CAD-455B-9908-730D511D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33800"/>
            <a:ext cx="2286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7212B"/>
                </a:solidFill>
              </a:defRPr>
            </a:pPr>
            <a:r>
              <a:rPr sz="1800" b="0" i="0">
                <a:solidFill>
                  <a:srgbClr val="17212B"/>
                </a:solidFill>
              </a:rPr>
              <a:t>pre → 预测类别编码。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CC90A6-86C6-479E-958A-4B86D9E3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DAF8D9-5EB4-4A39-B178-8FF68F11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24350"/>
            <a:ext cx="4514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7212B"/>
                </a:solidFill>
              </a:defRPr>
            </a:pPr>
            <a:r>
              <a:rPr sz="1800" b="0" i="0">
                <a:solidFill>
                  <a:srgbClr val="17212B"/>
                </a:solidFill>
              </a:rPr>
              <a:t>故障代码 → 原始故障文案 + 缺陷模式候选。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3D304E-3EAC-4BD3-9314-9F6520FA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05100"/>
            <a:ext cx="304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75E5D"/>
                </a:solidFill>
              </a:defRPr>
            </a:pPr>
            <a:r>
              <a:rPr sz="1650" b="1" i="0">
                <a:solidFill>
                  <a:srgbClr val="075E5D"/>
                </a:solidFill>
              </a:rPr>
              <a:t>故障候选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0831DB-6D36-427D-AF65-148C5068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27051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75E5D"/>
                </a:solidFill>
              </a:defRPr>
            </a:pPr>
            <a:r>
              <a:rPr sz="1650" b="1" i="0">
                <a:solidFill>
                  <a:srgbClr val="075E5D"/>
                </a:solidFill>
              </a:rPr>
              <a:t>来源</a:t>
            </a:r>
          </a:p>
        </p:txBody>
      </p:sp>
      <p:sp>
        <p:nvSpPr>
          <p:cNvPr id="15" name="table-top-rule">
            <a:extLst xmlns:a="http://schemas.openxmlformats.org/drawingml/2006/main">
              <a:ext uri="{FF2B5EF4-FFF2-40B4-BE49-F238E27FC236}">
                <a16:creationId xmlns:a16="http://schemas.microsoft.com/office/drawing/2014/main" id="{33E1C5A5-DBA6-43B1-8E01-A8E75FF9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09900"/>
            <a:ext cx="9124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D5E5CB-98A0-403A-9498-5AE445F5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2420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212B"/>
                </a:solidFill>
              </a:defRPr>
            </a:pPr>
            <a:r>
              <a:rPr sz="1500" b="1" i="0">
                <a:solidFill>
                  <a:srgbClr val="17212B"/>
                </a:solidFill>
              </a:rPr>
              <a:t>冲压行程过大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60504F-93F8-43DB-BA0A-A4B270AE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3124200"/>
            <a:ext cx="495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64717D"/>
                </a:solidFill>
              </a:defRPr>
            </a:pPr>
            <a:r>
              <a:rPr sz="1500" b="0" i="0">
                <a:solidFill>
                  <a:srgbClr val="64717D"/>
                </a:solidFill>
              </a:rPr>
              <a:t>DDC: 测得得冲压行程过大</a:t>
            </a:r>
          </a:p>
        </p:txBody>
      </p:sp>
      <p:sp>
        <p:nvSpPr>
          <p:cNvPr id="18" name="table-rule-0">
            <a:extLst xmlns:a="http://schemas.openxmlformats.org/drawingml/2006/main">
              <a:ext uri="{FF2B5EF4-FFF2-40B4-BE49-F238E27FC236}">
                <a16:creationId xmlns:a16="http://schemas.microsoft.com/office/drawing/2014/main" id="{C1391A30-6002-407B-8520-FC94D8FE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90900"/>
            <a:ext cx="9124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3"/>
          </a:solidFill>
          <a:ln xmlns:a="http://schemas.openxmlformats.org/drawingml/2006/main" w="0">
            <a:solidFill>
              <a:srgbClr val="D9D2C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458078-77F5-41FD-A63E-F3B21696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212B"/>
                </a:solidFill>
              </a:defRPr>
            </a:pPr>
            <a:r>
              <a:rPr sz="1500" b="1" i="0">
                <a:solidFill>
                  <a:srgbClr val="17212B"/>
                </a:solidFill>
              </a:rPr>
              <a:t>曲线高于包络线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7667C7-9C33-4695-86FE-467A0BCE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3486150"/>
            <a:ext cx="495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64717D"/>
                </a:solidFill>
              </a:defRPr>
            </a:pPr>
            <a:r>
              <a:rPr sz="1500" b="0" i="0">
                <a:solidFill>
                  <a:srgbClr val="64717D"/>
                </a:solidFill>
              </a:rPr>
              <a:t>DDC: 铆接曲线高于包络线</a:t>
            </a:r>
          </a:p>
        </p:txBody>
      </p:sp>
      <p:sp>
        <p:nvSpPr>
          <p:cNvPr id="21" name="table-rule-1">
            <a:extLst xmlns:a="http://schemas.openxmlformats.org/drawingml/2006/main">
              <a:ext uri="{FF2B5EF4-FFF2-40B4-BE49-F238E27FC236}">
                <a16:creationId xmlns:a16="http://schemas.microsoft.com/office/drawing/2014/main" id="{4B0BDEEB-A01F-47F5-B406-F9C05C1F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71900"/>
            <a:ext cx="9124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3"/>
          </a:solidFill>
          <a:ln xmlns:a="http://schemas.openxmlformats.org/drawingml/2006/main" w="0">
            <a:solidFill>
              <a:srgbClr val="D9D2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D430E2-DB88-4431-8D5B-1EA0D09E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6715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212B"/>
                </a:solidFill>
              </a:defRPr>
            </a:pPr>
            <a:r>
              <a:rPr sz="1500" b="1" i="0">
                <a:solidFill>
                  <a:srgbClr val="17212B"/>
                </a:solidFill>
              </a:rPr>
              <a:t>曲线低于包络线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566E14-3A9D-4196-939B-A2D9D146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3867150"/>
            <a:ext cx="495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64717D"/>
                </a:solidFill>
              </a:defRPr>
            </a:pPr>
            <a:r>
              <a:rPr sz="1500" b="0" i="0">
                <a:solidFill>
                  <a:srgbClr val="64717D"/>
                </a:solidFill>
              </a:rPr>
              <a:t>DDC: 铆接曲线低于包络线</a:t>
            </a:r>
          </a:p>
        </p:txBody>
      </p:sp>
      <p:sp>
        <p:nvSpPr>
          <p:cNvPr id="24" name="table-rule-2">
            <a:extLst xmlns:a="http://schemas.openxmlformats.org/drawingml/2006/main">
              <a:ext uri="{FF2B5EF4-FFF2-40B4-BE49-F238E27FC236}">
                <a16:creationId xmlns:a16="http://schemas.microsoft.com/office/drawing/2014/main" id="{B5C26B23-C5CD-48F2-8294-0D0526AC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33850"/>
            <a:ext cx="9124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3"/>
          </a:solidFill>
          <a:ln xmlns:a="http://schemas.openxmlformats.org/drawingml/2006/main" w="0">
            <a:solidFill>
              <a:srgbClr val="D9D2C3"/>
            </a:solidFill>
            <a:prstDash val="solid"/>
          </a:ln>
        </p:spPr>
      </p:sp>
      <p:sp>
        <p:nvSpPr>
          <p:cNvPr id="25" name="footer">
            <a:extLst xmlns:a="http://schemas.openxmlformats.org/drawingml/2006/main">
              <a:ext uri="{FF2B5EF4-FFF2-40B4-BE49-F238E27FC236}">
                <a16:creationId xmlns:a16="http://schemas.microsoft.com/office/drawing/2014/main" id="{10CF6698-55A3-4A06-AB40-3EADC823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67850"/>
            <a:ext cx="16764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B8275"/>
                </a:solidFill>
              </a:defRPr>
            </a:pPr>
            <a:r>
              <a:rPr sz="1200">
                <a:solidFill>
                  <a:srgbClr val="8B8275"/>
                </a:solidFill>
              </a:rPr>
              <a:t>SPR 本体更新工作汇报 · 2026-04-24</a:t>
            </a:r>
          </a:p>
        </p:txBody>
      </p:sp>
    </p:spTree>
    <p:extLst>
      <p:ext uri="{BB962C8B-B14F-4D97-AF65-F5344CB8AC3E}">
        <p14:creationId xmlns:p14="http://schemas.microsoft.com/office/powerpoint/2010/main" val="174337265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FF0B9C1-0016-4F2D-A7BA-992DD038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F4FB7E-ECC7-47A0-A28C-9000C8E4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66750"/>
            <a:ext cx="16459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E7C7B"/>
                </a:solidFill>
              </a:defRPr>
            </a:pPr>
            <a:r>
              <a:rPr sz="1500" b="1" i="0">
                <a:solidFill>
                  <a:srgbClr val="0E7C7B"/>
                </a:solidFill>
              </a:rPr>
              <a:t>工作汇报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693AD8-7FAA-45AD-8036-1EBC45F3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90600"/>
            <a:ext cx="60769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17212B"/>
                </a:solidFill>
              </a:defRPr>
            </a:pPr>
            <a:r>
              <a:rPr sz="4350" b="1" i="0">
                <a:solidFill>
                  <a:srgbClr val="17212B"/>
                </a:solidFill>
              </a:rPr>
              <a:t>顶层本体也得到候选补充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63DEF2-A018-4D07-ABA8-131BFCB5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7715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64717D"/>
                </a:solidFill>
              </a:defRPr>
            </a:pPr>
            <a:r>
              <a:rPr sz="1875" b="0" i="0">
                <a:solidFill>
                  <a:srgbClr val="64717D"/>
                </a:solidFill>
              </a:rPr>
              <a:t>只把跨工艺通用的新抽象上升为顶层建议，RRC/PECV2 暂留 SPR 专属。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037E04E2-441F-48BE-8054-266CAAA7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B117EA-F3D8-4D31-9883-F7D00140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075E5D"/>
                </a:solidFill>
              </a:defRPr>
            </a:pPr>
            <a:r>
              <a:rPr sz="1725" b="1" i="0">
                <a:solidFill>
                  <a:srgbClr val="075E5D"/>
                </a:solidFill>
              </a:rPr>
              <a:t>顶层候选概念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30E0AA-6923-418B-96AE-FF91D297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57450"/>
            <a:ext cx="904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075E5D"/>
                </a:solidFill>
              </a:defRPr>
            </a:pPr>
            <a:r>
              <a:rPr sz="1725" b="1" i="0">
                <a:solidFill>
                  <a:srgbClr val="075E5D"/>
                </a:solidFill>
              </a:rPr>
              <a:t>为什么有复用价值</a:t>
            </a:r>
          </a:p>
        </p:txBody>
      </p:sp>
      <p:sp>
        <p:nvSpPr>
          <p:cNvPr id="8" name="table-top-rule">
            <a:extLst xmlns:a="http://schemas.openxmlformats.org/drawingml/2006/main">
              <a:ext uri="{FF2B5EF4-FFF2-40B4-BE49-F238E27FC236}">
                <a16:creationId xmlns:a16="http://schemas.microsoft.com/office/drawing/2014/main" id="{3FC589FF-45C9-46DD-80E4-1378BCC7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16459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CC547E-1046-407E-B6B9-C99BB724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4000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7212B"/>
                </a:solidFill>
              </a:defRPr>
            </a:pPr>
            <a:r>
              <a:rPr sz="1575" b="1" i="0">
                <a:solidFill>
                  <a:srgbClr val="17212B"/>
                </a:solidFill>
              </a:rPr>
              <a:t>在线过程记录类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1353A5-FD12-4376-8143-0737F085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895600"/>
            <a:ext cx="904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64717D"/>
                </a:solidFill>
              </a:defRPr>
            </a:pPr>
            <a:r>
              <a:rPr sz="1575" b="0" i="0">
                <a:solidFill>
                  <a:srgbClr val="64717D"/>
                </a:solidFill>
              </a:rPr>
              <a:t>点焊、涂胶、FDS 等也会产生设备采集记录</a:t>
            </a:r>
          </a:p>
        </p:txBody>
      </p:sp>
      <p:sp>
        <p:nvSpPr>
          <p:cNvPr id="11" name="table-rule-0">
            <a:extLst xmlns:a="http://schemas.openxmlformats.org/drawingml/2006/main">
              <a:ext uri="{FF2B5EF4-FFF2-40B4-BE49-F238E27FC236}">
                <a16:creationId xmlns:a16="http://schemas.microsoft.com/office/drawing/2014/main" id="{3BB7EF70-EFC5-492C-BF12-426AD9F4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1645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3"/>
          </a:solidFill>
          <a:ln xmlns:a="http://schemas.openxmlformats.org/drawingml/2006/main" w="0">
            <a:solidFill>
              <a:srgbClr val="D9D2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7F7517-2036-466F-BE62-B50068DB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4000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7212B"/>
                </a:solidFill>
              </a:defRPr>
            </a:pPr>
            <a:r>
              <a:rPr sz="1575" b="1" i="0">
                <a:solidFill>
                  <a:srgbClr val="17212B"/>
                </a:solidFill>
              </a:rPr>
              <a:t>过程数据 / 曲线数据类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9C47B1-27F3-48A3-B0EA-3792AA66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276600"/>
            <a:ext cx="904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64717D"/>
                </a:solidFill>
              </a:defRPr>
            </a:pPr>
            <a:r>
              <a:rPr sz="1575" b="0" i="0">
                <a:solidFill>
                  <a:srgbClr val="64717D"/>
                </a:solidFill>
              </a:rPr>
              <a:t>多工艺都有时序、压力、电流、流量或力位移曲线</a:t>
            </a:r>
          </a:p>
        </p:txBody>
      </p:sp>
      <p:sp>
        <p:nvSpPr>
          <p:cNvPr id="14" name="table-rule-1">
            <a:extLst xmlns:a="http://schemas.openxmlformats.org/drawingml/2006/main">
              <a:ext uri="{FF2B5EF4-FFF2-40B4-BE49-F238E27FC236}">
                <a16:creationId xmlns:a16="http://schemas.microsoft.com/office/drawing/2014/main" id="{B65A9042-744F-48C1-8FB2-89397597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1645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3"/>
          </a:solidFill>
          <a:ln xmlns:a="http://schemas.openxmlformats.org/drawingml/2006/main" w="0">
            <a:solidFill>
              <a:srgbClr val="D9D2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8A7DA5-BC28-4167-96D2-71F7855D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4000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7212B"/>
                </a:solidFill>
              </a:defRPr>
            </a:pPr>
            <a:r>
              <a:rPr sz="1575" b="1" i="0">
                <a:solidFill>
                  <a:srgbClr val="17212B"/>
                </a:solidFill>
              </a:rPr>
              <a:t>参考曲线 / 包络线类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02C5AC-469D-435A-B36E-E9AA71CC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657600"/>
            <a:ext cx="904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64717D"/>
                </a:solidFill>
              </a:defRPr>
            </a:pPr>
            <a:r>
              <a:rPr sz="1575" b="0" i="0">
                <a:solidFill>
                  <a:srgbClr val="64717D"/>
                </a:solidFill>
              </a:rPr>
              <a:t>可作为工艺窗口的曲线化表达</a:t>
            </a:r>
          </a:p>
        </p:txBody>
      </p:sp>
      <p:sp>
        <p:nvSpPr>
          <p:cNvPr id="17" name="table-rule-2">
            <a:extLst xmlns:a="http://schemas.openxmlformats.org/drawingml/2006/main">
              <a:ext uri="{FF2B5EF4-FFF2-40B4-BE49-F238E27FC236}">
                <a16:creationId xmlns:a16="http://schemas.microsoft.com/office/drawing/2014/main" id="{88650E36-2BCC-4B03-859D-71E742FC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1645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3"/>
          </a:solidFill>
          <a:ln xmlns:a="http://schemas.openxmlformats.org/drawingml/2006/main" w="0">
            <a:solidFill>
              <a:srgbClr val="D9D2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49F4FC-23C1-42A9-9B9F-A829A182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38600"/>
            <a:ext cx="4000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7212B"/>
                </a:solidFill>
              </a:defRPr>
            </a:pPr>
            <a:r>
              <a:rPr sz="1575" b="1" i="0">
                <a:solidFill>
                  <a:srgbClr val="17212B"/>
                </a:solidFill>
              </a:rPr>
              <a:t>公差阈值类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5EED71-1A09-4B04-8E8C-2A0607B7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038600"/>
            <a:ext cx="904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64717D"/>
                </a:solidFill>
              </a:defRPr>
            </a:pPr>
            <a:r>
              <a:rPr sz="1575" b="0" i="0">
                <a:solidFill>
                  <a:srgbClr val="64717D"/>
                </a:solidFill>
              </a:rPr>
              <a:t>统一参数越界、质量预警和故障阈值</a:t>
            </a:r>
          </a:p>
        </p:txBody>
      </p:sp>
      <p:sp>
        <p:nvSpPr>
          <p:cNvPr id="20" name="table-rule-3">
            <a:extLst xmlns:a="http://schemas.openxmlformats.org/drawingml/2006/main">
              <a:ext uri="{FF2B5EF4-FFF2-40B4-BE49-F238E27FC236}">
                <a16:creationId xmlns:a16="http://schemas.microsoft.com/office/drawing/2014/main" id="{EEAA06EA-FE4A-4B04-B99D-BEE0CB80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1645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3"/>
          </a:solidFill>
          <a:ln xmlns:a="http://schemas.openxmlformats.org/drawingml/2006/main" w="0">
            <a:solidFill>
              <a:srgbClr val="D9D2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38B1AE-8F52-4341-8CF8-EEDB783A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9600"/>
            <a:ext cx="4000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7212B"/>
                </a:solidFill>
              </a:defRPr>
            </a:pPr>
            <a:r>
              <a:rPr sz="1575" b="1" i="0">
                <a:solidFill>
                  <a:srgbClr val="17212B"/>
                </a:solidFill>
              </a:rPr>
              <a:t>模型预测结果类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E5423C-411A-4AE5-A033-7D156269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419600"/>
            <a:ext cx="904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64717D"/>
                </a:solidFill>
              </a:defRPr>
            </a:pPr>
            <a:r>
              <a:rPr sz="1575" b="0" i="0">
                <a:solidFill>
                  <a:srgbClr val="64717D"/>
                </a:solidFill>
              </a:rPr>
              <a:t>支撑后续模型服务和 Action 输出</a:t>
            </a:r>
          </a:p>
        </p:txBody>
      </p:sp>
      <p:sp>
        <p:nvSpPr>
          <p:cNvPr id="23" name="table-rule-4">
            <a:extLst xmlns:a="http://schemas.openxmlformats.org/drawingml/2006/main">
              <a:ext uri="{FF2B5EF4-FFF2-40B4-BE49-F238E27FC236}">
                <a16:creationId xmlns:a16="http://schemas.microsoft.com/office/drawing/2014/main" id="{6C437130-5647-49D2-A3B4-F159827A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05350"/>
            <a:ext cx="1645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3"/>
          </a:solidFill>
          <a:ln xmlns:a="http://schemas.openxmlformats.org/drawingml/2006/main" w="0">
            <a:solidFill>
              <a:srgbClr val="D9D2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D313A8-D22B-415E-9CF5-CA800882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00600"/>
            <a:ext cx="4000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7212B"/>
                </a:solidFill>
              </a:defRPr>
            </a:pPr>
            <a:r>
              <a:rPr sz="1575" b="1" i="0">
                <a:solidFill>
                  <a:srgbClr val="17212B"/>
                </a:solidFill>
              </a:rPr>
              <a:t>数据处理过程类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E8D491-2CF2-4084-86E8-6484785C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800600"/>
            <a:ext cx="904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64717D"/>
                </a:solidFill>
              </a:defRPr>
            </a:pPr>
            <a:r>
              <a:rPr sz="1575" b="0" i="0">
                <a:solidFill>
                  <a:srgbClr val="64717D"/>
                </a:solidFill>
              </a:rPr>
              <a:t>追溯原始数据到计算后数据的处理方法</a:t>
            </a:r>
          </a:p>
        </p:txBody>
      </p:sp>
      <p:sp>
        <p:nvSpPr>
          <p:cNvPr id="26" name="table-rule-5">
            <a:extLst xmlns:a="http://schemas.openxmlformats.org/drawingml/2006/main">
              <a:ext uri="{FF2B5EF4-FFF2-40B4-BE49-F238E27FC236}">
                <a16:creationId xmlns:a16="http://schemas.microsoft.com/office/drawing/2014/main" id="{8AC185E4-1D22-4F0A-AA60-40526429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86350"/>
            <a:ext cx="1645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3"/>
          </a:solidFill>
          <a:ln xmlns:a="http://schemas.openxmlformats.org/drawingml/2006/main" w="0">
            <a:solidFill>
              <a:srgbClr val="D9D2C3"/>
            </a:solidFill>
            <a:prstDash val="solid"/>
          </a:ln>
        </p:spPr>
      </p:sp>
      <p:sp>
        <p:nvSpPr>
          <p:cNvPr id="27" name="footer">
            <a:extLst xmlns:a="http://schemas.openxmlformats.org/drawingml/2006/main">
              <a:ext uri="{FF2B5EF4-FFF2-40B4-BE49-F238E27FC236}">
                <a16:creationId xmlns:a16="http://schemas.microsoft.com/office/drawing/2014/main" id="{38585464-5213-4F56-9534-1B9B395B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67850"/>
            <a:ext cx="16764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B8275"/>
                </a:solidFill>
              </a:defRPr>
            </a:pPr>
            <a:r>
              <a:rPr sz="1200">
                <a:solidFill>
                  <a:srgbClr val="8B8275"/>
                </a:solidFill>
              </a:rPr>
              <a:t>SPR 本体更新工作汇报 · 2026-04-24</a:t>
            </a:r>
          </a:p>
        </p:txBody>
      </p:sp>
    </p:spTree>
    <p:extLst>
      <p:ext uri="{BB962C8B-B14F-4D97-AF65-F5344CB8AC3E}">
        <p14:creationId xmlns:p14="http://schemas.microsoft.com/office/powerpoint/2010/main" val="78031628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CDF0347C-D628-4C5B-B340-8AE5D306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6187D1-2993-4B8E-88FD-F494BAC5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66750"/>
            <a:ext cx="16459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E7C7B"/>
                </a:solidFill>
              </a:defRPr>
            </a:pPr>
            <a:r>
              <a:rPr sz="1500" b="1" i="0">
                <a:solidFill>
                  <a:srgbClr val="0E7C7B"/>
                </a:solidFill>
              </a:rPr>
              <a:t>工作汇报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32F5B0-70FC-4DB5-B72C-529EC257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90600"/>
            <a:ext cx="4972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17212B"/>
                </a:solidFill>
              </a:defRPr>
            </a:pPr>
            <a:r>
              <a:rPr sz="4350" b="1" i="0">
                <a:solidFill>
                  <a:srgbClr val="17212B"/>
                </a:solidFill>
              </a:rPr>
              <a:t>最终生成了哪些文件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203BDB-4719-4B3C-B2AF-B179EC19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64579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64717D"/>
                </a:solidFill>
              </a:defRPr>
            </a:pPr>
            <a:r>
              <a:rPr sz="1875" b="0" i="0">
                <a:solidFill>
                  <a:srgbClr val="64717D"/>
                </a:solidFill>
              </a:rPr>
              <a:t>中间文件被汇总，最终交付收束为一份完整文档和一份 PPT。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69921AAB-23BA-4FFB-AA55-BCC10CFF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B39FDA-B428-4E2C-9A03-242F1F4C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75E5D"/>
                </a:solidFill>
              </a:defRPr>
            </a:pPr>
            <a:r>
              <a:rPr sz="1650" b="1" i="0">
                <a:solidFill>
                  <a:srgbClr val="075E5D"/>
                </a:solidFill>
              </a:rPr>
              <a:t>文件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63054F-5118-4994-BE02-E817AF17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05100"/>
            <a:ext cx="8096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75E5D"/>
                </a:solidFill>
              </a:defRPr>
            </a:pPr>
            <a:r>
              <a:rPr sz="1650" b="1" i="0">
                <a:solidFill>
                  <a:srgbClr val="075E5D"/>
                </a:solidFill>
              </a:rPr>
              <a:t>用途</a:t>
            </a:r>
          </a:p>
        </p:txBody>
      </p:sp>
      <p:sp>
        <p:nvSpPr>
          <p:cNvPr id="8" name="table-top-rule">
            <a:extLst xmlns:a="http://schemas.openxmlformats.org/drawingml/2006/main">
              <a:ext uri="{FF2B5EF4-FFF2-40B4-BE49-F238E27FC236}">
                <a16:creationId xmlns:a16="http://schemas.microsoft.com/office/drawing/2014/main" id="{D2CE70C0-49DE-4F93-A642-56389888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16459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FCA12D-8F17-415F-B3F4-B9C4FBC3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495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212B"/>
                </a:solidFill>
              </a:defRPr>
            </a:pPr>
            <a:r>
              <a:rPr sz="1500" b="1" i="0">
                <a:solidFill>
                  <a:srgbClr val="17212B"/>
                </a:solidFill>
              </a:rPr>
              <a:t>SPR本体更新最终交付文档.md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FC3A8B-6F26-4608-A996-4D6CB5C7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124200"/>
            <a:ext cx="809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64717D"/>
                </a:solidFill>
              </a:defRPr>
            </a:pPr>
            <a:r>
              <a:rPr sz="1500" b="0" i="0">
                <a:solidFill>
                  <a:srgbClr val="64717D"/>
                </a:solidFill>
              </a:rPr>
              <a:t>包含全部完整内容的最终交付文档</a:t>
            </a:r>
          </a:p>
        </p:txBody>
      </p:sp>
      <p:sp>
        <p:nvSpPr>
          <p:cNvPr id="11" name="table-rule-0">
            <a:extLst xmlns:a="http://schemas.openxmlformats.org/drawingml/2006/main">
              <a:ext uri="{FF2B5EF4-FFF2-40B4-BE49-F238E27FC236}">
                <a16:creationId xmlns:a16="http://schemas.microsoft.com/office/drawing/2014/main" id="{80EC72CA-0916-44A4-9964-D03345FB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1645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3"/>
          </a:solidFill>
          <a:ln xmlns:a="http://schemas.openxmlformats.org/drawingml/2006/main" w="0">
            <a:solidFill>
              <a:srgbClr val="D9D2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38EFA8-4A65-4478-A5B5-937F44AC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495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212B"/>
                </a:solidFill>
              </a:defRPr>
            </a:pPr>
            <a:r>
              <a:rPr sz="1500" b="1" i="0">
                <a:solidFill>
                  <a:srgbClr val="17212B"/>
                </a:solidFill>
              </a:rPr>
              <a:t>SPR本体更新工作汇报.pptx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2DD438-978C-437A-BE70-B05BBBF5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486150"/>
            <a:ext cx="809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64717D"/>
                </a:solidFill>
              </a:defRPr>
            </a:pPr>
            <a:r>
              <a:rPr sz="1500" b="0" i="0">
                <a:solidFill>
                  <a:srgbClr val="64717D"/>
                </a:solidFill>
              </a:rPr>
              <a:t>本次工作汇报用 PowerPoint</a:t>
            </a:r>
          </a:p>
        </p:txBody>
      </p:sp>
      <p:sp>
        <p:nvSpPr>
          <p:cNvPr id="14" name="table-rule-1">
            <a:extLst xmlns:a="http://schemas.openxmlformats.org/drawingml/2006/main">
              <a:ext uri="{FF2B5EF4-FFF2-40B4-BE49-F238E27FC236}">
                <a16:creationId xmlns:a16="http://schemas.microsoft.com/office/drawing/2014/main" id="{64FF126A-2798-4359-8989-71F31BA6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1645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3"/>
          </a:solidFill>
          <a:ln xmlns:a="http://schemas.openxmlformats.org/drawingml/2006/main" w="0">
            <a:solidFill>
              <a:srgbClr val="D9D2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195864-DFC3-4A24-8267-E6AE9493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150"/>
            <a:ext cx="495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212B"/>
                </a:solidFill>
              </a:defRPr>
            </a:pPr>
            <a:r>
              <a:rPr sz="1500" b="1" i="0">
                <a:solidFill>
                  <a:srgbClr val="17212B"/>
                </a:solidFill>
              </a:rPr>
              <a:t>SPR本体更新版_v0.3.md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3C5057-3723-41DE-8E4D-1166E84D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867150"/>
            <a:ext cx="809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64717D"/>
                </a:solidFill>
              </a:defRPr>
            </a:pPr>
            <a:r>
              <a:rPr sz="1500" b="0" i="0">
                <a:solidFill>
                  <a:srgbClr val="64717D"/>
                </a:solidFill>
              </a:rPr>
              <a:t>更新版本体方案</a:t>
            </a:r>
          </a:p>
        </p:txBody>
      </p:sp>
      <p:sp>
        <p:nvSpPr>
          <p:cNvPr id="17" name="table-rule-2">
            <a:extLst xmlns:a="http://schemas.openxmlformats.org/drawingml/2006/main">
              <a:ext uri="{FF2B5EF4-FFF2-40B4-BE49-F238E27FC236}">
                <a16:creationId xmlns:a16="http://schemas.microsoft.com/office/drawing/2014/main" id="{EE0A8297-FFA4-40A3-94B7-119CB788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33850"/>
            <a:ext cx="1645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3"/>
          </a:solidFill>
          <a:ln xmlns:a="http://schemas.openxmlformats.org/drawingml/2006/main" w="0">
            <a:solidFill>
              <a:srgbClr val="D9D2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7ACEF2-E620-40CB-AACD-49182FAD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495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212B"/>
                </a:solidFill>
              </a:defRPr>
            </a:pPr>
            <a:r>
              <a:rPr sz="1500" b="1" i="0">
                <a:solidFill>
                  <a:srgbClr val="17212B"/>
                </a:solidFill>
              </a:rPr>
              <a:t>SPR数据库字段到本体映射表.md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318161-C949-4C51-A419-9B9A07F2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229100"/>
            <a:ext cx="809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64717D"/>
                </a:solidFill>
              </a:defRPr>
            </a:pPr>
            <a:r>
              <a:rPr sz="1500" b="0" i="0">
                <a:solidFill>
                  <a:srgbClr val="64717D"/>
                </a:solidFill>
              </a:rPr>
              <a:t>字段到本体类/属性的详细映射</a:t>
            </a:r>
          </a:p>
        </p:txBody>
      </p:sp>
      <p:sp>
        <p:nvSpPr>
          <p:cNvPr id="20" name="table-rule-3">
            <a:extLst xmlns:a="http://schemas.openxmlformats.org/drawingml/2006/main">
              <a:ext uri="{FF2B5EF4-FFF2-40B4-BE49-F238E27FC236}">
                <a16:creationId xmlns:a16="http://schemas.microsoft.com/office/drawing/2014/main" id="{79A2397B-8A80-4C2F-9163-32697913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1645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3"/>
          </a:solidFill>
          <a:ln xmlns:a="http://schemas.openxmlformats.org/drawingml/2006/main" w="0">
            <a:solidFill>
              <a:srgbClr val="D9D2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BC5981-D520-4A00-8FA8-28696316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0100"/>
            <a:ext cx="495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212B"/>
                </a:solidFill>
              </a:defRPr>
            </a:pPr>
            <a:r>
              <a:rPr sz="1500" b="1" i="0">
                <a:solidFill>
                  <a:srgbClr val="17212B"/>
                </a:solidFill>
              </a:rPr>
              <a:t>SPR本体变更记录.md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9F4E7D-3D68-4FF1-BEB6-D2B0F94D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610100"/>
            <a:ext cx="809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64717D"/>
                </a:solidFill>
              </a:defRPr>
            </a:pPr>
            <a:r>
              <a:rPr sz="1500" b="0" i="0">
                <a:solidFill>
                  <a:srgbClr val="64717D"/>
                </a:solidFill>
              </a:rPr>
              <a:t>新增类、属性、关系和规则清单</a:t>
            </a:r>
          </a:p>
        </p:txBody>
      </p:sp>
      <p:sp>
        <p:nvSpPr>
          <p:cNvPr id="23" name="table-rule-4">
            <a:extLst xmlns:a="http://schemas.openxmlformats.org/drawingml/2006/main">
              <a:ext uri="{FF2B5EF4-FFF2-40B4-BE49-F238E27FC236}">
                <a16:creationId xmlns:a16="http://schemas.microsoft.com/office/drawing/2014/main" id="{CF8422BC-9C2A-42E7-8DAC-DC055F96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76800"/>
            <a:ext cx="1645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3"/>
          </a:solidFill>
          <a:ln xmlns:a="http://schemas.openxmlformats.org/drawingml/2006/main" w="0">
            <a:solidFill>
              <a:srgbClr val="D9D2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05F91E-A848-4666-943F-A879A24D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72050"/>
            <a:ext cx="495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212B"/>
                </a:solidFill>
              </a:defRPr>
            </a:pPr>
            <a:r>
              <a:rPr sz="1500" b="1" i="0">
                <a:solidFill>
                  <a:srgbClr val="17212B"/>
                </a:solidFill>
              </a:rPr>
              <a:t>SPR本体待确认问题清单.md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6DA039-383F-4259-9E89-48552F18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972050"/>
            <a:ext cx="809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64717D"/>
                </a:solidFill>
              </a:defRPr>
            </a:pPr>
            <a:r>
              <a:rPr sz="1500" b="0" i="0">
                <a:solidFill>
                  <a:srgbClr val="64717D"/>
                </a:solidFill>
              </a:rPr>
              <a:t>后续沟通问题</a:t>
            </a:r>
          </a:p>
        </p:txBody>
      </p:sp>
      <p:sp>
        <p:nvSpPr>
          <p:cNvPr id="26" name="table-rule-5">
            <a:extLst xmlns:a="http://schemas.openxmlformats.org/drawingml/2006/main">
              <a:ext uri="{FF2B5EF4-FFF2-40B4-BE49-F238E27FC236}">
                <a16:creationId xmlns:a16="http://schemas.microsoft.com/office/drawing/2014/main" id="{C0739B9F-9D7A-42BB-8E45-89C29195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1645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3"/>
          </a:solidFill>
          <a:ln xmlns:a="http://schemas.openxmlformats.org/drawingml/2006/main" w="0">
            <a:solidFill>
              <a:srgbClr val="D9D2C3"/>
            </a:solidFill>
            <a:prstDash val="solid"/>
          </a:ln>
        </p:spPr>
      </p:sp>
      <p:sp>
        <p:nvSpPr>
          <p:cNvPr id="27" name="footer">
            <a:extLst xmlns:a="http://schemas.openxmlformats.org/drawingml/2006/main">
              <a:ext uri="{FF2B5EF4-FFF2-40B4-BE49-F238E27FC236}">
                <a16:creationId xmlns:a16="http://schemas.microsoft.com/office/drawing/2014/main" id="{814044BD-89AC-40F7-888E-3B05A68F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67850"/>
            <a:ext cx="16764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B8275"/>
                </a:solidFill>
              </a:defRPr>
            </a:pPr>
            <a:r>
              <a:rPr sz="1200">
                <a:solidFill>
                  <a:srgbClr val="8B8275"/>
                </a:solidFill>
              </a:rPr>
              <a:t>SPR 本体更新工作汇报 · 2026-04-24</a:t>
            </a:r>
          </a:p>
        </p:txBody>
      </p:sp>
    </p:spTree>
    <p:extLst>
      <p:ext uri="{BB962C8B-B14F-4D97-AF65-F5344CB8AC3E}">
        <p14:creationId xmlns:p14="http://schemas.microsoft.com/office/powerpoint/2010/main" val="14198438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F09C6F7-8E48-4080-B015-08415FED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677864-2E3F-4C99-9032-5CD9969A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66750"/>
            <a:ext cx="16459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E7C7B"/>
                </a:solidFill>
              </a:defRPr>
            </a:pPr>
            <a:r>
              <a:rPr sz="1500" b="1" i="0">
                <a:solidFill>
                  <a:srgbClr val="0E7C7B"/>
                </a:solidFill>
              </a:rPr>
              <a:t>工作汇报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CC968B-CC9D-4FDB-860C-44BAEE03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90600"/>
            <a:ext cx="5524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17212B"/>
                </a:solidFill>
              </a:defRPr>
            </a:pPr>
            <a:r>
              <a:rPr sz="4350" b="1" i="0">
                <a:solidFill>
                  <a:srgbClr val="17212B"/>
                </a:solidFill>
              </a:rPr>
              <a:t>待确认问题被分级整理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BAFAF1-0D4D-4B93-9468-7F1B48BA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5486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64717D"/>
                </a:solidFill>
              </a:defRPr>
            </a:pPr>
            <a:r>
              <a:rPr sz="1875" b="0" i="0">
                <a:solidFill>
                  <a:srgbClr val="64717D"/>
                </a:solidFill>
              </a:rPr>
              <a:t>不确定字段没有强行解释，而是作为后续沟通清单。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7524B3E1-B55A-4707-B93F-330F0CFA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C2BCD8-B215-419C-9736-57CFF951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171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75E5D"/>
                </a:solidFill>
              </a:defRPr>
            </a:pPr>
            <a:r>
              <a:rPr sz="1650" b="1" i="0">
                <a:solidFill>
                  <a:srgbClr val="075E5D"/>
                </a:solidFill>
              </a:rPr>
              <a:t>优先级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B8B3C0-0534-4EB2-B26E-D840FA76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57450"/>
            <a:ext cx="6096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75E5D"/>
                </a:solidFill>
              </a:defRPr>
            </a:pPr>
            <a:r>
              <a:rPr sz="1650" b="1" i="0">
                <a:solidFill>
                  <a:srgbClr val="075E5D"/>
                </a:solidFill>
              </a:rPr>
              <a:t>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A52011-399B-48D7-94C0-06EFC765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5745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75E5D"/>
                </a:solidFill>
              </a:defRPr>
            </a:pPr>
            <a:r>
              <a:rPr sz="1650" b="1" i="0">
                <a:solidFill>
                  <a:srgbClr val="075E5D"/>
                </a:solidFill>
              </a:rPr>
              <a:t>当前处理</a:t>
            </a:r>
          </a:p>
        </p:txBody>
      </p:sp>
      <p:sp>
        <p:nvSpPr>
          <p:cNvPr id="9" name="table-top-rule">
            <a:extLst xmlns:a="http://schemas.openxmlformats.org/drawingml/2006/main">
              <a:ext uri="{FF2B5EF4-FFF2-40B4-BE49-F238E27FC236}">
                <a16:creationId xmlns:a16="http://schemas.microsoft.com/office/drawing/2014/main" id="{F7EC0741-6D11-4719-A4BB-C5948511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16459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F16B1D-7356-4563-B401-544C14AA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212B"/>
                </a:solidFill>
              </a:defRPr>
            </a:pPr>
            <a:r>
              <a:rPr sz="1500" b="1" i="0">
                <a:solidFill>
                  <a:srgbClr val="17212B"/>
                </a:solidFill>
              </a:rPr>
              <a:t>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62493-D331-477D-8F65-90DC9590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76550"/>
            <a:ext cx="6096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64717D"/>
                </a:solidFill>
              </a:defRPr>
            </a:pPr>
            <a:r>
              <a:rPr sz="1500" b="0" i="0">
                <a:solidFill>
                  <a:srgbClr val="64717D"/>
                </a:solidFill>
              </a:rPr>
              <a:t>pre 的 0、1、3 含义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947F94-7CF4-499A-B1F4-F2ABF0E8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76550"/>
            <a:ext cx="495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64717D"/>
                </a:solidFill>
              </a:defRPr>
            </a:pPr>
            <a:r>
              <a:rPr sz="1500" b="0" i="0">
                <a:solidFill>
                  <a:srgbClr val="64717D"/>
                </a:solidFill>
              </a:rPr>
              <a:t>暂作为预测类别编码</a:t>
            </a:r>
          </a:p>
        </p:txBody>
      </p:sp>
      <p:sp>
        <p:nvSpPr>
          <p:cNvPr id="13" name="table-rule-0">
            <a:extLst xmlns:a="http://schemas.openxmlformats.org/drawingml/2006/main">
              <a:ext uri="{FF2B5EF4-FFF2-40B4-BE49-F238E27FC236}">
                <a16:creationId xmlns:a16="http://schemas.microsoft.com/office/drawing/2014/main" id="{5ABFE9A9-3A1D-42AB-84B3-241D52CE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1645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3"/>
          </a:solidFill>
          <a:ln xmlns:a="http://schemas.openxmlformats.org/drawingml/2006/main" w="0">
            <a:solidFill>
              <a:srgbClr val="D9D2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429391-E349-4993-A181-9111BE2E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212B"/>
                </a:solidFill>
              </a:defRPr>
            </a:pPr>
            <a:r>
              <a:rPr sz="1500" b="1" i="0">
                <a:solidFill>
                  <a:srgbClr val="17212B"/>
                </a:solidFill>
              </a:rPr>
              <a:t>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FAF3D4-8546-454F-9A29-A237A354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57550"/>
            <a:ext cx="6096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64717D"/>
                </a:solidFill>
              </a:defRPr>
            </a:pPr>
            <a:r>
              <a:rPr sz="1500" b="0" i="0">
                <a:solidFill>
                  <a:srgbClr val="64717D"/>
                </a:solidFill>
              </a:rPr>
              <a:t>error_rate 大于 1 的值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E91987-333B-4AE1-A30D-26BE1DBA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57550"/>
            <a:ext cx="495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64717D"/>
                </a:solidFill>
              </a:defRPr>
            </a:pPr>
            <a:r>
              <a:rPr sz="1500" b="0" i="0">
                <a:solidFill>
                  <a:srgbClr val="64717D"/>
                </a:solidFill>
              </a:rPr>
              <a:t>暂保留原值，标注异常大值</a:t>
            </a:r>
          </a:p>
        </p:txBody>
      </p:sp>
      <p:sp>
        <p:nvSpPr>
          <p:cNvPr id="17" name="table-rule-1">
            <a:extLst xmlns:a="http://schemas.openxmlformats.org/drawingml/2006/main">
              <a:ext uri="{FF2B5EF4-FFF2-40B4-BE49-F238E27FC236}">
                <a16:creationId xmlns:a16="http://schemas.microsoft.com/office/drawing/2014/main" id="{8566109C-D7BB-4059-B990-05AD742C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1645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3"/>
          </a:solidFill>
          <a:ln xmlns:a="http://schemas.openxmlformats.org/drawingml/2006/main" w="0">
            <a:solidFill>
              <a:srgbClr val="D9D2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BA711A-8DCC-4236-BF9D-E6949D77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212B"/>
                </a:solidFill>
              </a:defRPr>
            </a:pPr>
            <a:r>
              <a:rPr sz="1500" b="1" i="0">
                <a:solidFill>
                  <a:srgbClr val="17212B"/>
                </a:solidFill>
              </a:rPr>
              <a:t>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917B59-682D-4926-909B-C16378FE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619500"/>
            <a:ext cx="6096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64717D"/>
                </a:solidFill>
              </a:defRPr>
            </a:pPr>
            <a:r>
              <a:rPr sz="1500" b="0" i="0">
                <a:solidFill>
                  <a:srgbClr val="64717D"/>
                </a:solidFill>
              </a:rPr>
              <a:t>original_data 与 calculate_data 的处理关系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57E6B8-18A4-44F6-BFC8-0D4AAC33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619500"/>
            <a:ext cx="495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64717D"/>
                </a:solidFill>
              </a:defRPr>
            </a:pPr>
            <a:r>
              <a:rPr sz="1500" b="0" i="0">
                <a:solidFill>
                  <a:srgbClr val="64717D"/>
                </a:solidFill>
              </a:rPr>
              <a:t>暂建处理前后关系</a:t>
            </a:r>
          </a:p>
        </p:txBody>
      </p:sp>
      <p:sp>
        <p:nvSpPr>
          <p:cNvPr id="21" name="table-rule-2">
            <a:extLst xmlns:a="http://schemas.openxmlformats.org/drawingml/2006/main">
              <a:ext uri="{FF2B5EF4-FFF2-40B4-BE49-F238E27FC236}">
                <a16:creationId xmlns:a16="http://schemas.microsoft.com/office/drawing/2014/main" id="{428EE64F-B44A-4051-A8F7-B52D8A79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1645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3"/>
          </a:solidFill>
          <a:ln xmlns:a="http://schemas.openxmlformats.org/drawingml/2006/main" w="0">
            <a:solidFill>
              <a:srgbClr val="D9D2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9C947A-5A07-4346-B92A-B7694D817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212B"/>
                </a:solidFill>
              </a:defRPr>
            </a:pPr>
            <a:r>
              <a:rPr sz="1500" b="1" i="0">
                <a:solidFill>
                  <a:srgbClr val="17212B"/>
                </a:solidFill>
              </a:rPr>
              <a:t>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AF16FB-9CAA-4020-B7A8-BC07A9A4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000500"/>
            <a:ext cx="6096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64717D"/>
                </a:solidFill>
              </a:defRPr>
            </a:pPr>
            <a:r>
              <a:rPr sz="1500" b="0" i="0">
                <a:solidFill>
                  <a:srgbClr val="64717D"/>
                </a:solidFill>
              </a:rPr>
              <a:t>carbody_id 是否需要车身类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EC4EE0-7A90-4AC2-BDCE-F452F21D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00500"/>
            <a:ext cx="495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64717D"/>
                </a:solidFill>
              </a:defRPr>
            </a:pPr>
            <a:r>
              <a:rPr sz="1500" b="0" i="0">
                <a:solidFill>
                  <a:srgbClr val="64717D"/>
                </a:solidFill>
              </a:rPr>
              <a:t>暂放过程记录属性</a:t>
            </a:r>
          </a:p>
        </p:txBody>
      </p:sp>
      <p:sp>
        <p:nvSpPr>
          <p:cNvPr id="25" name="table-rule-3">
            <a:extLst xmlns:a="http://schemas.openxmlformats.org/drawingml/2006/main">
              <a:ext uri="{FF2B5EF4-FFF2-40B4-BE49-F238E27FC236}">
                <a16:creationId xmlns:a16="http://schemas.microsoft.com/office/drawing/2014/main" id="{AE06C909-81EF-4A6C-82D5-6E59723E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1645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3"/>
          </a:solidFill>
          <a:ln xmlns:a="http://schemas.openxmlformats.org/drawingml/2006/main" w="0">
            <a:solidFill>
              <a:srgbClr val="D9D2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EF1618-566D-42C5-92B1-2E36E82B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212B"/>
                </a:solidFill>
              </a:defRPr>
            </a:pPr>
            <a:r>
              <a:rPr sz="1500" b="1" i="0">
                <a:solidFill>
                  <a:srgbClr val="17212B"/>
                </a:solidFill>
              </a:rPr>
              <a:t>中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865194-B8E9-434A-A90E-C3CBC41A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362450"/>
            <a:ext cx="6096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64717D"/>
                </a:solidFill>
              </a:defRPr>
            </a:pPr>
            <a:r>
              <a:rPr sz="1500" b="0" i="0">
                <a:solidFill>
                  <a:srgbClr val="64717D"/>
                </a:solidFill>
              </a:rPr>
              <a:t>RRC/PECV2 的业务含义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C0C46B-5CF5-4313-8C7F-790D7688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362450"/>
            <a:ext cx="495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64717D"/>
                </a:solidFill>
              </a:defRPr>
            </a:pPr>
            <a:r>
              <a:rPr sz="1500" b="0" i="0">
                <a:solidFill>
                  <a:srgbClr val="64717D"/>
                </a:solidFill>
              </a:rPr>
              <a:t>暂作为 SPR 专属扩展</a:t>
            </a:r>
          </a:p>
        </p:txBody>
      </p:sp>
      <p:sp>
        <p:nvSpPr>
          <p:cNvPr id="29" name="table-rule-4">
            <a:extLst xmlns:a="http://schemas.openxmlformats.org/drawingml/2006/main">
              <a:ext uri="{FF2B5EF4-FFF2-40B4-BE49-F238E27FC236}">
                <a16:creationId xmlns:a16="http://schemas.microsoft.com/office/drawing/2014/main" id="{10CDDCCE-6C03-4ED1-ACD6-C42C28F8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48200"/>
            <a:ext cx="1645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3"/>
          </a:solidFill>
          <a:ln xmlns:a="http://schemas.openxmlformats.org/drawingml/2006/main" w="0">
            <a:solidFill>
              <a:srgbClr val="D9D2C3"/>
            </a:solidFill>
            <a:prstDash val="solid"/>
          </a:ln>
        </p:spPr>
      </p:sp>
      <p:sp>
        <p:nvSpPr>
          <p:cNvPr id="30" name="footer">
            <a:extLst xmlns:a="http://schemas.openxmlformats.org/drawingml/2006/main">
              <a:ext uri="{FF2B5EF4-FFF2-40B4-BE49-F238E27FC236}">
                <a16:creationId xmlns:a16="http://schemas.microsoft.com/office/drawing/2014/main" id="{D57DCD77-4F78-4564-BD80-7F63B6BC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67850"/>
            <a:ext cx="16764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B8275"/>
                </a:solidFill>
              </a:defRPr>
            </a:pPr>
            <a:r>
              <a:rPr sz="1200">
                <a:solidFill>
                  <a:srgbClr val="8B8275"/>
                </a:solidFill>
              </a:rPr>
              <a:t>SPR 本体更新工作汇报 · 2026-04-24</a:t>
            </a:r>
          </a:p>
        </p:txBody>
      </p:sp>
    </p:spTree>
    <p:extLst>
      <p:ext uri="{BB962C8B-B14F-4D97-AF65-F5344CB8AC3E}">
        <p14:creationId xmlns:p14="http://schemas.microsoft.com/office/powerpoint/2010/main" val="109054203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011B68A-5213-4E84-86E8-455CC26C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73CA59-3E17-4182-B639-9BE3AF60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66750"/>
            <a:ext cx="16459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E7C7B"/>
                </a:solidFill>
              </a:defRPr>
            </a:pPr>
            <a:r>
              <a:rPr sz="1500" b="1" i="0">
                <a:solidFill>
                  <a:srgbClr val="0E7C7B"/>
                </a:solidFill>
              </a:rPr>
              <a:t>工作汇报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E4E4DC-E907-4422-9383-8295C548C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90600"/>
            <a:ext cx="2762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17212B"/>
                </a:solidFill>
              </a:defRPr>
            </a:pPr>
            <a:r>
              <a:rPr sz="4350" b="1" i="0">
                <a:solidFill>
                  <a:srgbClr val="17212B"/>
                </a:solidFill>
              </a:rPr>
              <a:t>下一步建议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B6A80F-3241-4701-8742-82FAF968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5962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64717D"/>
                </a:solidFill>
              </a:defRPr>
            </a:pPr>
            <a:r>
              <a:rPr sz="1875" b="0" i="0">
                <a:solidFill>
                  <a:srgbClr val="64717D"/>
                </a:solidFill>
              </a:rPr>
              <a:t>从文档方案走向可执行本体，需要先完成字段口径确认。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CBE1FC66-7116-48F1-88B0-234111F3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C24424-5D6A-420C-82EA-2C60E573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D9CD73-F7B8-4B14-9DC1-8C2D766F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1695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7212B"/>
                </a:solidFill>
              </a:defRPr>
            </a:pPr>
            <a:r>
              <a:rPr sz="1350" b="1" i="0">
                <a:solidFill>
                  <a:srgbClr val="17212B"/>
                </a:solidFill>
              </a:rPr>
              <a:t>确认编码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A48A9E-2E4F-4B83-B0C8-4AD183BF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362200"/>
            <a:ext cx="323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D9D2C3"/>
                </a:solidFill>
              </a:defRPr>
            </a:pPr>
            <a:r>
              <a:rPr sz="2550" b="1" i="0">
                <a:solidFill>
                  <a:srgbClr val="D9D2C3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18A367-A5ED-46EE-B373-7920B61F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6220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5C9E"/>
          </a:solidFill>
          <a:ln xmlns:a="http://schemas.openxmlformats.org/drawingml/2006/main" w="0">
            <a:solidFill>
              <a:srgbClr val="2B5C9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16CB1B-0EC8-42E8-AD98-57F5646C4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67050"/>
            <a:ext cx="1695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7212B"/>
                </a:solidFill>
              </a:defRPr>
            </a:pPr>
            <a:r>
              <a:rPr sz="1350" b="1" i="0">
                <a:solidFill>
                  <a:srgbClr val="17212B"/>
                </a:solidFill>
              </a:rPr>
              <a:t>修正映射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C89394-A69A-4812-BB61-1E0DA6DC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62200"/>
            <a:ext cx="323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D9D2C3"/>
                </a:solidFill>
              </a:defRPr>
            </a:pPr>
            <a:r>
              <a:rPr sz="2550" b="1" i="0">
                <a:solidFill>
                  <a:srgbClr val="D9D2C3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33039C-9C46-4DF4-B05B-E6EF7FB0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6220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942D"/>
          </a:solidFill>
          <a:ln xmlns:a="http://schemas.openxmlformats.org/drawingml/2006/main" w="0">
            <a:solidFill>
              <a:srgbClr val="D9942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4383FC-ACA9-459A-91A8-D685463D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067050"/>
            <a:ext cx="1695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7212B"/>
                </a:solidFill>
              </a:defRPr>
            </a:pPr>
            <a:r>
              <a:rPr sz="1350" b="1" i="0">
                <a:solidFill>
                  <a:srgbClr val="17212B"/>
                </a:solidFill>
              </a:rPr>
              <a:t>转换 Schema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64B348-3F9E-433A-ACC2-EC618926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62200"/>
            <a:ext cx="323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D9D2C3"/>
                </a:solidFill>
              </a:defRPr>
            </a:pPr>
            <a:r>
              <a:rPr sz="2550" b="1" i="0">
                <a:solidFill>
                  <a:srgbClr val="D9D2C3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BF4797-F7EA-438A-AEEA-81FE77A8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6220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88BEB9-07E9-467C-B91E-3F010415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67050"/>
            <a:ext cx="1695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7212B"/>
                </a:solidFill>
              </a:defRPr>
            </a:pPr>
            <a:r>
              <a:rPr sz="1350" b="1" i="0">
                <a:solidFill>
                  <a:srgbClr val="17212B"/>
                </a:solidFill>
              </a:rPr>
              <a:t>实例化样例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2B30A8-14A1-4570-9018-35F2313B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62200"/>
            <a:ext cx="323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D9D2C3"/>
                </a:solidFill>
              </a:defRPr>
            </a:pPr>
            <a:r>
              <a:rPr sz="2550" b="1" i="0">
                <a:solidFill>
                  <a:srgbClr val="D9D2C3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D9C1B4-4FD7-4FFE-8763-7F928EED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6220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5C9E"/>
          </a:solidFill>
          <a:ln xmlns:a="http://schemas.openxmlformats.org/drawingml/2006/main" w="0">
            <a:solidFill>
              <a:srgbClr val="2B5C9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CB7C49-A1DD-40EE-9E78-E3E84F27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67050"/>
            <a:ext cx="1695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7212B"/>
                </a:solidFill>
              </a:defRPr>
            </a:pPr>
            <a:r>
              <a:rPr sz="1350" b="1" i="0">
                <a:solidFill>
                  <a:srgbClr val="17212B"/>
                </a:solidFill>
              </a:rPr>
              <a:t>审查顶层补充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E3CED9-1E44-4E04-812B-8702C17B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860D48-D34B-48DA-969D-B3198FA4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05200"/>
            <a:ext cx="8382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7212B"/>
                </a:solidFill>
              </a:defRPr>
            </a:pPr>
            <a:r>
              <a:rPr sz="1875" b="0" i="0">
                <a:solidFill>
                  <a:srgbClr val="17212B"/>
                </a:solidFill>
              </a:rPr>
              <a:t>优先确认 pre、error_rate、曲线处理方式、车身对象口径和 RRC/PECV2 含义。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1495B9-9583-4291-AE59-0B81715D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A69A03-1626-498E-BA16-FD2601A2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62450"/>
            <a:ext cx="5600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7212B"/>
                </a:solidFill>
              </a:defRPr>
            </a:pPr>
            <a:r>
              <a:rPr sz="1875" b="0" i="0">
                <a:solidFill>
                  <a:srgbClr val="17212B"/>
                </a:solidFill>
              </a:rPr>
              <a:t>再将 v0.3 文档转为 OWL/RDF 或图数据库 Schema。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89492C-3CCF-498D-A03B-739A5AA2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45069A-2443-453A-AE37-6CE416F1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7524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7212B"/>
                </a:solidFill>
              </a:defRPr>
            </a:pPr>
            <a:r>
              <a:rPr sz="1875" b="0" i="0">
                <a:solidFill>
                  <a:srgbClr val="17212B"/>
                </a:solidFill>
              </a:rPr>
              <a:t>用 5-10 条样例记录实例化验证链路，再决定哪些内容上升到顶层本体。</a:t>
            </a:r>
          </a:p>
        </p:txBody>
      </p:sp>
      <p:sp>
        <p:nvSpPr>
          <p:cNvPr id="26" name="footer">
            <a:extLst xmlns:a="http://schemas.openxmlformats.org/drawingml/2006/main">
              <a:ext uri="{FF2B5EF4-FFF2-40B4-BE49-F238E27FC236}">
                <a16:creationId xmlns:a16="http://schemas.microsoft.com/office/drawing/2014/main" id="{A0DD3A59-98BA-40CA-B174-BE862FEF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67850"/>
            <a:ext cx="16764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B8275"/>
                </a:solidFill>
              </a:defRPr>
            </a:pPr>
            <a:r>
              <a:rPr sz="1200">
                <a:solidFill>
                  <a:srgbClr val="8B8275"/>
                </a:solidFill>
              </a:rPr>
              <a:t>SPR 本体更新工作汇报 · 2026-04-24</a:t>
            </a:r>
          </a:p>
        </p:txBody>
      </p:sp>
    </p:spTree>
    <p:extLst>
      <p:ext uri="{BB962C8B-B14F-4D97-AF65-F5344CB8AC3E}">
        <p14:creationId xmlns:p14="http://schemas.microsoft.com/office/powerpoint/2010/main" val="121844582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0FFD57E-3F71-4CE5-A5C9-C01963D1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1C71AA-F28D-40FF-B47C-97B1E555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66750"/>
            <a:ext cx="16459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E7C7B"/>
                </a:solidFill>
              </a:defRPr>
            </a:pPr>
            <a:r>
              <a:rPr sz="1500" b="1" i="0">
                <a:solidFill>
                  <a:srgbClr val="0E7C7B"/>
                </a:solidFill>
              </a:rPr>
              <a:t>工作汇报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55557E-F385-4F7E-8F4C-D0C9B79A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90600"/>
            <a:ext cx="2762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17212B"/>
                </a:solidFill>
              </a:defRPr>
            </a:pPr>
            <a:r>
              <a:rPr sz="4350" b="1" i="0">
                <a:solidFill>
                  <a:srgbClr val="17212B"/>
                </a:solidFill>
              </a:rPr>
              <a:t>一句话结论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8D5CBE-72AE-4F58-8965-5187E9F6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9410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64717D"/>
                </a:solidFill>
              </a:defRPr>
            </a:pPr>
            <a:r>
              <a:rPr sz="1875" b="0" i="0">
                <a:solidFill>
                  <a:srgbClr val="64717D"/>
                </a:solidFill>
              </a:rPr>
              <a:t>这次更新让 SPR 本体从静态工艺知识模型，扩展到能接入真实生产过程数据的语义模型。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628D8BD4-32C8-4A9B-B288-073D7C55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F5E957-5961-4F40-8C84-B417245F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120015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300" b="1" i="0">
                <a:solidFill>
                  <a:srgbClr val="0E7C7B"/>
                </a:solidFill>
              </a:defRPr>
            </a:pPr>
            <a:r>
              <a:rPr sz="6300" b="1" i="0">
                <a:solidFill>
                  <a:srgbClr val="0E7C7B"/>
                </a:solidFill>
              </a:rPr>
              <a:t>保留主链路，补齐在线数据入口。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66373F-28B9-4527-9D53-01BCA872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114490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64717D"/>
                </a:solidFill>
              </a:defRPr>
            </a:pPr>
            <a:r>
              <a:rPr sz="2550" b="0" i="0">
                <a:solidFill>
                  <a:srgbClr val="64717D"/>
                </a:solidFill>
              </a:rPr>
              <a:t>数据库字段、曲线/包络线、预测判定和系统时间现在都有明确的本体承载位置。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C3F702CA-E844-424F-80E2-7FE9140A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67850"/>
            <a:ext cx="16764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B8275"/>
                </a:solidFill>
              </a:defRPr>
            </a:pPr>
            <a:r>
              <a:rPr sz="1200">
                <a:solidFill>
                  <a:srgbClr val="8B8275"/>
                </a:solidFill>
              </a:rPr>
              <a:t>SPR 本体更新工作汇报 · 2026-04-24</a:t>
            </a:r>
          </a:p>
        </p:txBody>
      </p:sp>
    </p:spTree>
    <p:extLst>
      <p:ext uri="{BB962C8B-B14F-4D97-AF65-F5344CB8AC3E}">
        <p14:creationId xmlns:p14="http://schemas.microsoft.com/office/powerpoint/2010/main" val="8535263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2026-04-24T07:21:35.6650000Z</dcterms:created>
  <dcterms:modified xsi:type="dcterms:W3CDTF">2026-04-24T07:21:35.6650000Z</dcterms:modified>
</coreProperties>
</file>